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94" r:id="rId2"/>
    <p:sldId id="282" r:id="rId3"/>
    <p:sldId id="302" r:id="rId4"/>
    <p:sldId id="304" r:id="rId5"/>
    <p:sldId id="305" r:id="rId6"/>
    <p:sldId id="306" r:id="rId7"/>
    <p:sldId id="303" r:id="rId8"/>
    <p:sldId id="307" r:id="rId9"/>
    <p:sldId id="351" r:id="rId10"/>
    <p:sldId id="308" r:id="rId11"/>
    <p:sldId id="309" r:id="rId12"/>
    <p:sldId id="310" r:id="rId13"/>
    <p:sldId id="352" r:id="rId14"/>
    <p:sldId id="311" r:id="rId15"/>
    <p:sldId id="312" r:id="rId16"/>
    <p:sldId id="313" r:id="rId17"/>
    <p:sldId id="314" r:id="rId18"/>
    <p:sldId id="315" r:id="rId19"/>
    <p:sldId id="354" r:id="rId20"/>
    <p:sldId id="316" r:id="rId21"/>
    <p:sldId id="353" r:id="rId22"/>
    <p:sldId id="317" r:id="rId23"/>
    <p:sldId id="318" r:id="rId24"/>
    <p:sldId id="319" r:id="rId25"/>
    <p:sldId id="350" r:id="rId26"/>
    <p:sldId id="320" r:id="rId27"/>
    <p:sldId id="355" r:id="rId28"/>
    <p:sldId id="356" r:id="rId29"/>
    <p:sldId id="357" r:id="rId30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8B1032C-EA38-4F05-BA0D-38AFFFC7BED3}" styleName="浅色样式 3 - 强调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2" autoAdjust="0"/>
    <p:restoredTop sz="91419" autoAdjust="0"/>
  </p:normalViewPr>
  <p:slideViewPr>
    <p:cSldViewPr>
      <p:cViewPr varScale="1">
        <p:scale>
          <a:sx n="65" d="100"/>
          <a:sy n="65" d="100"/>
        </p:scale>
        <p:origin x="936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562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AAC5937C-9926-4D39-B5D9-655F2F3CD37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46F0F78-FF79-48B4-9380-2ED4F232C8C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91F6B9FA-E967-4233-AD5C-B68FE81C2968}" type="datetimeFigureOut">
              <a:rPr lang="zh-CN" altLang="en-US"/>
              <a:pPr>
                <a:defRPr/>
              </a:pPr>
              <a:t>2022/4/9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7A6DF9BB-9F58-4BA3-BBA6-6421EED95A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05CAD54C-5698-433B-A148-4B087CF726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E3B649-D3B3-43BC-B1F3-C9F683BCE01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CE61F90-2840-4C1B-9DB5-59199B3CB9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95F8FB07-1CEB-4FB9-9A7F-3E786C9CF057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652053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:a16="http://schemas.microsoft.com/office/drawing/2014/main" id="{55AF7690-4F55-4FFB-BDFE-98F30FD489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B4D16366-3A34-4892-8179-3B6887FCA0C7}" type="slidenum">
              <a:rPr lang="en-US" altLang="zh-CN"/>
              <a:pPr/>
              <a:t>1</a:t>
            </a:fld>
            <a:endParaRPr lang="en-US" altLang="zh-CN"/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5A2D7901-183B-424A-B72F-B48ABC96D0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1CEED6A8-0177-4416-AD1E-086837DD51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zh-CN" sz="1300"/>
          </a:p>
        </p:txBody>
      </p:sp>
    </p:spTree>
    <p:extLst>
      <p:ext uri="{BB962C8B-B14F-4D97-AF65-F5344CB8AC3E}">
        <p14:creationId xmlns:p14="http://schemas.microsoft.com/office/powerpoint/2010/main" val="16434552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9F98C594-01A4-4775-B335-8FC6CE19778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DDBF5CC7-1696-41F4-92AC-53B59C178150}" type="slidenum">
              <a:rPr lang="en-US" altLang="zh-CN"/>
              <a:pPr/>
              <a:t>29</a:t>
            </a:fld>
            <a:endParaRPr lang="en-US" altLang="zh-CN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A2D51170-42C6-4EE0-9778-1F8BCAFA705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12286DD6-FBD9-43E2-8BDB-14A89E262C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6317277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4064BA-875F-49DD-80BB-A26F9EB88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54DE93-485E-47A6-B872-89905624B444}" type="datetimeFigureOut">
              <a:rPr lang="zh-CN" altLang="en-US"/>
              <a:pPr>
                <a:defRPr/>
              </a:pPr>
              <a:t>2022/4/9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42E11F-2813-44A5-AA4B-3C698BAA8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5814EF-84A5-4FB1-842F-37397725A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86E944-BC75-4053-A6B4-AA026A4A49B3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3721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24A1B1-79BF-406E-A367-1C2762140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8255BF-006A-44F7-AA77-8646F3E80B7B}" type="datetimeFigureOut">
              <a:rPr lang="zh-CN" altLang="en-US"/>
              <a:pPr>
                <a:defRPr/>
              </a:pPr>
              <a:t>2022/4/9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A24DEA-A994-44D3-9511-1A0339D12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D2AEBE-E0DE-40EC-AB41-275906F54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2149A8-2FB6-4B1C-9E69-4E19F80A333C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905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E91AD0-32E7-404D-9BFE-DE1CAA7FC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169A65-F097-4E8E-B822-FC76BBE8D1E6}" type="datetimeFigureOut">
              <a:rPr lang="zh-CN" altLang="en-US"/>
              <a:pPr>
                <a:defRPr/>
              </a:pPr>
              <a:t>2022/4/9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79F43E-BCC1-45E2-ADD8-9C47D77E3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EC8D04-09D5-4A35-A5C2-686F1F4B6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8F0C09-A9C4-40F8-8A1E-A0E4962C8F2B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9700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C81D2596-58AD-4041-8435-A702E974A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87F300-09CB-49EB-99FE-0875EC272FB9}" type="datetimeFigureOut">
              <a:rPr lang="zh-CN" altLang="en-US"/>
              <a:pPr>
                <a:defRPr/>
              </a:pPr>
              <a:t>2022/4/9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AD83250A-2AC4-4E85-983C-66D488EAB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D1ACDE6C-6831-4C82-87D6-7F7B358E0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6424FD-2386-4CD5-8C74-A25C8AAA4E6D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1218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26AE693B-2A6B-4E95-9C90-660B46A99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0B55F4-5720-4135-B4BC-415D9BC94625}" type="datetimeFigureOut">
              <a:rPr lang="zh-CN" altLang="en-US"/>
              <a:pPr>
                <a:defRPr/>
              </a:pPr>
              <a:t>2022/4/9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BABDDC7D-1D0D-471F-AE45-E4BD9B584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E55DBA91-B2EE-4ECC-9158-2BADF81D6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29836E-6230-4D52-9F41-AB3D6494EAE5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5663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61B8B432-CE49-4F78-A4EF-54A548500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2012F9-3997-43BA-8075-9A8674DDB82C}" type="datetimeFigureOut">
              <a:rPr lang="zh-CN" altLang="en-US"/>
              <a:pPr>
                <a:defRPr/>
              </a:pPr>
              <a:t>2022/4/9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EA8873E9-95E2-4C1F-B262-6B4A9C50B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AB95EDB7-F2E1-4F7F-8CD0-3C70FA138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D225B5-74EA-40E3-9FF6-27998AECA24E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9536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F60A6F74-65EA-4B78-A4D2-579F43482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3BEF5E-5CC4-4F03-96AD-51662A4509B4}" type="datetimeFigureOut">
              <a:rPr lang="zh-CN" altLang="en-US"/>
              <a:pPr>
                <a:defRPr/>
              </a:pPr>
              <a:t>2022/4/9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B1449B1F-CB38-43A7-B101-6546C8992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F282260A-ED52-4779-B348-34B40A31B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2F1593-CDEC-40EC-8D3B-60C810BA588B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3017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F938B795-0C1D-4A9F-A431-B7AFCAB49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1B1B73-9E60-450F-A61E-B6942049F8B0}" type="datetimeFigureOut">
              <a:rPr lang="zh-CN" altLang="en-US"/>
              <a:pPr>
                <a:defRPr/>
              </a:pPr>
              <a:t>2022/4/9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D70FA058-FC84-419D-ABAE-29637512B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2F67AB6B-BA61-439B-9059-442DFF284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8586DB-A350-43FC-A13A-F4F8747815C0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7158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4301E09C-73CD-4FCF-8236-8BD5F9816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2DF5B8-5866-488F-A5BB-AA775586C7BF}" type="datetimeFigureOut">
              <a:rPr lang="zh-CN" altLang="en-US"/>
              <a:pPr>
                <a:defRPr/>
              </a:pPr>
              <a:t>2022/4/9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5FEDA48B-2A76-44D7-9625-E6D903DB2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47EE769F-7591-4931-AB97-E0C093712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E33FAA-8EEA-43A7-9FDE-B8AA5F14092F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5463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9A5D3B-C930-430A-A1FB-25443E0F0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242FD7-032D-4FFB-BE09-8D7A87809D81}" type="datetimeFigureOut">
              <a:rPr lang="zh-CN" altLang="en-US"/>
              <a:pPr>
                <a:defRPr/>
              </a:pPr>
              <a:t>2022/4/9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B1AFC9-4EED-407A-8EEF-73336D3FD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491470-D208-4012-89BC-14DDF4D26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BE102C-A203-46BD-B35B-A8E49197DBEF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8624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515DF3-0FD1-423A-A22D-4523B4BAC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86C0FE-8246-49D3-BAC9-5FD6A64241A6}" type="datetimeFigureOut">
              <a:rPr lang="zh-CN" altLang="en-US"/>
              <a:pPr>
                <a:defRPr/>
              </a:pPr>
              <a:t>2022/4/9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690920-BA33-4521-8B8D-3CB22CA20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432DA8-9D45-4C5B-8E57-F6812C4A1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CB0A5F-011A-49A2-BE73-15F123E027FF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475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占位符 1">
            <a:extLst>
              <a:ext uri="{FF2B5EF4-FFF2-40B4-BE49-F238E27FC236}">
                <a16:creationId xmlns:a16="http://schemas.microsoft.com/office/drawing/2014/main" id="{20653DFC-CA64-446C-8A1F-EE62E4C57D6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1267" name="文本占位符 2">
            <a:extLst>
              <a:ext uri="{FF2B5EF4-FFF2-40B4-BE49-F238E27FC236}">
                <a16:creationId xmlns:a16="http://schemas.microsoft.com/office/drawing/2014/main" id="{AFFE7A52-6272-45C6-B78D-56AED8960B5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AE817B-ABBC-4460-90CF-B7684F760D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BAEBE3D-CCB4-42A4-9EBE-C975CC9BFC82}" type="datetimeFigureOut">
              <a:rPr lang="zh-CN" altLang="en-US"/>
              <a:pPr>
                <a:defRPr/>
              </a:pPr>
              <a:t>2022/4/9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E695BC-CB10-46C0-B5AB-E2CD9FCD44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E6CDF6-A8FD-41C9-99AC-8C12388118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966F7203-38F2-4167-9612-383FECAD3F2E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0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8" name="Rectangle 9">
            <a:extLst>
              <a:ext uri="{FF2B5EF4-FFF2-40B4-BE49-F238E27FC236}">
                <a16:creationId xmlns:a16="http://schemas.microsoft.com/office/drawing/2014/main" id="{EB8EA078-47B9-4408-96D3-0146ACC76F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1844675"/>
            <a:ext cx="7772400" cy="223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ctr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7200" dirty="0">
                <a:latin typeface="仿宋" pitchFamily="49" charset="-122"/>
                <a:ea typeface="仿宋" pitchFamily="49" charset="-122"/>
              </a:rPr>
              <a:t>具体数学</a:t>
            </a:r>
            <a:br>
              <a:rPr lang="zh-CN" altLang="en-US" sz="5400" dirty="0">
                <a:latin typeface="+mn-ea"/>
                <a:ea typeface="+mn-ea"/>
              </a:rPr>
            </a:br>
            <a:r>
              <a:rPr lang="en-US" altLang="zh-CN" sz="4800" dirty="0">
                <a:latin typeface="Verdana" pitchFamily="34" charset="0"/>
                <a:ea typeface="Verdana" pitchFamily="34" charset="0"/>
                <a:cs typeface="Verdana" pitchFamily="34" charset="0"/>
              </a:rPr>
              <a:t>Concrete Mathematics</a:t>
            </a:r>
            <a:r>
              <a:rPr lang="en-US" altLang="zh-CN" sz="4000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</a:p>
        </p:txBody>
      </p:sp>
      <p:sp>
        <p:nvSpPr>
          <p:cNvPr id="12291" name="Rectangle 10">
            <a:extLst>
              <a:ext uri="{FF2B5EF4-FFF2-40B4-BE49-F238E27FC236}">
                <a16:creationId xmlns:a16="http://schemas.microsoft.com/office/drawing/2014/main" id="{83A9DBA4-D15C-46D3-9A2A-01D25B7707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4425" y="4508500"/>
            <a:ext cx="7129463" cy="136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en-US" altLang="zh-CN" sz="1600" dirty="0">
              <a:solidFill>
                <a:srgbClr val="0070C0"/>
              </a:solidFill>
              <a:latin typeface="Verdana" panose="020B0604030504040204" pitchFamily="34" charset="0"/>
              <a:ea typeface="仿宋" panose="02010609060101010101" pitchFamily="49" charset="-122"/>
              <a:cs typeface="Verdana" panose="020B0604030504040204" pitchFamily="34" charset="0"/>
            </a:endParaRPr>
          </a:p>
          <a:p>
            <a:pPr algn="ctr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fld id="{26A1DDE5-3664-40DF-9C3E-E9A32837A165}" type="datetime3">
              <a:rPr lang="zh-CN" altLang="en-US" sz="2400">
                <a:latin typeface="Verdana" panose="020B0604030504040204" pitchFamily="34" charset="0"/>
                <a:ea typeface="仿宋" panose="02010609060101010101" pitchFamily="49" charset="-122"/>
                <a:cs typeface="Verdana" panose="020B0604030504040204" pitchFamily="34" charset="0"/>
              </a:rPr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t>2022年4月9日星期六</a:t>
            </a:fld>
            <a:endParaRPr lang="en-US" altLang="zh-CN" sz="2400" dirty="0">
              <a:latin typeface="Verdana" panose="020B0604030504040204" pitchFamily="34" charset="0"/>
            </a:endParaRPr>
          </a:p>
        </p:txBody>
      </p:sp>
      <p:sp>
        <p:nvSpPr>
          <p:cNvPr id="12292" name="Rectangle 11">
            <a:extLst>
              <a:ext uri="{FF2B5EF4-FFF2-40B4-BE49-F238E27FC236}">
                <a16:creationId xmlns:a16="http://schemas.microsoft.com/office/drawing/2014/main" id="{FF4C5C0C-2399-4ED7-9587-FD27A8D208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533400"/>
            <a:ext cx="8569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800" dirty="0">
                <a:solidFill>
                  <a:srgbClr val="0070C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华东师范大学计算机学院</a:t>
            </a: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847A46BB-C4EA-435B-B9AF-3D006F028C8F}"/>
              </a:ext>
            </a:extLst>
          </p:cNvPr>
          <p:cNvCxnSpPr/>
          <p:nvPr/>
        </p:nvCxnSpPr>
        <p:spPr>
          <a:xfrm rot="10800000" flipH="1">
            <a:off x="755650" y="3141663"/>
            <a:ext cx="7772400" cy="0"/>
          </a:xfrm>
          <a:prstGeom prst="line">
            <a:avLst/>
          </a:prstGeom>
          <a:ln w="76200" cap="flat" cmpd="sng"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8D985A2B-A082-4356-AC7A-787DA17B97A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4930696-C07E-465E-86D7-42DC439530E5}" type="datetime1">
              <a:rPr lang="zh-CN" altLang="en-US"/>
              <a:pPr>
                <a:defRPr/>
              </a:pPr>
              <a:t>2022/4/9</a:t>
            </a:fld>
            <a:endParaRPr lang="en-US" altLang="zh-CN"/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1F02AA8D-7C1B-4966-8824-ACAA37C6E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78DF125A-3F7E-4C6F-B25F-66EA63AA117D}" type="slidenum">
              <a:rPr lang="en-US" altLang="zh-CN">
                <a:solidFill>
                  <a:srgbClr val="898989"/>
                </a:solidFill>
              </a:rPr>
              <a:pPr algn="ctr"/>
              <a:t>2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3316" name="Rectangle 2">
            <a:extLst>
              <a:ext uri="{FF2B5EF4-FFF2-40B4-BE49-F238E27FC236}">
                <a16:creationId xmlns:a16="http://schemas.microsoft.com/office/drawing/2014/main" id="{53F08E13-1030-4E8F-9458-F45B0AFE21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2636838"/>
            <a:ext cx="8229600" cy="1512887"/>
          </a:xfrm>
        </p:spPr>
        <p:txBody>
          <a:bodyPr/>
          <a:lstStyle/>
          <a:p>
            <a:r>
              <a:rPr lang="en-US" altLang="zh-CN" sz="4800">
                <a:ea typeface="华文楷体" panose="02010600040101010101" pitchFamily="2" charset="-122"/>
              </a:rPr>
              <a:t>8 Discrete Probability</a:t>
            </a:r>
            <a:br>
              <a:rPr lang="en-US" altLang="zh-CN" sz="4800">
                <a:ea typeface="华文楷体" panose="02010600040101010101" pitchFamily="2" charset="-122"/>
              </a:rPr>
            </a:br>
            <a:r>
              <a:rPr lang="zh-CN" altLang="en-US" sz="4800">
                <a:ea typeface="华文楷体" panose="02010600040101010101" pitchFamily="2" charset="-122"/>
              </a:rPr>
              <a:t>离散概率</a:t>
            </a:r>
          </a:p>
        </p:txBody>
      </p:sp>
      <p:sp>
        <p:nvSpPr>
          <p:cNvPr id="13317" name="Rectangle 4">
            <a:extLst>
              <a:ext uri="{FF2B5EF4-FFF2-40B4-BE49-F238E27FC236}">
                <a16:creationId xmlns:a16="http://schemas.microsoft.com/office/drawing/2014/main" id="{4491D927-C576-4256-84CA-222686FEC4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3318" name="Rectangle 6">
            <a:extLst>
              <a:ext uri="{FF2B5EF4-FFF2-40B4-BE49-F238E27FC236}">
                <a16:creationId xmlns:a16="http://schemas.microsoft.com/office/drawing/2014/main" id="{FD19799E-D88F-4FB9-96EA-303349BF66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BE4DEB58-0AB7-4E99-A903-9D4B0986EB1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4930696-C07E-465E-86D7-42DC439530E5}" type="datetime1">
              <a:rPr lang="zh-CN" altLang="en-US"/>
              <a:pPr>
                <a:defRPr/>
              </a:pPr>
              <a:t>2022/4/9</a:t>
            </a:fld>
            <a:endParaRPr lang="en-US" altLang="zh-CN"/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7169DF73-6758-4EFC-85D9-2FA888312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B4DA7CA8-5F55-4E9A-A402-4A9AB36586EC}" type="slidenum">
              <a:rPr lang="en-US" altLang="zh-CN">
                <a:solidFill>
                  <a:srgbClr val="898989"/>
                </a:solidFill>
              </a:rPr>
              <a:pPr algn="ctr"/>
              <a:t>3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4340" name="Rectangle 2">
            <a:extLst>
              <a:ext uri="{FF2B5EF4-FFF2-40B4-BE49-F238E27FC236}">
                <a16:creationId xmlns:a16="http://schemas.microsoft.com/office/drawing/2014/main" id="{68010D6E-00E9-4CEE-8958-D9B59E883B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800">
                <a:ea typeface="华文楷体" panose="02010600040101010101" pitchFamily="2" charset="-122"/>
              </a:rPr>
              <a:t>离散概率</a:t>
            </a:r>
          </a:p>
        </p:txBody>
      </p:sp>
      <p:sp>
        <p:nvSpPr>
          <p:cNvPr id="203779" name="Rectangle 3">
            <a:extLst>
              <a:ext uri="{FF2B5EF4-FFF2-40B4-BE49-F238E27FC236}">
                <a16:creationId xmlns:a16="http://schemas.microsoft.com/office/drawing/2014/main" id="{CED1CA95-A236-4EE0-ACDA-A2EFC570F7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412875"/>
            <a:ext cx="7920038" cy="4895850"/>
          </a:xfrm>
        </p:spPr>
        <p:txBody>
          <a:bodyPr rtlCol="0">
            <a:noAutofit/>
          </a:bodyPr>
          <a:lstStyle/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>
                <a:latin typeface="+mj-lt"/>
                <a:ea typeface="华文楷体" pitchFamily="2" charset="-122"/>
              </a:rPr>
              <a:t>概率和统计的观点，或者说随机的观点，是革命性的科学方法，在物理、天文、化学、生物和金融等领域取得了广泛的应用，带来了巨大的冲击。</a:t>
            </a: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>
                <a:latin typeface="+mj-lt"/>
                <a:ea typeface="华文楷体" pitchFamily="2" charset="-122"/>
              </a:rPr>
              <a:t>从个人科学素养来说，随机方法及其观点可以带来显著的境界提升。另一方面，随机数学的合理性却是一个哲学问题</a:t>
            </a:r>
            <a:r>
              <a:rPr lang="en-US" altLang="zh-CN" sz="2800">
                <a:latin typeface="+mj-lt"/>
                <a:ea typeface="华文楷体" pitchFamily="2" charset="-122"/>
              </a:rPr>
              <a:t>……</a:t>
            </a: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>
                <a:latin typeface="+mj-lt"/>
                <a:ea typeface="华文楷体" pitchFamily="2" charset="-122"/>
              </a:rPr>
              <a:t>本章讨论离散空间下的概率问题，基本上仅涉及离散求和，而非积分计算。将会较多地运用前面所学的求和等方法。</a:t>
            </a:r>
            <a:endParaRPr lang="en-US" altLang="zh-CN" sz="280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>
              <a:latin typeface="+mj-lt"/>
              <a:ea typeface="华文楷体" pitchFamily="2" charset="-122"/>
            </a:endParaRPr>
          </a:p>
        </p:txBody>
      </p:sp>
      <p:sp>
        <p:nvSpPr>
          <p:cNvPr id="14342" name="Rectangle 4">
            <a:extLst>
              <a:ext uri="{FF2B5EF4-FFF2-40B4-BE49-F238E27FC236}">
                <a16:creationId xmlns:a16="http://schemas.microsoft.com/office/drawing/2014/main" id="{77DBF407-FBAB-4052-AA97-BD9FAC3F17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4343" name="Rectangle 6">
            <a:extLst>
              <a:ext uri="{FF2B5EF4-FFF2-40B4-BE49-F238E27FC236}">
                <a16:creationId xmlns:a16="http://schemas.microsoft.com/office/drawing/2014/main" id="{49FB341A-F3BA-418C-8B08-E62998A652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3AA93B70-1F35-4DB9-9FB4-38F54F9C877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4930696-C07E-465E-86D7-42DC439530E5}" type="datetime1">
              <a:rPr lang="zh-CN" altLang="en-US"/>
              <a:pPr>
                <a:defRPr/>
              </a:pPr>
              <a:t>2022/4/9</a:t>
            </a:fld>
            <a:endParaRPr lang="en-US" altLang="zh-CN"/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A50949FC-16C6-4C9D-B324-D54D07EA3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69B185C8-FBDE-4959-8DF5-1E79F115BB6F}" type="slidenum">
              <a:rPr lang="en-US" altLang="zh-CN">
                <a:solidFill>
                  <a:srgbClr val="898989"/>
                </a:solidFill>
              </a:rPr>
              <a:pPr algn="ctr"/>
              <a:t>4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5364" name="Rectangle 2">
            <a:extLst>
              <a:ext uri="{FF2B5EF4-FFF2-40B4-BE49-F238E27FC236}">
                <a16:creationId xmlns:a16="http://schemas.microsoft.com/office/drawing/2014/main" id="{918B9DCC-0015-403C-9D0A-26CDB3B7D3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2636838"/>
            <a:ext cx="8229600" cy="1512887"/>
          </a:xfrm>
        </p:spPr>
        <p:txBody>
          <a:bodyPr/>
          <a:lstStyle/>
          <a:p>
            <a:r>
              <a:rPr lang="en-US" altLang="zh-CN" sz="4800">
                <a:ea typeface="华文楷体" panose="02010600040101010101" pitchFamily="2" charset="-122"/>
              </a:rPr>
              <a:t>8.1 Definitions</a:t>
            </a:r>
            <a:br>
              <a:rPr lang="en-US" altLang="zh-CN" sz="4800">
                <a:ea typeface="华文楷体" panose="02010600040101010101" pitchFamily="2" charset="-122"/>
              </a:rPr>
            </a:br>
            <a:r>
              <a:rPr lang="zh-CN" altLang="en-US" sz="4800">
                <a:ea typeface="华文楷体" panose="02010600040101010101" pitchFamily="2" charset="-122"/>
              </a:rPr>
              <a:t>概念与定义</a:t>
            </a:r>
          </a:p>
        </p:txBody>
      </p:sp>
      <p:sp>
        <p:nvSpPr>
          <p:cNvPr id="15365" name="Rectangle 4">
            <a:extLst>
              <a:ext uri="{FF2B5EF4-FFF2-40B4-BE49-F238E27FC236}">
                <a16:creationId xmlns:a16="http://schemas.microsoft.com/office/drawing/2014/main" id="{10C6D6B6-4470-4360-AB57-F3BF2D9B1E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5366" name="Rectangle 6">
            <a:extLst>
              <a:ext uri="{FF2B5EF4-FFF2-40B4-BE49-F238E27FC236}">
                <a16:creationId xmlns:a16="http://schemas.microsoft.com/office/drawing/2014/main" id="{E2C61F7A-A0BC-4614-BFA1-889A955242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5379BBAB-A841-4838-89C2-6AD641740DC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4930696-C07E-465E-86D7-42DC439530E5}" type="datetime1">
              <a:rPr lang="zh-CN" altLang="en-US"/>
              <a:pPr>
                <a:defRPr/>
              </a:pPr>
              <a:t>2022/4/9</a:t>
            </a:fld>
            <a:endParaRPr lang="en-US" altLang="zh-CN"/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F7457300-28B3-4766-92AC-991153FD2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D96BEAAC-F73B-4651-831C-FED192675C91}" type="slidenum">
              <a:rPr lang="en-US" altLang="zh-CN">
                <a:solidFill>
                  <a:srgbClr val="898989"/>
                </a:solidFill>
              </a:rPr>
              <a:pPr algn="ctr"/>
              <a:t>5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6388" name="Rectangle 2">
            <a:extLst>
              <a:ext uri="{FF2B5EF4-FFF2-40B4-BE49-F238E27FC236}">
                <a16:creationId xmlns:a16="http://schemas.microsoft.com/office/drawing/2014/main" id="{2D922C65-C8A9-4CD2-BF54-D3CC8FF5A4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800">
                <a:ea typeface="华文楷体" panose="02010600040101010101" pitchFamily="2" charset="-122"/>
              </a:rPr>
              <a:t>概率空间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3779" name="Rectangle 3">
                <a:extLst>
                  <a:ext uri="{FF2B5EF4-FFF2-40B4-BE49-F238E27FC236}">
                    <a16:creationId xmlns:a16="http://schemas.microsoft.com/office/drawing/2014/main" id="{4BD02FA7-1DFB-4D8D-88E8-A696D49FA2B5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755650" y="1412875"/>
                <a:ext cx="7920038" cy="4895850"/>
              </a:xfrm>
            </p:spPr>
            <p:txBody>
              <a:bodyPr rtlCol="0">
                <a:noAutofit/>
              </a:bodyPr>
              <a:lstStyle/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r>
                  <a:rPr lang="zh-CN" altLang="en-US" sz="2800" dirty="0">
                    <a:solidFill>
                      <a:srgbClr val="0000FF"/>
                    </a:solidFill>
                    <a:latin typeface="+mj-lt"/>
                    <a:ea typeface="华文楷体" pitchFamily="2" charset="-122"/>
                  </a:rPr>
                  <a:t>概率空间</a:t>
                </a:r>
                <a14:m>
                  <m:oMath xmlns:m="http://schemas.openxmlformats.org/officeDocument/2006/math">
                    <m:r>
                      <a:rPr lang="en-US" altLang="zh-CN" sz="28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华文楷体" pitchFamily="2" charset="-122"/>
                      </a:rPr>
                      <m:t>𝛺</m:t>
                    </m:r>
                    <m:r>
                      <a:rPr lang="en-US" altLang="zh-CN" sz="280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华文楷体" pitchFamily="2" charset="-122"/>
                      </a:rPr>
                      <m:t> </m:t>
                    </m:r>
                  </m:oMath>
                </a14:m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：一个</a:t>
                </a:r>
                <a:r>
                  <a:rPr lang="zh-CN" altLang="en-US" sz="2800" dirty="0">
                    <a:solidFill>
                      <a:srgbClr val="0000FF"/>
                    </a:solidFill>
                    <a:latin typeface="+mj-lt"/>
                    <a:ea typeface="华文楷体" pitchFamily="2" charset="-122"/>
                  </a:rPr>
                  <a:t>基本事件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的集合，以及定义在该事件集合上的函数</a:t>
                </a:r>
                <a:r>
                  <a:rPr lang="en-US" altLang="zh-CN" sz="2800" dirty="0" err="1">
                    <a:latin typeface="+mj-lt"/>
                    <a:ea typeface="华文楷体" pitchFamily="2" charset="-122"/>
                  </a:rPr>
                  <a:t>Pr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。满足：</a:t>
                </a: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lvl="1" fontAlgn="auto">
                  <a:lnSpc>
                    <a:spcPct val="90000"/>
                  </a:lnSpc>
                  <a:spcAft>
                    <a:spcPts val="0"/>
                  </a:spcAft>
                  <a:buFont typeface="Arial" panose="020B0604020202020204" pitchFamily="34" charset="0"/>
                  <a:buNone/>
                  <a:defRPr/>
                </a:pPr>
                <a:r>
                  <a:rPr lang="en-US" altLang="zh-CN" dirty="0">
                    <a:latin typeface="+mj-lt"/>
                    <a:ea typeface="华文楷体" pitchFamily="2" charset="-122"/>
                  </a:rPr>
                  <a:t>(1) </a:t>
                </a:r>
                <a:r>
                  <a:rPr lang="zh-CN" altLang="en-US" dirty="0">
                    <a:latin typeface="+mj-lt"/>
                    <a:ea typeface="华文楷体" pitchFamily="2" charset="-122"/>
                  </a:rPr>
                  <a:t>基本事件</a:t>
                </a:r>
                <a:r>
                  <a:rPr lang="el-GR" altLang="zh-CN" dirty="0">
                    <a:latin typeface="+mj-lt"/>
                    <a:ea typeface="华文楷体" pitchFamily="2" charset="-122"/>
                  </a:rPr>
                  <a:t>ω</a:t>
                </a:r>
                <a:r>
                  <a:rPr lang="zh-CN" altLang="en-US" dirty="0">
                    <a:latin typeface="+mj-lt"/>
                    <a:ea typeface="华文楷体" pitchFamily="2" charset="-122"/>
                  </a:rPr>
                  <a:t>对应的</a:t>
                </a:r>
                <a:r>
                  <a:rPr lang="zh-CN" altLang="en-US" dirty="0">
                    <a:solidFill>
                      <a:srgbClr val="0000FF"/>
                    </a:solidFill>
                    <a:latin typeface="+mj-lt"/>
                    <a:ea typeface="华文楷体" pitchFamily="2" charset="-122"/>
                  </a:rPr>
                  <a:t>非负实数</a:t>
                </a:r>
                <a:r>
                  <a:rPr lang="en-US" altLang="zh-CN" dirty="0" err="1">
                    <a:latin typeface="+mj-lt"/>
                    <a:ea typeface="华文楷体" pitchFamily="2" charset="-122"/>
                  </a:rPr>
                  <a:t>Pr</a:t>
                </a:r>
                <a:r>
                  <a:rPr lang="en-US" altLang="zh-CN" dirty="0">
                    <a:latin typeface="+mj-lt"/>
                    <a:ea typeface="华文楷体" pitchFamily="2" charset="-122"/>
                  </a:rPr>
                  <a:t>(</a:t>
                </a:r>
                <a:r>
                  <a:rPr lang="el-GR" altLang="zh-CN" dirty="0">
                    <a:ea typeface="华文楷体" pitchFamily="2" charset="-122"/>
                  </a:rPr>
                  <a:t>ω</a:t>
                </a:r>
                <a:r>
                  <a:rPr lang="en-US" altLang="zh-CN" dirty="0">
                    <a:latin typeface="+mj-lt"/>
                    <a:ea typeface="华文楷体" pitchFamily="2" charset="-122"/>
                  </a:rPr>
                  <a:t>)</a:t>
                </a:r>
                <a:r>
                  <a:rPr lang="zh-CN" altLang="en-US" dirty="0">
                    <a:latin typeface="+mj-lt"/>
                    <a:ea typeface="华文楷体" pitchFamily="2" charset="-122"/>
                  </a:rPr>
                  <a:t>称为概率；</a:t>
                </a:r>
                <a:endParaRPr lang="en-US" altLang="zh-CN" dirty="0">
                  <a:latin typeface="+mj-lt"/>
                  <a:ea typeface="华文楷体" pitchFamily="2" charset="-122"/>
                </a:endParaRPr>
              </a:p>
              <a:p>
                <a:pPr lvl="1" fontAlgn="auto">
                  <a:lnSpc>
                    <a:spcPct val="90000"/>
                  </a:lnSpc>
                  <a:spcAft>
                    <a:spcPts val="0"/>
                  </a:spcAft>
                  <a:buNone/>
                  <a:defRPr/>
                </a:pPr>
                <a:r>
                  <a:rPr lang="en-US" altLang="zh-CN" dirty="0">
                    <a:latin typeface="+mj-lt"/>
                    <a:ea typeface="华文楷体" pitchFamily="2" charset="-122"/>
                  </a:rPr>
                  <a:t>(2) </a:t>
                </a:r>
                <a:r>
                  <a:rPr lang="zh-CN" altLang="en-US" dirty="0">
                    <a:latin typeface="+mj-lt"/>
                    <a:ea typeface="华文楷体" pitchFamily="2" charset="-122"/>
                  </a:rPr>
                  <a:t>所有的</a:t>
                </a:r>
                <a:r>
                  <a:rPr lang="en-US" altLang="zh-CN" dirty="0" err="1">
                    <a:ea typeface="华文楷体" pitchFamily="2" charset="-122"/>
                  </a:rPr>
                  <a:t>Pr</a:t>
                </a:r>
                <a:r>
                  <a:rPr lang="en-US" altLang="zh-CN" dirty="0">
                    <a:ea typeface="华文楷体" pitchFamily="2" charset="-122"/>
                  </a:rPr>
                  <a:t>(</a:t>
                </a:r>
                <a:r>
                  <a:rPr lang="el-GR" altLang="zh-CN" dirty="0">
                    <a:ea typeface="华文楷体" pitchFamily="2" charset="-122"/>
                  </a:rPr>
                  <a:t>ω</a:t>
                </a:r>
                <a:r>
                  <a:rPr lang="en-US" altLang="zh-CN" dirty="0">
                    <a:ea typeface="华文楷体" pitchFamily="2" charset="-122"/>
                  </a:rPr>
                  <a:t>)</a:t>
                </a:r>
                <a:r>
                  <a:rPr lang="zh-CN" altLang="en-US" dirty="0">
                    <a:ea typeface="华文楷体" pitchFamily="2" charset="-122"/>
                  </a:rPr>
                  <a:t>之和为</a:t>
                </a:r>
                <a:r>
                  <a:rPr lang="en-US" altLang="zh-CN" dirty="0">
                    <a:ea typeface="华文楷体" pitchFamily="2" charset="-122"/>
                  </a:rPr>
                  <a:t>1</a:t>
                </a:r>
                <a:r>
                  <a:rPr lang="zh-CN" altLang="en-US" dirty="0">
                    <a:ea typeface="华文楷体" pitchFamily="2" charset="-122"/>
                  </a:rPr>
                  <a:t>，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𝜔𝜖𝛺</m:t>
                        </m:r>
                      </m:sub>
                      <m:sup/>
                      <m:e>
                        <m:func>
                          <m:funcPr>
                            <m:ctrlPr>
                              <a:rPr lang="zh-CN" altLang="zh-CN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</m:d>
                          </m:e>
                        </m:func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nary>
                  </m:oMath>
                </a14:m>
                <a:endParaRPr lang="zh-CN" altLang="en-US" dirty="0">
                  <a:latin typeface="+mj-lt"/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函数</a:t>
                </a:r>
                <a:r>
                  <a:rPr lang="en-US" altLang="zh-CN" sz="2800" dirty="0" err="1">
                    <a:latin typeface="+mj-lt"/>
                    <a:ea typeface="华文楷体" pitchFamily="2" charset="-122"/>
                  </a:rPr>
                  <a:t>Pr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称为（概率空间上的）</a:t>
                </a:r>
                <a:r>
                  <a:rPr lang="zh-CN" altLang="en-US" sz="2800" dirty="0">
                    <a:solidFill>
                      <a:srgbClr val="0000FF"/>
                    </a:solidFill>
                    <a:latin typeface="+mj-lt"/>
                    <a:ea typeface="华文楷体" pitchFamily="2" charset="-122"/>
                  </a:rPr>
                  <a:t>概率分布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。</a:t>
                </a: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例：掷两次骰子构成的概率空间</a:t>
                </a:r>
                <a:r>
                  <a:rPr lang="el-GR" altLang="zh-CN" sz="2800" dirty="0">
                    <a:latin typeface="+mj-lt"/>
                    <a:ea typeface="华文楷体" pitchFamily="2" charset="-122"/>
                  </a:rPr>
                  <a:t>Ω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为</a:t>
                </a: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endParaRPr lang="en-US" altLang="zh-CN" sz="2800" dirty="0">
                  <a:latin typeface="+mj-lt"/>
                  <a:ea typeface="华文楷体" pitchFamily="2" charset="-122"/>
                </a:endParaRPr>
              </a:p>
            </p:txBody>
          </p:sp>
        </mc:Choice>
        <mc:Fallback xmlns="">
          <p:sp>
            <p:nvSpPr>
              <p:cNvPr id="203779" name="Rectangle 3">
                <a:extLst>
                  <a:ext uri="{FF2B5EF4-FFF2-40B4-BE49-F238E27FC236}">
                    <a16:creationId xmlns:a16="http://schemas.microsoft.com/office/drawing/2014/main" id="{4BD02FA7-1DFB-4D8D-88E8-A696D49FA2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55650" y="1412875"/>
                <a:ext cx="7920038" cy="4895850"/>
              </a:xfrm>
              <a:blipFill>
                <a:blip r:embed="rId2"/>
                <a:stretch>
                  <a:fillRect l="-1386" t="-22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390" name="Rectangle 4">
            <a:extLst>
              <a:ext uri="{FF2B5EF4-FFF2-40B4-BE49-F238E27FC236}">
                <a16:creationId xmlns:a16="http://schemas.microsoft.com/office/drawing/2014/main" id="{8324018A-9DED-4C79-B8E0-7FD1F5E89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6391" name="Rectangle 6">
            <a:extLst>
              <a:ext uri="{FF2B5EF4-FFF2-40B4-BE49-F238E27FC236}">
                <a16:creationId xmlns:a16="http://schemas.microsoft.com/office/drawing/2014/main" id="{306FDC46-DA72-428C-8A75-705BBD917F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pic>
        <p:nvPicPr>
          <p:cNvPr id="16392" name="Picture 2">
            <a:extLst>
              <a:ext uri="{FF2B5EF4-FFF2-40B4-BE49-F238E27FC236}">
                <a16:creationId xmlns:a16="http://schemas.microsoft.com/office/drawing/2014/main" id="{596EBA00-971F-4761-8FD1-1B340E9C17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975" y="4149725"/>
            <a:ext cx="4437063" cy="223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FCAC19C0-F720-4B80-9CA9-0452E516B4DA}"/>
              </a:ext>
            </a:extLst>
          </p:cNvPr>
          <p:cNvSpPr/>
          <p:nvPr/>
        </p:nvSpPr>
        <p:spPr>
          <a:xfrm>
            <a:off x="7019925" y="4652963"/>
            <a:ext cx="1873250" cy="1079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>
                <a:solidFill>
                  <a:srgbClr val="FFFF00"/>
                </a:solidFill>
                <a:latin typeface="+mj-lt"/>
                <a:ea typeface="楷体" pitchFamily="49" charset="-122"/>
              </a:rPr>
              <a:t>每种结果的概率为</a:t>
            </a:r>
            <a:r>
              <a:rPr lang="en-US" altLang="zh-CN" sz="2400">
                <a:solidFill>
                  <a:srgbClr val="FFFF00"/>
                </a:solidFill>
                <a:latin typeface="+mj-lt"/>
                <a:ea typeface="楷体" pitchFamily="49" charset="-122"/>
              </a:rPr>
              <a:t>1/36</a:t>
            </a:r>
            <a:endParaRPr lang="zh-CN" altLang="en-US" sz="2400">
              <a:solidFill>
                <a:srgbClr val="FFFF00"/>
              </a:solidFill>
              <a:latin typeface="+mj-lt"/>
              <a:ea typeface="楷体" pitchFamily="49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5C75576E-5E7A-456A-A417-0B16941AA57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4930696-C07E-465E-86D7-42DC439530E5}" type="datetime1">
              <a:rPr lang="zh-CN" altLang="en-US"/>
              <a:pPr>
                <a:defRPr/>
              </a:pPr>
              <a:t>2022/4/9</a:t>
            </a:fld>
            <a:endParaRPr lang="en-US" altLang="zh-CN"/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B8F50E66-E78D-4FF5-B2E3-7A13E5A20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AAE44D3F-BDC3-4756-A0DB-6A40AE2336B1}" type="slidenum">
              <a:rPr lang="en-US" altLang="zh-CN">
                <a:solidFill>
                  <a:srgbClr val="898989"/>
                </a:solidFill>
              </a:rPr>
              <a:pPr algn="ctr"/>
              <a:t>6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7412" name="Rectangle 2">
            <a:extLst>
              <a:ext uri="{FF2B5EF4-FFF2-40B4-BE49-F238E27FC236}">
                <a16:creationId xmlns:a16="http://schemas.microsoft.com/office/drawing/2014/main" id="{93FE5112-A01E-4798-BDE7-D15199E9CA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800">
                <a:ea typeface="华文楷体" panose="02010600040101010101" pitchFamily="2" charset="-122"/>
              </a:rPr>
              <a:t>概率事件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3779" name="Rectangle 3">
                <a:extLst>
                  <a:ext uri="{FF2B5EF4-FFF2-40B4-BE49-F238E27FC236}">
                    <a16:creationId xmlns:a16="http://schemas.microsoft.com/office/drawing/2014/main" id="{96F7246C-4E7C-4905-AAD7-9C5E13F8BC97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755650" y="1412875"/>
                <a:ext cx="7920038" cy="4895850"/>
              </a:xfrm>
            </p:spPr>
            <p:txBody>
              <a:bodyPr rtlCol="0">
                <a:noAutofit/>
              </a:bodyPr>
              <a:lstStyle/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r>
                  <a:rPr lang="zh-CN" altLang="en-US" sz="2800" dirty="0">
                    <a:solidFill>
                      <a:srgbClr val="0000FF"/>
                    </a:solidFill>
                    <a:latin typeface="+mj-lt"/>
                    <a:ea typeface="华文楷体" pitchFamily="2" charset="-122"/>
                  </a:rPr>
                  <a:t>概率事件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：若干基本事件组成的子集合。概率事件的概率为该子集中所有基本事件的概率之和。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sz="2800">
                            <a:latin typeface="Cambria Math" panose="02040503050406030204" pitchFamily="18" charset="0"/>
                          </a:rPr>
                          <m:t>             </m:t>
                        </m:r>
                        <m:r>
                          <m:rPr>
                            <m:sty m:val="p"/>
                          </m:rPr>
                          <a:rPr lang="en-US" altLang="zh-CN" sz="280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zh-CN" altLang="zh-CN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</m:t>
                            </m:r>
                            <m:r>
                              <m:rPr>
                                <m:sty m:val="p"/>
                              </m:rPr>
                              <a:rPr lang="en-US" altLang="zh-CN" sz="2800" i="1">
                                <a:latin typeface="Cambria Math" panose="02040503050406030204" pitchFamily="18" charset="0"/>
                                <a:sym typeface="Symbol" panose="05050102010706020507" pitchFamily="18" charset="2"/>
                              </a:rPr>
                              <m:t>A</m:t>
                            </m:r>
                          </m:e>
                        </m:d>
                      </m:e>
                    </m:func>
                    <m:r>
                      <a:rPr lang="en-US" altLang="zh-CN" sz="28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𝜔𝜖</m:t>
                        </m:r>
                        <m:r>
                          <m:rPr>
                            <m:sty m:val="p"/>
                          </m:rPr>
                          <a:rPr lang="en-US" altLang="zh-CN" sz="2800" i="1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  <m:sup/>
                      <m:e>
                        <m:func>
                          <m:funcPr>
                            <m:ctrlPr>
                              <a:rPr lang="zh-CN" altLang="zh-CN" sz="28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2800"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ctrlPr>
                                  <a:rPr lang="zh-CN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</m:d>
                          </m:e>
                        </m:func>
                      </m:e>
                    </m:nary>
                  </m:oMath>
                </a14:m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R(w)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是关于</a:t>
                </a:r>
                <a:r>
                  <a:rPr lang="el-GR" altLang="zh-CN" sz="2800" dirty="0">
                    <a:latin typeface="+mj-lt"/>
                    <a:ea typeface="华文楷体" pitchFamily="2" charset="-122"/>
                  </a:rPr>
                  <a:t>ω 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的命题，</a:t>
                </a:r>
                <a:r>
                  <a:rPr lang="en-US" altLang="zh-CN" sz="2800" dirty="0" err="1">
                    <a:latin typeface="+mj-lt"/>
                    <a:ea typeface="华文楷体" pitchFamily="2" charset="-122"/>
                  </a:rPr>
                  <a:t>Pr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(R(w))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表示使得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R(w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） 为真的所有</a:t>
                </a:r>
                <a:r>
                  <a:rPr lang="en-US" altLang="zh-CN" sz="2800" dirty="0" err="1">
                    <a:latin typeface="+mj-lt"/>
                    <a:ea typeface="华文楷体" pitchFamily="2" charset="-122"/>
                  </a:rPr>
                  <a:t>Pr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(w)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的和</a:t>
                </a: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概率事件的例子：掷两次骰子出现的点数相同的事件为</a:t>
                </a: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buFont typeface="Arial" panose="020B0604020202020204" pitchFamily="34" charset="0"/>
                  <a:buNone/>
                  <a:defRPr/>
                </a:pP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	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该事件的概率为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6 * 1/36 = 1/6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。</a:t>
                </a: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endParaRPr lang="en-US" altLang="zh-CN" sz="2800" dirty="0">
                  <a:latin typeface="+mj-lt"/>
                  <a:ea typeface="华文楷体" pitchFamily="2" charset="-122"/>
                </a:endParaRPr>
              </a:p>
            </p:txBody>
          </p:sp>
        </mc:Choice>
        <mc:Fallback xmlns="">
          <p:sp>
            <p:nvSpPr>
              <p:cNvPr id="203779" name="Rectangle 3">
                <a:extLst>
                  <a:ext uri="{FF2B5EF4-FFF2-40B4-BE49-F238E27FC236}">
                    <a16:creationId xmlns:a16="http://schemas.microsoft.com/office/drawing/2014/main" id="{96F7246C-4E7C-4905-AAD7-9C5E13F8BC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55650" y="1412875"/>
                <a:ext cx="7920038" cy="4895850"/>
              </a:xfrm>
              <a:blipFill>
                <a:blip r:embed="rId2"/>
                <a:stretch>
                  <a:fillRect l="-1386" t="-22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414" name="Rectangle 4">
            <a:extLst>
              <a:ext uri="{FF2B5EF4-FFF2-40B4-BE49-F238E27FC236}">
                <a16:creationId xmlns:a16="http://schemas.microsoft.com/office/drawing/2014/main" id="{C097FA5B-F030-4945-A6DF-173DDEC0CA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7415" name="Rectangle 6">
            <a:extLst>
              <a:ext uri="{FF2B5EF4-FFF2-40B4-BE49-F238E27FC236}">
                <a16:creationId xmlns:a16="http://schemas.microsoft.com/office/drawing/2014/main" id="{B68AB925-B5FA-467D-BDB4-AF5BF16F9E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pic>
        <p:nvPicPr>
          <p:cNvPr id="17416" name="Picture 2">
            <a:extLst>
              <a:ext uri="{FF2B5EF4-FFF2-40B4-BE49-F238E27FC236}">
                <a16:creationId xmlns:a16="http://schemas.microsoft.com/office/drawing/2014/main" id="{5EB8DE47-C4AB-4C18-82C1-6FFAC188D7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7306" y="4548188"/>
            <a:ext cx="6153150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A7AAFDA1-81F3-49EE-B3ED-FB3767116B1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4930696-C07E-465E-86D7-42DC439530E5}" type="datetime1">
              <a:rPr lang="zh-CN" altLang="en-US"/>
              <a:pPr>
                <a:defRPr/>
              </a:pPr>
              <a:t>2022/4/9</a:t>
            </a:fld>
            <a:endParaRPr lang="en-US" altLang="zh-CN"/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FE966413-7478-4824-97D6-97FC0320F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129B706E-A8E2-425E-B50F-405EF2FD74F4}" type="slidenum">
              <a:rPr lang="en-US" altLang="zh-CN">
                <a:solidFill>
                  <a:srgbClr val="898989"/>
                </a:solidFill>
              </a:rPr>
              <a:pPr algn="ctr"/>
              <a:t>7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8436" name="Rectangle 2">
            <a:extLst>
              <a:ext uri="{FF2B5EF4-FFF2-40B4-BE49-F238E27FC236}">
                <a16:creationId xmlns:a16="http://schemas.microsoft.com/office/drawing/2014/main" id="{BB80ED71-6777-4768-9083-4727615E23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800">
                <a:ea typeface="华文楷体" panose="02010600040101010101" pitchFamily="2" charset="-122"/>
              </a:rPr>
              <a:t>随机变量</a:t>
            </a:r>
          </a:p>
        </p:txBody>
      </p:sp>
      <p:sp>
        <p:nvSpPr>
          <p:cNvPr id="203779" name="Rectangle 3">
            <a:extLst>
              <a:ext uri="{FF2B5EF4-FFF2-40B4-BE49-F238E27FC236}">
                <a16:creationId xmlns:a16="http://schemas.microsoft.com/office/drawing/2014/main" id="{39F9FAE2-5053-4D63-BCFC-F83408CEED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412875"/>
            <a:ext cx="7920038" cy="4895850"/>
          </a:xfrm>
        </p:spPr>
        <p:txBody>
          <a:bodyPr rtlCol="0">
            <a:noAutofit/>
          </a:bodyPr>
          <a:lstStyle/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 dirty="0">
                <a:solidFill>
                  <a:srgbClr val="0000FF"/>
                </a:solidFill>
                <a:latin typeface="+mj-lt"/>
                <a:ea typeface="华文楷体" pitchFamily="2" charset="-122"/>
              </a:rPr>
              <a:t>随机变量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是定义在概率空间内的基本事件上的函数。也就是说，随机变量是基本事件的某种属性的数学描述。</a:t>
            </a: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例：对前面的掷两次骰子的问题，定义随机变量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S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为两次投掷结果的和，则有</a:t>
            </a: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 dirty="0">
                <a:ea typeface="华文楷体" pitchFamily="2" charset="-122"/>
              </a:rPr>
              <a:t>在概率空间明确的前提下，可以略去随机变量的“函数体”，仅以字母表示。</a:t>
            </a:r>
            <a:r>
              <a:rPr lang="en-US" altLang="zh-CN" sz="2800" dirty="0">
                <a:ea typeface="华文楷体" pitchFamily="2" charset="-122"/>
              </a:rPr>
              <a:t>S=7 vs. </a:t>
            </a: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zh-CN" altLang="en-US" sz="2800" dirty="0">
              <a:latin typeface="+mj-lt"/>
              <a:ea typeface="华文楷体" pitchFamily="2" charset="-122"/>
            </a:endParaRPr>
          </a:p>
        </p:txBody>
      </p:sp>
      <p:sp>
        <p:nvSpPr>
          <p:cNvPr id="18438" name="Rectangle 4">
            <a:extLst>
              <a:ext uri="{FF2B5EF4-FFF2-40B4-BE49-F238E27FC236}">
                <a16:creationId xmlns:a16="http://schemas.microsoft.com/office/drawing/2014/main" id="{9520CD55-7992-4281-A907-42CEFDDDE4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8439" name="Rectangle 6">
            <a:extLst>
              <a:ext uri="{FF2B5EF4-FFF2-40B4-BE49-F238E27FC236}">
                <a16:creationId xmlns:a16="http://schemas.microsoft.com/office/drawing/2014/main" id="{672822B5-2D59-462A-A662-53168D6550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pic>
        <p:nvPicPr>
          <p:cNvPr id="18440" name="Picture 3">
            <a:extLst>
              <a:ext uri="{FF2B5EF4-FFF2-40B4-BE49-F238E27FC236}">
                <a16:creationId xmlns:a16="http://schemas.microsoft.com/office/drawing/2014/main" id="{5DBA7DF8-8D1C-4261-AD9C-526EC45A7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475" y="3861048"/>
            <a:ext cx="1656581" cy="5120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3">
            <a:extLst>
              <a:ext uri="{FF2B5EF4-FFF2-40B4-BE49-F238E27FC236}">
                <a16:creationId xmlns:a16="http://schemas.microsoft.com/office/drawing/2014/main" id="{5DBA7DF8-8D1C-4261-AD9C-526EC45A7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2058" y="4797152"/>
            <a:ext cx="1399550" cy="4326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B64EFB74-EE38-42AD-AB45-7100E585031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4930696-C07E-465E-86D7-42DC439530E5}" type="datetime1">
              <a:rPr lang="zh-CN" altLang="en-US"/>
              <a:pPr>
                <a:defRPr/>
              </a:pPr>
              <a:t>2022/4/9</a:t>
            </a:fld>
            <a:endParaRPr lang="en-US" altLang="zh-CN"/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A8E99AF8-AFBB-48C0-8116-634F96970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09695A11-DDB2-4CCD-9271-AE97D9411862}" type="slidenum">
              <a:rPr lang="en-US" altLang="zh-CN">
                <a:solidFill>
                  <a:srgbClr val="898989"/>
                </a:solidFill>
              </a:rPr>
              <a:pPr algn="ctr"/>
              <a:t>8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9460" name="Rectangle 2">
            <a:extLst>
              <a:ext uri="{FF2B5EF4-FFF2-40B4-BE49-F238E27FC236}">
                <a16:creationId xmlns:a16="http://schemas.microsoft.com/office/drawing/2014/main" id="{22FFDB7F-712C-4E75-AD3C-51F1999BA3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800">
                <a:ea typeface="华文楷体" panose="02010600040101010101" pitchFamily="2" charset="-122"/>
              </a:rPr>
              <a:t>随机变量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3779" name="Rectangle 3">
                <a:extLst>
                  <a:ext uri="{FF2B5EF4-FFF2-40B4-BE49-F238E27FC236}">
                    <a16:creationId xmlns:a16="http://schemas.microsoft.com/office/drawing/2014/main" id="{5BDE4BA2-6FC0-485D-8328-4E2742815FB7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755650" y="1412875"/>
                <a:ext cx="7920038" cy="4895850"/>
              </a:xfrm>
            </p:spPr>
            <p:txBody>
              <a:bodyPr rtlCol="0">
                <a:noAutofit/>
              </a:bodyPr>
              <a:lstStyle/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r>
                  <a:rPr lang="zh-CN" altLang="en-US" sz="2800" dirty="0">
                    <a:ea typeface="华文楷体" pitchFamily="2" charset="-122"/>
                  </a:rPr>
                  <a:t>随机变量</a:t>
                </a:r>
                <a:r>
                  <a:rPr lang="en-US" altLang="zh-CN" sz="2800" dirty="0">
                    <a:ea typeface="华文楷体" pitchFamily="2" charset="-122"/>
                  </a:rPr>
                  <a:t>S</a:t>
                </a:r>
                <a:r>
                  <a:rPr lang="zh-CN" altLang="en-US" sz="2800" dirty="0">
                    <a:ea typeface="华文楷体" pitchFamily="2" charset="-122"/>
                  </a:rPr>
                  <a:t>等于某个数值</a:t>
                </a:r>
                <a:r>
                  <a:rPr lang="en-US" altLang="zh-CN" sz="2800" dirty="0">
                    <a:ea typeface="华文楷体" pitchFamily="2" charset="-122"/>
                  </a:rPr>
                  <a:t>s</a:t>
                </a:r>
                <a:r>
                  <a:rPr lang="zh-CN" altLang="en-US" sz="2800" dirty="0">
                    <a:ea typeface="华文楷体" pitchFamily="2" charset="-122"/>
                  </a:rPr>
                  <a:t>的概率：所有属性值为</a:t>
                </a:r>
                <a:r>
                  <a:rPr lang="en-US" altLang="zh-CN" sz="2800" dirty="0">
                    <a:ea typeface="华文楷体" pitchFamily="2" charset="-122"/>
                  </a:rPr>
                  <a:t>s</a:t>
                </a:r>
                <a:r>
                  <a:rPr lang="zh-CN" altLang="en-US" sz="2800" dirty="0">
                    <a:ea typeface="华文楷体" pitchFamily="2" charset="-122"/>
                  </a:rPr>
                  <a:t>的基本事件的概率之和。</a:t>
                </a:r>
                <a:endParaRPr lang="en-US" altLang="zh-CN" sz="2800" dirty="0">
                  <a:ea typeface="华文楷体" pitchFamily="2" charset="-122"/>
                </a:endParaRPr>
              </a:p>
              <a:p>
                <a:pPr marL="0" indent="0" fontAlgn="auto">
                  <a:lnSpc>
                    <a:spcPct val="90000"/>
                  </a:lnSpc>
                  <a:spcAft>
                    <a:spcPts val="0"/>
                  </a:spcAft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zh-CN" sz="2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sz="2800">
                              <a:latin typeface="Cambria Math" panose="02040503050406030204" pitchFamily="18" charset="0"/>
                            </a:rPr>
                            <m:t>             </m:t>
                          </m:r>
                          <m:r>
                            <m:rPr>
                              <m:sty m:val="p"/>
                            </m:rPr>
                            <a:rPr lang="en-US" altLang="zh-CN" sz="280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zh-CN" altLang="zh-C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e>
                      </m:func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zh-CN" altLang="zh-CN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𝜔𝜖</m:t>
                          </m:r>
                          <m:r>
                            <a:rPr lang="en-US" altLang="zh-CN" sz="2800" i="1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</m:t>
                          </m:r>
                        </m:sub>
                        <m:sup/>
                        <m:e>
                          <m:func>
                            <m:funcPr>
                              <m:ctrlPr>
                                <a:rPr lang="zh-CN" altLang="zh-CN" sz="2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zh-CN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d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d>
                                <m:d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d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随机变量的概率空间：略去随机变量背后琐碎的基本事件，将随机变量及其各种取值定义为（新的）基本事件，相应地定义其概率。这是现实世界的数学化、抽象化。</a:t>
                </a: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endParaRPr lang="zh-CN" altLang="en-US" sz="2800" dirty="0">
                  <a:latin typeface="+mj-lt"/>
                  <a:ea typeface="华文楷体" pitchFamily="2" charset="-122"/>
                </a:endParaRPr>
              </a:p>
            </p:txBody>
          </p:sp>
        </mc:Choice>
        <mc:Fallback xmlns="">
          <p:sp>
            <p:nvSpPr>
              <p:cNvPr id="203779" name="Rectangle 3">
                <a:extLst>
                  <a:ext uri="{FF2B5EF4-FFF2-40B4-BE49-F238E27FC236}">
                    <a16:creationId xmlns:a16="http://schemas.microsoft.com/office/drawing/2014/main" id="{5BDE4BA2-6FC0-485D-8328-4E2742815F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55650" y="1412875"/>
                <a:ext cx="7920038" cy="4895850"/>
              </a:xfrm>
              <a:blipFill>
                <a:blip r:embed="rId2"/>
                <a:stretch>
                  <a:fillRect l="-1386" t="-22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462" name="Rectangle 4">
            <a:extLst>
              <a:ext uri="{FF2B5EF4-FFF2-40B4-BE49-F238E27FC236}">
                <a16:creationId xmlns:a16="http://schemas.microsoft.com/office/drawing/2014/main" id="{B92B5820-85A1-446B-8064-A291113A10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9463" name="Rectangle 6">
            <a:extLst>
              <a:ext uri="{FF2B5EF4-FFF2-40B4-BE49-F238E27FC236}">
                <a16:creationId xmlns:a16="http://schemas.microsoft.com/office/drawing/2014/main" id="{CED1EEAC-A680-41D9-BF15-1EDC326141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618" y="4867578"/>
            <a:ext cx="8342101" cy="14649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B64EFB74-EE38-42AD-AB45-7100E585031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4930696-C07E-465E-86D7-42DC439530E5}" type="datetime1">
              <a:rPr lang="zh-CN" altLang="en-US"/>
              <a:pPr>
                <a:defRPr/>
              </a:pPr>
              <a:t>2022/4/9</a:t>
            </a:fld>
            <a:endParaRPr lang="en-US" altLang="zh-CN"/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A8E99AF8-AFBB-48C0-8116-634F96970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09695A11-DDB2-4CCD-9271-AE97D9411862}" type="slidenum">
              <a:rPr lang="en-US" altLang="zh-CN">
                <a:solidFill>
                  <a:srgbClr val="898989"/>
                </a:solidFill>
              </a:rPr>
              <a:pPr algn="ctr"/>
              <a:t>9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9460" name="Rectangle 2">
            <a:extLst>
              <a:ext uri="{FF2B5EF4-FFF2-40B4-BE49-F238E27FC236}">
                <a16:creationId xmlns:a16="http://schemas.microsoft.com/office/drawing/2014/main" id="{22FFDB7F-712C-4E75-AD3C-51F1999BA3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800">
                <a:ea typeface="华文楷体" panose="02010600040101010101" pitchFamily="2" charset="-122"/>
              </a:rPr>
              <a:t>随机变量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3779" name="Rectangle 3">
                <a:extLst>
                  <a:ext uri="{FF2B5EF4-FFF2-40B4-BE49-F238E27FC236}">
                    <a16:creationId xmlns:a16="http://schemas.microsoft.com/office/drawing/2014/main" id="{5BDE4BA2-6FC0-485D-8328-4E2742815FB7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611981" y="1417638"/>
                <a:ext cx="7920038" cy="4895850"/>
              </a:xfrm>
            </p:spPr>
            <p:txBody>
              <a:bodyPr rtlCol="0">
                <a:noAutofit/>
              </a:bodyPr>
              <a:lstStyle/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r>
                  <a:rPr lang="zh-CN" altLang="en-US" sz="2800" dirty="0">
                    <a:latin typeface="+mj-lt"/>
                    <a:ea typeface="华文楷体" pitchFamily="2" charset="-122"/>
                    <a:sym typeface="Symbol" panose="05050102010706020507" pitchFamily="18" charset="2"/>
                  </a:rPr>
                  <a:t></a:t>
                </a:r>
                <a:r>
                  <a:rPr lang="en-US" altLang="zh-CN" sz="2800" dirty="0">
                    <a:latin typeface="+mj-lt"/>
                    <a:ea typeface="华文楷体" pitchFamily="2" charset="-122"/>
                    <a:sym typeface="Symbol" panose="05050102010706020507" pitchFamily="18" charset="2"/>
                  </a:rPr>
                  <a:t>=D</a:t>
                </a:r>
                <a:r>
                  <a:rPr lang="en-US" altLang="zh-CN" sz="2800" baseline="30000" dirty="0">
                    <a:latin typeface="+mj-lt"/>
                    <a:ea typeface="华文楷体" pitchFamily="2" charset="-122"/>
                    <a:sym typeface="Symbol" panose="05050102010706020507" pitchFamily="18" charset="2"/>
                  </a:rPr>
                  <a:t>2</a:t>
                </a:r>
                <a:r>
                  <a:rPr lang="zh-CN" altLang="en-US" sz="2800" dirty="0">
                    <a:latin typeface="+mj-lt"/>
                    <a:ea typeface="华文楷体" pitchFamily="2" charset="-122"/>
                    <a:sym typeface="Symbol" panose="05050102010706020507" pitchFamily="18" charset="2"/>
                  </a:rPr>
                  <a:t>，</a:t>
                </a:r>
                <a:endParaRPr lang="en-US" altLang="zh-CN" sz="2800" dirty="0">
                  <a:latin typeface="+mj-lt"/>
                  <a:ea typeface="华文楷体" pitchFamily="2" charset="-122"/>
                  <a:sym typeface="Symbol" panose="05050102010706020507" pitchFamily="18" charset="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均匀骰子：每个面的概率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Pr</a:t>
                </a:r>
                <a:r>
                  <a:rPr lang="en-US" altLang="zh-CN" sz="2800" baseline="-25000" dirty="0">
                    <a:latin typeface="+mj-lt"/>
                    <a:ea typeface="华文楷体" pitchFamily="2" charset="-122"/>
                  </a:rPr>
                  <a:t>0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都为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1/6</a:t>
                </a: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灌铅</a:t>
                </a:r>
                <a:r>
                  <a:rPr lang="zh-CN" altLang="en-US" sz="2800" dirty="0">
                    <a:ea typeface="华文楷体" pitchFamily="2" charset="-122"/>
                  </a:rPr>
                  <a:t>骰子：</a:t>
                </a:r>
                <a:endParaRPr lang="en-US" altLang="zh-CN" sz="2800" dirty="0"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定义</a:t>
                </a:r>
                <a:r>
                  <a:rPr lang="zh-CN" altLang="en-US" sz="2800" dirty="0">
                    <a:ea typeface="华文楷体" pitchFamily="2" charset="-122"/>
                    <a:sym typeface="Symbol" panose="05050102010706020507" pitchFamily="18" charset="2"/>
                  </a:rPr>
                  <a:t>上的概率分布：</a:t>
                </a:r>
                <a:r>
                  <a:rPr lang="en-US" altLang="zh-CN" sz="2800" dirty="0">
                    <a:ea typeface="华文楷体" pitchFamily="2" charset="-122"/>
                  </a:rPr>
                  <a:t> </a:t>
                </a:r>
              </a:p>
              <a:p>
                <a:pPr marL="0" indent="0" fontAlgn="auto">
                  <a:lnSpc>
                    <a:spcPct val="90000"/>
                  </a:lnSpc>
                  <a:spcAft>
                    <a:spcPts val="0"/>
                  </a:spcAft>
                  <a:buNone/>
                  <a:defRPr/>
                </a:pPr>
                <a:r>
                  <a:rPr lang="en-US" altLang="zh-CN" sz="2800" dirty="0">
                    <a:ea typeface="华文楷体" pitchFamily="2" charset="-122"/>
                  </a:rPr>
                  <a:t>Pr</a:t>
                </a:r>
                <a:r>
                  <a:rPr lang="en-US" altLang="zh-CN" sz="2800" baseline="-25000" dirty="0">
                    <a:ea typeface="华文楷体" pitchFamily="2" charset="-122"/>
                  </a:rPr>
                  <a:t>00</a:t>
                </a:r>
                <a:r>
                  <a:rPr lang="en-US" altLang="zh-CN" sz="2800" dirty="0">
                    <a:ea typeface="华文楷体" pitchFamily="2" charset="-122"/>
                  </a:rPr>
                  <a:t>(</a:t>
                </a:r>
                <a:r>
                  <a:rPr lang="en-US" altLang="zh-CN" sz="2800" dirty="0" err="1">
                    <a:ea typeface="华文楷体" pitchFamily="2" charset="-122"/>
                  </a:rPr>
                  <a:t>dd</a:t>
                </a:r>
                <a:r>
                  <a:rPr lang="en-US" altLang="zh-CN" sz="2800" dirty="0">
                    <a:ea typeface="华文楷体" pitchFamily="2" charset="-122"/>
                  </a:rPr>
                  <a:t>‘)=Pr</a:t>
                </a:r>
                <a:r>
                  <a:rPr lang="en-US" altLang="zh-CN" sz="2800" baseline="-25000" dirty="0">
                    <a:ea typeface="华文楷体" pitchFamily="2" charset="-122"/>
                  </a:rPr>
                  <a:t>0</a:t>
                </a:r>
                <a:r>
                  <a:rPr lang="en-US" altLang="zh-CN" sz="2800" dirty="0">
                    <a:ea typeface="华文楷体" pitchFamily="2" charset="-122"/>
                  </a:rPr>
                  <a:t>(d)Pr</a:t>
                </a:r>
                <a:r>
                  <a:rPr lang="en-US" altLang="zh-CN" sz="2800" baseline="-25000" dirty="0">
                    <a:ea typeface="华文楷体" pitchFamily="2" charset="-122"/>
                  </a:rPr>
                  <a:t>0</a:t>
                </a:r>
                <a:r>
                  <a:rPr lang="en-US" altLang="zh-CN" sz="2800" dirty="0">
                    <a:ea typeface="华文楷体" pitchFamily="2" charset="-122"/>
                  </a:rPr>
                  <a:t>(d’)</a:t>
                </a:r>
                <a:r>
                  <a:rPr lang="zh-CN" altLang="en-US" sz="2800" dirty="0">
                    <a:ea typeface="华文楷体" pitchFamily="2" charset="-122"/>
                  </a:rPr>
                  <a:t>，</a:t>
                </a:r>
                <a:r>
                  <a:rPr lang="en-US" altLang="zh-CN" sz="2800" dirty="0">
                    <a:ea typeface="华文楷体" pitchFamily="2" charset="-122"/>
                  </a:rPr>
                  <a:t> Pr</a:t>
                </a:r>
                <a:r>
                  <a:rPr lang="en-US" altLang="zh-CN" sz="2800" baseline="-25000" dirty="0">
                    <a:ea typeface="华文楷体" pitchFamily="2" charset="-122"/>
                  </a:rPr>
                  <a:t>11</a:t>
                </a:r>
                <a:r>
                  <a:rPr lang="en-US" altLang="zh-CN" sz="2800" dirty="0">
                    <a:ea typeface="华文楷体" pitchFamily="2" charset="-122"/>
                  </a:rPr>
                  <a:t>(</a:t>
                </a:r>
                <a:r>
                  <a:rPr lang="en-US" altLang="zh-CN" sz="2800" dirty="0" err="1">
                    <a:ea typeface="华文楷体" pitchFamily="2" charset="-122"/>
                  </a:rPr>
                  <a:t>dd</a:t>
                </a:r>
                <a:r>
                  <a:rPr lang="en-US" altLang="zh-CN" sz="2800" dirty="0">
                    <a:ea typeface="华文楷体" pitchFamily="2" charset="-122"/>
                  </a:rPr>
                  <a:t>‘)=Pr</a:t>
                </a:r>
                <a:r>
                  <a:rPr lang="en-US" altLang="zh-CN" sz="2800" baseline="-25000" dirty="0">
                    <a:ea typeface="华文楷体" pitchFamily="2" charset="-122"/>
                  </a:rPr>
                  <a:t>1</a:t>
                </a:r>
                <a:r>
                  <a:rPr lang="en-US" altLang="zh-CN" sz="2800" dirty="0">
                    <a:ea typeface="华文楷体" pitchFamily="2" charset="-122"/>
                  </a:rPr>
                  <a:t>(d)Pr</a:t>
                </a:r>
                <a:r>
                  <a:rPr lang="en-US" altLang="zh-CN" sz="2800" baseline="-25000" dirty="0">
                    <a:ea typeface="华文楷体" pitchFamily="2" charset="-122"/>
                  </a:rPr>
                  <a:t>1</a:t>
                </a:r>
                <a:r>
                  <a:rPr lang="en-US" altLang="zh-CN" sz="2800" dirty="0">
                    <a:ea typeface="华文楷体" pitchFamily="2" charset="-122"/>
                  </a:rPr>
                  <a:t>(d’)</a:t>
                </a: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r>
                  <a:rPr lang="zh-CN" altLang="en-US" sz="2800" dirty="0">
                    <a:ea typeface="华文楷体" pitchFamily="2" charset="-122"/>
                  </a:rPr>
                  <a:t>定义的合理性：</a:t>
                </a:r>
                <a:endParaRPr lang="en-US" altLang="zh-CN" sz="2800" dirty="0"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endParaRPr lang="en-US" altLang="zh-CN" sz="2800" dirty="0"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endParaRPr lang="en-US" altLang="zh-CN" sz="2800" dirty="0">
                  <a:ea typeface="华文楷体" pitchFamily="2" charset="-122"/>
                </a:endParaRPr>
              </a:p>
              <a:p>
                <a:pPr marL="0" indent="0" fontAlgn="auto">
                  <a:lnSpc>
                    <a:spcPct val="90000"/>
                  </a:lnSpc>
                  <a:spcAft>
                    <a:spcPts val="0"/>
                  </a:spcAft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p/>
                          </m:sSup>
                        </m:sub>
                        <m:sup/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𝑃</m:t>
                          </m:r>
                          <m:sSub>
                            <m:sSub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d>
                          <m:nary>
                            <m:naryPr>
                              <m:chr m:val="∑"/>
                              <m:supHide m:val="on"/>
                              <m:ctrlPr>
                                <a:rPr lang="zh-CN" altLang="en-US" sz="1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′∈</m:t>
                              </m:r>
                              <m:sSup>
                                <m:sSup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p/>
                              </m:sSup>
                            </m:sub>
                            <m:sup/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sSub>
                                <m:sSub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e>
                              </m:d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e>
                          </m:nary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×1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nary>
                    </m:oMath>
                  </m:oMathPara>
                </a14:m>
                <a:endParaRPr lang="zh-CN" altLang="en-US" sz="1800" dirty="0">
                  <a:ea typeface="华文楷体" pitchFamily="2" charset="-122"/>
                </a:endParaRPr>
              </a:p>
            </p:txBody>
          </p:sp>
        </mc:Choice>
        <mc:Fallback xmlns="">
          <p:sp>
            <p:nvSpPr>
              <p:cNvPr id="203779" name="Rectangle 3">
                <a:extLst>
                  <a:ext uri="{FF2B5EF4-FFF2-40B4-BE49-F238E27FC236}">
                    <a16:creationId xmlns:a16="http://schemas.microsoft.com/office/drawing/2014/main" xmlns="" id="{5BDE4BA2-6FC0-485D-8328-4E2742815F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11981" y="1417638"/>
                <a:ext cx="7920038" cy="4895850"/>
              </a:xfrm>
              <a:blipFill rotWithShape="0">
                <a:blip r:embed="rId2"/>
                <a:stretch>
                  <a:fillRect l="-1538" t="-2491" b="-83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462" name="Rectangle 4">
            <a:extLst>
              <a:ext uri="{FF2B5EF4-FFF2-40B4-BE49-F238E27FC236}">
                <a16:creationId xmlns:a16="http://schemas.microsoft.com/office/drawing/2014/main" id="{B92B5820-85A1-446B-8064-A291113A10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9463" name="Rectangle 6">
            <a:extLst>
              <a:ext uri="{FF2B5EF4-FFF2-40B4-BE49-F238E27FC236}">
                <a16:creationId xmlns:a16="http://schemas.microsoft.com/office/drawing/2014/main" id="{CED1EEAC-A680-41D9-BF15-1EDC326141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3625" y="1465263"/>
            <a:ext cx="3686175" cy="33337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3808" y="2301081"/>
            <a:ext cx="4572000" cy="13716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1259632" y="5244716"/>
                <a:ext cx="5600764" cy="7268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sty m:val="p"/>
                            </m:rPr>
                            <a:rPr lang="el-GR" altLang="zh-CN" i="1" smtClean="0">
                              <a:latin typeface="Cambria Math" panose="02040503050406030204" pitchFamily="18" charset="0"/>
                            </a:rPr>
                            <m:t>Ω</m:t>
                          </m:r>
                        </m:sub>
                        <m:sup/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𝑑𝑑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′∈</m:t>
                              </m:r>
                              <m:sSup>
                                <m:sSup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sub>
                            <m:sup/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𝑑𝑑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e>
                              </m:d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′∈</m:t>
                                  </m:r>
                                  <m:sSup>
                                    <m:sSup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p/>
                                  </m:sSup>
                                </m:sub>
                                <m:sup/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r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</m:d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r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e>
                                  </m:d>
                                </m:e>
                              </m:nary>
                            </m:e>
                          </m:nary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632" y="5244716"/>
                <a:ext cx="5600764" cy="72680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52196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5549F562-9844-45A9-BF65-EF93C4F83FA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4930696-C07E-465E-86D7-42DC439530E5}" type="datetime1">
              <a:rPr lang="zh-CN" altLang="en-US"/>
              <a:pPr>
                <a:defRPr/>
              </a:pPr>
              <a:t>2022/4/9</a:t>
            </a:fld>
            <a:endParaRPr lang="en-US" altLang="zh-CN"/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E5917D5F-E42D-4846-BB2C-F19C0A7A6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E2045B7D-D4E1-4B74-B5CB-DD93852FE13C}" type="slidenum">
              <a:rPr lang="en-US" altLang="zh-CN">
                <a:solidFill>
                  <a:srgbClr val="898989"/>
                </a:solidFill>
              </a:rPr>
              <a:pPr algn="ctr"/>
              <a:t>10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029" name="Rectangle 2">
            <a:extLst>
              <a:ext uri="{FF2B5EF4-FFF2-40B4-BE49-F238E27FC236}">
                <a16:creationId xmlns:a16="http://schemas.microsoft.com/office/drawing/2014/main" id="{10D5B637-86B4-4644-A8FF-3147EBCE5E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800">
                <a:ea typeface="华文楷体" panose="02010600040101010101" pitchFamily="2" charset="-122"/>
              </a:rPr>
              <a:t>联合分布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3779" name="Rectangle 3">
                <a:extLst>
                  <a:ext uri="{FF2B5EF4-FFF2-40B4-BE49-F238E27FC236}">
                    <a16:creationId xmlns:a16="http://schemas.microsoft.com/office/drawing/2014/main" id="{359F7559-424A-4E1D-BDE4-4669FE47C412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755650" y="1412875"/>
                <a:ext cx="7920038" cy="5040313"/>
              </a:xfrm>
            </p:spPr>
            <p:txBody>
              <a:bodyPr rtlCol="0">
                <a:noAutofit/>
              </a:bodyPr>
              <a:lstStyle/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r>
                  <a:rPr lang="zh-CN" altLang="en-US" sz="2800" dirty="0">
                    <a:solidFill>
                      <a:srgbClr val="0000FF"/>
                    </a:solidFill>
                    <a:ea typeface="华文楷体" pitchFamily="2" charset="-122"/>
                  </a:rPr>
                  <a:t>联合分布：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一个概率空间上可以定义多个变量，各个变量的每种取值组合的概率分布</a:t>
                </a: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随机变量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X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与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Y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是</a:t>
                </a:r>
                <a:r>
                  <a:rPr lang="zh-CN" altLang="en-US" sz="2800" dirty="0">
                    <a:solidFill>
                      <a:srgbClr val="0000FF"/>
                    </a:solidFill>
                    <a:latin typeface="+mj-lt"/>
                    <a:ea typeface="华文楷体" pitchFamily="2" charset="-122"/>
                  </a:rPr>
                  <a:t>独立的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：</a:t>
                </a:r>
                <a:r>
                  <a:rPr lang="zh-CN" altLang="en-US" sz="2800" dirty="0">
                    <a:solidFill>
                      <a:srgbClr val="FF0000"/>
                    </a:solidFill>
                    <a:latin typeface="+mj-lt"/>
                    <a:ea typeface="华文楷体" pitchFamily="2" charset="-122"/>
                  </a:rPr>
                  <a:t>对任意的（概率空间内的）可能取值</a:t>
                </a:r>
                <a:r>
                  <a:rPr lang="en-US" altLang="zh-CN" sz="2800" dirty="0">
                    <a:solidFill>
                      <a:srgbClr val="FF0000"/>
                    </a:solidFill>
                    <a:latin typeface="+mj-lt"/>
                    <a:ea typeface="华文楷体" pitchFamily="2" charset="-122"/>
                  </a:rPr>
                  <a:t>x</a:t>
                </a:r>
                <a:r>
                  <a:rPr lang="zh-CN" altLang="en-US" sz="2800" dirty="0">
                    <a:solidFill>
                      <a:srgbClr val="FF0000"/>
                    </a:solidFill>
                    <a:latin typeface="+mj-lt"/>
                    <a:ea typeface="华文楷体" pitchFamily="2" charset="-122"/>
                  </a:rPr>
                  <a:t>和</a:t>
                </a:r>
                <a:r>
                  <a:rPr lang="en-US" altLang="zh-CN" sz="2800" dirty="0">
                    <a:solidFill>
                      <a:srgbClr val="FF0000"/>
                    </a:solidFill>
                    <a:latin typeface="+mj-lt"/>
                    <a:ea typeface="华文楷体" pitchFamily="2" charset="-122"/>
                  </a:rPr>
                  <a:t>y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，有</a:t>
                </a: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记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S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为两次投掷结果之和，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P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为结果之积。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S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与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P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是独立的吗？考察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S = 2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、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P = 1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：</a:t>
                </a: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algn="ctr" fontAlgn="auto">
                  <a:lnSpc>
                    <a:spcPct val="90000"/>
                  </a:lnSpc>
                  <a:spcAft>
                    <a:spcPts val="0"/>
                  </a:spcAft>
                  <a:buFont typeface="Arial" panose="020B0604020202020204" pitchFamily="34" charset="0"/>
                  <a:buNone/>
                  <a:defRPr/>
                </a:pPr>
                <a:r>
                  <a:rPr lang="en-US" altLang="zh-CN" sz="2800" dirty="0" err="1">
                    <a:solidFill>
                      <a:srgbClr val="FF0000"/>
                    </a:solidFill>
                    <a:latin typeface="+mj-lt"/>
                    <a:ea typeface="华文楷体" pitchFamily="2" charset="-122"/>
                  </a:rPr>
                  <a:t>Pr</a:t>
                </a:r>
                <a:r>
                  <a:rPr lang="en-US" altLang="zh-CN" sz="2800" dirty="0">
                    <a:solidFill>
                      <a:srgbClr val="FF0000"/>
                    </a:solidFill>
                    <a:latin typeface="+mj-lt"/>
                    <a:ea typeface="华文楷体" pitchFamily="2" charset="-122"/>
                  </a:rPr>
                  <a:t>(S = 2,P = 1) = 1/36</a:t>
                </a:r>
                <a:r>
                  <a:rPr lang="zh-CN" altLang="en-US" sz="2800" dirty="0">
                    <a:solidFill>
                      <a:srgbClr val="0000FF"/>
                    </a:solidFill>
                    <a:latin typeface="+mj-lt"/>
                    <a:ea typeface="华文楷体" pitchFamily="2" charset="-122"/>
                  </a:rPr>
                  <a:t>，而</a:t>
                </a:r>
                <a:r>
                  <a:rPr lang="en-US" altLang="zh-CN" sz="2800" dirty="0" err="1">
                    <a:solidFill>
                      <a:srgbClr val="FF0000"/>
                    </a:solidFill>
                    <a:latin typeface="+mj-lt"/>
                    <a:ea typeface="华文楷体" pitchFamily="2" charset="-122"/>
                  </a:rPr>
                  <a:t>Pr</a:t>
                </a:r>
                <a:r>
                  <a:rPr lang="en-US" altLang="zh-CN" sz="2800" dirty="0">
                    <a:solidFill>
                      <a:srgbClr val="FF0000"/>
                    </a:solidFill>
                    <a:latin typeface="+mj-lt"/>
                    <a:ea typeface="华文楷体" pitchFamily="2" charset="-122"/>
                  </a:rPr>
                  <a:t>(S = 2) = </a:t>
                </a:r>
                <a:r>
                  <a:rPr lang="en-US" altLang="zh-CN" sz="2800" dirty="0" err="1">
                    <a:solidFill>
                      <a:srgbClr val="FF0000"/>
                    </a:solidFill>
                    <a:latin typeface="+mj-lt"/>
                    <a:ea typeface="华文楷体" pitchFamily="2" charset="-122"/>
                  </a:rPr>
                  <a:t>Pr</a:t>
                </a:r>
                <a:r>
                  <a:rPr lang="en-US" altLang="zh-CN" sz="2800" dirty="0">
                    <a:solidFill>
                      <a:srgbClr val="FF0000"/>
                    </a:solidFill>
                    <a:latin typeface="+mj-lt"/>
                    <a:ea typeface="华文楷体" pitchFamily="2" charset="-122"/>
                  </a:rPr>
                  <a:t>(P = 1) = 1/36</a:t>
                </a: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buFont typeface="Arial" panose="020B0604020202020204" pitchFamily="34" charset="0"/>
                  <a:buNone/>
                  <a:defRPr/>
                </a:pPr>
                <a:r>
                  <a:rPr lang="zh-CN" altLang="en-US" sz="2800" dirty="0">
                    <a:solidFill>
                      <a:srgbClr val="0000FF"/>
                    </a:solidFill>
                    <a:latin typeface="+mj-lt"/>
                    <a:ea typeface="华文楷体" pitchFamily="2" charset="-122"/>
                  </a:rPr>
                  <a:t>显然</a:t>
                </a:r>
                <a:r>
                  <a:rPr lang="en-US" altLang="zh-CN" sz="2800" dirty="0" err="1">
                    <a:solidFill>
                      <a:srgbClr val="FF0000"/>
                    </a:solidFill>
                    <a:ea typeface="华文楷体" pitchFamily="2" charset="-122"/>
                  </a:rPr>
                  <a:t>Pr</a:t>
                </a:r>
                <a:r>
                  <a:rPr lang="en-US" altLang="zh-CN" sz="2800" dirty="0">
                    <a:solidFill>
                      <a:srgbClr val="FF0000"/>
                    </a:solidFill>
                    <a:ea typeface="华文楷体" pitchFamily="2" charset="-122"/>
                  </a:rPr>
                  <a:t>(S = 2,P = 1) ≠ </a:t>
                </a:r>
                <a:r>
                  <a:rPr lang="en-US" altLang="zh-CN" sz="2800" dirty="0" err="1">
                    <a:solidFill>
                      <a:srgbClr val="FF0000"/>
                    </a:solidFill>
                    <a:ea typeface="华文楷体" pitchFamily="2" charset="-122"/>
                  </a:rPr>
                  <a:t>Pr</a:t>
                </a:r>
                <a:r>
                  <a:rPr lang="en-US" altLang="zh-CN" sz="2800" dirty="0">
                    <a:solidFill>
                      <a:srgbClr val="FF0000"/>
                    </a:solidFill>
                    <a:ea typeface="华文楷体" pitchFamily="2" charset="-122"/>
                  </a:rPr>
                  <a:t>(S = 2)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⋅</m:t>
                    </m:r>
                  </m:oMath>
                </a14:m>
                <a:r>
                  <a:rPr lang="en-US" altLang="zh-CN" sz="2800" dirty="0" err="1">
                    <a:solidFill>
                      <a:srgbClr val="FF0000"/>
                    </a:solidFill>
                    <a:ea typeface="华文楷体" pitchFamily="2" charset="-122"/>
                  </a:rPr>
                  <a:t>Pr</a:t>
                </a:r>
                <a:r>
                  <a:rPr lang="en-US" altLang="zh-CN" sz="2800" dirty="0">
                    <a:solidFill>
                      <a:srgbClr val="FF0000"/>
                    </a:solidFill>
                    <a:ea typeface="华文楷体" pitchFamily="2" charset="-122"/>
                  </a:rPr>
                  <a:t>(P = 1)</a:t>
                </a: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buNone/>
                  <a:defRPr/>
                </a:pPr>
                <a:r>
                  <a:rPr lang="en-US" altLang="zh-CN" sz="2800" dirty="0">
                    <a:ea typeface="华文楷体" pitchFamily="2" charset="-122"/>
                  </a:rPr>
                  <a:t>S</a:t>
                </a:r>
                <a:r>
                  <a:rPr lang="zh-CN" altLang="en-US" sz="2800" dirty="0">
                    <a:ea typeface="华文楷体" pitchFamily="2" charset="-122"/>
                  </a:rPr>
                  <a:t>与</a:t>
                </a:r>
                <a:r>
                  <a:rPr lang="en-US" altLang="zh-CN" sz="2800" dirty="0">
                    <a:ea typeface="华文楷体" pitchFamily="2" charset="-122"/>
                  </a:rPr>
                  <a:t>P</a:t>
                </a:r>
                <a:r>
                  <a:rPr lang="zh-CN" altLang="en-US" sz="2800" dirty="0">
                    <a:solidFill>
                      <a:srgbClr val="0000FF"/>
                    </a:solidFill>
                    <a:ea typeface="华文楷体" pitchFamily="2" charset="-122"/>
                  </a:rPr>
                  <a:t>不独立</a:t>
                </a:r>
                <a:endParaRPr lang="zh-CN" altLang="en-US" sz="2800" dirty="0">
                  <a:solidFill>
                    <a:srgbClr val="0000FF"/>
                  </a:solidFill>
                  <a:latin typeface="+mj-lt"/>
                  <a:ea typeface="华文楷体" pitchFamily="2" charset="-122"/>
                </a:endParaRPr>
              </a:p>
            </p:txBody>
          </p:sp>
        </mc:Choice>
        <mc:Fallback xmlns="">
          <p:sp>
            <p:nvSpPr>
              <p:cNvPr id="203779" name="Rectangle 3">
                <a:extLst>
                  <a:ext uri="{FF2B5EF4-FFF2-40B4-BE49-F238E27FC236}">
                    <a16:creationId xmlns:a16="http://schemas.microsoft.com/office/drawing/2014/main" id="{359F7559-424A-4E1D-BDE4-4669FE47C4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55650" y="1412875"/>
                <a:ext cx="7920038" cy="5040313"/>
              </a:xfrm>
              <a:blipFill>
                <a:blip r:embed="rId2"/>
                <a:stretch>
                  <a:fillRect l="-1617" t="-2177" r="-24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1" name="Rectangle 4">
            <a:extLst>
              <a:ext uri="{FF2B5EF4-FFF2-40B4-BE49-F238E27FC236}">
                <a16:creationId xmlns:a16="http://schemas.microsoft.com/office/drawing/2014/main" id="{F0BE36DE-8DDA-4D63-ACBA-7D30051336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032" name="Rectangle 6">
            <a:extLst>
              <a:ext uri="{FF2B5EF4-FFF2-40B4-BE49-F238E27FC236}">
                <a16:creationId xmlns:a16="http://schemas.microsoft.com/office/drawing/2014/main" id="{676161D0-29AE-4E4D-A429-61EA87396C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6" name="Object 2">
                <a:extLst>
                  <a:ext uri="{FF2B5EF4-FFF2-40B4-BE49-F238E27FC236}">
                    <a16:creationId xmlns:a16="http://schemas.microsoft.com/office/drawing/2014/main" id="{70D26658-A5FA-445C-9875-537A02191A90}"/>
                  </a:ext>
                </a:extLst>
              </p:cNvPr>
              <p:cNvSpPr txBox="1"/>
              <p:nvPr/>
            </p:nvSpPr>
            <p:spPr bwMode="auto">
              <a:xfrm>
                <a:off x="1907704" y="3068960"/>
                <a:ext cx="6157912" cy="46672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nor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and</m:t>
                      </m:r>
                      <m:r>
                        <m:rPr>
                          <m:nor/>
                        </m:rP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unc>
                        <m:func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)⋅</m:t>
                      </m:r>
                      <m:func>
                        <m:func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26" name="Object 2">
                <a:extLst>
                  <a:ext uri="{FF2B5EF4-FFF2-40B4-BE49-F238E27FC236}">
                    <a16:creationId xmlns:a16="http://schemas.microsoft.com/office/drawing/2014/main" id="{70D26658-A5FA-445C-9875-537A02191A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07704" y="3068960"/>
                <a:ext cx="6157912" cy="4667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86E2E391-2758-4B05-8291-C0DC6F29DC5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4930696-C07E-465E-86D7-42DC439530E5}" type="datetime1">
              <a:rPr lang="zh-CN" altLang="en-US"/>
              <a:pPr>
                <a:defRPr/>
              </a:pPr>
              <a:t>2022/4/9</a:t>
            </a:fld>
            <a:endParaRPr lang="en-US" altLang="zh-CN"/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308ADA6B-D4B3-45C0-9241-C882F421A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F24DF0D8-ACDB-48F6-9F50-0D0C8B1CF332}" type="slidenum">
              <a:rPr lang="en-US" altLang="zh-CN">
                <a:solidFill>
                  <a:srgbClr val="898989"/>
                </a:solidFill>
              </a:rPr>
              <a:pPr algn="ctr"/>
              <a:t>11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20484" name="Rectangle 2">
            <a:extLst>
              <a:ext uri="{FF2B5EF4-FFF2-40B4-BE49-F238E27FC236}">
                <a16:creationId xmlns:a16="http://schemas.microsoft.com/office/drawing/2014/main" id="{84DA1AB3-4F79-47FF-B300-8CB4665A27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800">
                <a:ea typeface="华文楷体" panose="02010600040101010101" pitchFamily="2" charset="-122"/>
              </a:rPr>
              <a:t>均值、中位数和众数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3779" name="Rectangle 3">
                <a:extLst>
                  <a:ext uri="{FF2B5EF4-FFF2-40B4-BE49-F238E27FC236}">
                    <a16:creationId xmlns:a16="http://schemas.microsoft.com/office/drawing/2014/main" id="{855D67C5-19B3-4AD5-9397-2955A9EB5C60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755650" y="1412874"/>
                <a:ext cx="7920038" cy="5112469"/>
              </a:xfrm>
            </p:spPr>
            <p:txBody>
              <a:bodyPr rtlCol="0">
                <a:noAutofit/>
              </a:bodyPr>
              <a:lstStyle/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对于随机变量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X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，总希望知道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X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的“一般”取值。人们对多个数的“一般”值有以下说法：</a:t>
                </a: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r>
                  <a:rPr lang="zh-CN" altLang="en-US" sz="2800" dirty="0">
                    <a:solidFill>
                      <a:srgbClr val="0000FF"/>
                    </a:solidFill>
                    <a:latin typeface="+mj-lt"/>
                    <a:ea typeface="华文楷体" pitchFamily="2" charset="-122"/>
                  </a:rPr>
                  <a:t>均值</a:t>
                </a:r>
                <a:r>
                  <a:rPr lang="en-US" altLang="zh-CN" sz="2800" dirty="0">
                    <a:solidFill>
                      <a:srgbClr val="0000FF"/>
                    </a:solidFill>
                    <a:latin typeface="+mj-lt"/>
                    <a:ea typeface="华文楷体" pitchFamily="2" charset="-122"/>
                  </a:rPr>
                  <a:t>mean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：所有取值的平均值，所有值与相应概率乘积的和，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  <m:sup/>
                      <m:e>
                        <m:func>
                          <m:funcPr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zh-CN" altLang="en-US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r>
                  <a:rPr lang="zh-CN" altLang="en-US" sz="2800" dirty="0">
                    <a:solidFill>
                      <a:srgbClr val="0000FF"/>
                    </a:solidFill>
                    <a:latin typeface="+mj-lt"/>
                    <a:ea typeface="华文楷体" pitchFamily="2" charset="-122"/>
                  </a:rPr>
                  <a:t>中位数</a:t>
                </a:r>
                <a:r>
                  <a:rPr lang="en-US" altLang="zh-CN" sz="2800" dirty="0">
                    <a:solidFill>
                      <a:srgbClr val="0000FF"/>
                    </a:solidFill>
                    <a:latin typeface="+mj-lt"/>
                    <a:ea typeface="华文楷体" pitchFamily="2" charset="-122"/>
                  </a:rPr>
                  <a:t>median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：在数值上恰好是中间值的数值，所有满足</a:t>
                </a:r>
                <a:r>
                  <a:rPr lang="en-US" altLang="zh-CN" sz="2800" dirty="0" err="1">
                    <a:latin typeface="+mj-lt"/>
                    <a:ea typeface="华文楷体" pitchFamily="2" charset="-122"/>
                  </a:rPr>
                  <a:t>Pr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(X&lt;=x)&gt;=0.5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而且</a:t>
                </a:r>
                <a:r>
                  <a:rPr lang="en-US" altLang="zh-CN" sz="2800" dirty="0" err="1">
                    <a:latin typeface="+mj-lt"/>
                    <a:ea typeface="华文楷体" pitchFamily="2" charset="-122"/>
                  </a:rPr>
                  <a:t>Pr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(X&gt;=x)&gt;=0.5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的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x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组成的</a:t>
                </a:r>
                <a:r>
                  <a:rPr lang="zh-CN" altLang="en-US" sz="2800" dirty="0">
                    <a:solidFill>
                      <a:srgbClr val="0000FF"/>
                    </a:solidFill>
                    <a:latin typeface="+mj-lt"/>
                    <a:ea typeface="华文楷体" pitchFamily="2" charset="-122"/>
                  </a:rPr>
                  <a:t>集合，</a:t>
                </a:r>
                <a:r>
                  <a:rPr lang="zh-CN" altLang="en-US" sz="2800" dirty="0">
                    <a:solidFill>
                      <a:srgbClr val="0000FF"/>
                    </a:solidFill>
                    <a:ea typeface="华文楷体" pitchFamily="2" charset="-122"/>
                  </a:rPr>
                  <a:t>其中</a:t>
                </a:r>
                <a:r>
                  <a:rPr lang="en-US" altLang="zh-CN" sz="2800" dirty="0">
                    <a:solidFill>
                      <a:srgbClr val="0000FF"/>
                    </a:solidFill>
                    <a:ea typeface="华文楷体" pitchFamily="2" charset="-122"/>
                  </a:rPr>
                  <a:t>x</a:t>
                </a:r>
                <a:r>
                  <a:rPr lang="en-US" altLang="zh-CN" sz="2800" dirty="0">
                    <a:solidFill>
                      <a:srgbClr val="0000FF"/>
                    </a:solidFill>
                    <a:ea typeface="华文楷体" pitchFamily="2" charset="-122"/>
                    <a:sym typeface="Symbol" panose="05050102010706020507" pitchFamily="18" charset="2"/>
                  </a:rPr>
                  <a:t>(X)</a:t>
                </a: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r>
                  <a:rPr lang="zh-CN" altLang="en-US" sz="2800" dirty="0">
                    <a:solidFill>
                      <a:srgbClr val="0000FF"/>
                    </a:solidFill>
                    <a:latin typeface="+mj-lt"/>
                    <a:ea typeface="华文楷体" pitchFamily="2" charset="-122"/>
                  </a:rPr>
                  <a:t>众数</a:t>
                </a:r>
                <a:r>
                  <a:rPr lang="en-US" altLang="zh-CN" sz="2800" dirty="0">
                    <a:solidFill>
                      <a:srgbClr val="0000FF"/>
                    </a:solidFill>
                    <a:latin typeface="+mj-lt"/>
                    <a:ea typeface="华文楷体" pitchFamily="2" charset="-122"/>
                  </a:rPr>
                  <a:t>mode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：出现频次最多的数值，所有取最大概率值的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x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组成的</a:t>
                </a:r>
                <a:r>
                  <a:rPr lang="zh-CN" altLang="en-US" sz="2800" dirty="0">
                    <a:solidFill>
                      <a:srgbClr val="0000FF"/>
                    </a:solidFill>
                    <a:latin typeface="+mj-lt"/>
                    <a:ea typeface="华文楷体" pitchFamily="2" charset="-122"/>
                  </a:rPr>
                  <a:t>集合，</a:t>
                </a:r>
                <a:r>
                  <a:rPr lang="zh-CN" altLang="en-US" sz="2800" dirty="0">
                    <a:solidFill>
                      <a:srgbClr val="0000FF"/>
                    </a:solidFill>
                    <a:ea typeface="华文楷体" pitchFamily="2" charset="-122"/>
                  </a:rPr>
                  <a:t>其中</a:t>
                </a:r>
                <a:r>
                  <a:rPr lang="en-US" altLang="zh-CN" sz="2800" dirty="0">
                    <a:solidFill>
                      <a:srgbClr val="0000FF"/>
                    </a:solidFill>
                    <a:ea typeface="华文楷体" pitchFamily="2" charset="-122"/>
                  </a:rPr>
                  <a:t>x</a:t>
                </a:r>
                <a:r>
                  <a:rPr lang="en-US" altLang="zh-CN" sz="2800" dirty="0">
                    <a:solidFill>
                      <a:srgbClr val="0000FF"/>
                    </a:solidFill>
                    <a:ea typeface="华文楷体" pitchFamily="2" charset="-122"/>
                    <a:sym typeface="Symbol" panose="05050102010706020507" pitchFamily="18" charset="2"/>
                  </a:rPr>
                  <a:t>(X) </a:t>
                </a: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例如，对于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{3, 1, 4, 1, 5}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，均值为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2.8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，中位数为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3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，众数为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1</a:t>
                </a:r>
              </a:p>
            </p:txBody>
          </p:sp>
        </mc:Choice>
        <mc:Fallback>
          <p:sp>
            <p:nvSpPr>
              <p:cNvPr id="203779" name="Rectangle 3">
                <a:extLst>
                  <a:ext uri="{FF2B5EF4-FFF2-40B4-BE49-F238E27FC236}">
                    <a16:creationId xmlns:a16="http://schemas.microsoft.com/office/drawing/2014/main" id="{855D67C5-19B3-4AD5-9397-2955A9EB5C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55650" y="1412874"/>
                <a:ext cx="7920038" cy="5112469"/>
              </a:xfrm>
              <a:blipFill>
                <a:blip r:embed="rId2"/>
                <a:stretch>
                  <a:fillRect l="-1386" t="-2148" r="-26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486" name="Rectangle 4">
            <a:extLst>
              <a:ext uri="{FF2B5EF4-FFF2-40B4-BE49-F238E27FC236}">
                <a16:creationId xmlns:a16="http://schemas.microsoft.com/office/drawing/2014/main" id="{79A53103-9C7B-4CFE-9ACF-59659D0C10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0487" name="Rectangle 6">
            <a:extLst>
              <a:ext uri="{FF2B5EF4-FFF2-40B4-BE49-F238E27FC236}">
                <a16:creationId xmlns:a16="http://schemas.microsoft.com/office/drawing/2014/main" id="{A68E9893-3661-406D-8FCA-450091B391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AA22AAF5-51C3-4875-9D67-9653D392CD1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4930696-C07E-465E-86D7-42DC439530E5}" type="datetime1">
              <a:rPr lang="zh-CN" altLang="en-US"/>
              <a:pPr>
                <a:defRPr/>
              </a:pPr>
              <a:t>2022/4/9</a:t>
            </a:fld>
            <a:endParaRPr lang="en-US" altLang="zh-CN"/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4CC2C4CB-1E31-4978-A986-83F734689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C08CFE0C-449F-4480-A40E-CCB6BF284A1F}" type="slidenum">
              <a:rPr lang="en-US" altLang="zh-CN">
                <a:solidFill>
                  <a:srgbClr val="898989"/>
                </a:solidFill>
              </a:rPr>
              <a:pPr algn="ctr"/>
              <a:t>12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2053" name="Rectangle 2">
            <a:extLst>
              <a:ext uri="{FF2B5EF4-FFF2-40B4-BE49-F238E27FC236}">
                <a16:creationId xmlns:a16="http://schemas.microsoft.com/office/drawing/2014/main" id="{48F66464-4E06-4848-8DFB-A04E30FA51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800">
                <a:ea typeface="华文楷体" panose="02010600040101010101" pitchFamily="2" charset="-122"/>
              </a:rPr>
              <a:t>均值、中位数和众数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3779" name="Rectangle 3">
                <a:extLst>
                  <a:ext uri="{FF2B5EF4-FFF2-40B4-BE49-F238E27FC236}">
                    <a16:creationId xmlns:a16="http://schemas.microsoft.com/office/drawing/2014/main" id="{3D24281A-1A5D-46B7-BBDD-586237F17EC8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755650" y="1412875"/>
                <a:ext cx="7920038" cy="4895850"/>
              </a:xfrm>
            </p:spPr>
            <p:txBody>
              <a:bodyPr rtlCol="0">
                <a:noAutofit/>
              </a:bodyPr>
              <a:lstStyle/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两次掷骰子问题中，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S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为两次结果之和，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P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为两次结果之积。则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S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的</a:t>
                </a: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algn="ctr" fontAlgn="auto">
                  <a:lnSpc>
                    <a:spcPct val="90000"/>
                  </a:lnSpc>
                  <a:spcAft>
                    <a:spcPts val="0"/>
                  </a:spcAft>
                  <a:buFont typeface="Arial" panose="020B0604020202020204" pitchFamily="34" charset="0"/>
                  <a:buNone/>
                  <a:defRPr/>
                </a:pPr>
                <a:r>
                  <a:rPr lang="zh-CN" altLang="en-US" sz="2800" dirty="0">
                    <a:solidFill>
                      <a:srgbClr val="0000FF"/>
                    </a:solidFill>
                    <a:latin typeface="+mj-lt"/>
                    <a:ea typeface="华文楷体" pitchFamily="2" charset="-122"/>
                  </a:rPr>
                  <a:t>均值为</a:t>
                </a:r>
                <a:r>
                  <a:rPr lang="en-US" altLang="zh-CN" sz="2800" dirty="0">
                    <a:solidFill>
                      <a:srgbClr val="0000FF"/>
                    </a:solidFill>
                    <a:latin typeface="+mj-lt"/>
                    <a:ea typeface="华文楷体" pitchFamily="2" charset="-122"/>
                  </a:rPr>
                  <a:t>7</a:t>
                </a:r>
                <a:r>
                  <a:rPr lang="zh-CN" altLang="en-US" sz="2800" dirty="0">
                    <a:solidFill>
                      <a:srgbClr val="0000FF"/>
                    </a:solidFill>
                    <a:latin typeface="+mj-lt"/>
                    <a:ea typeface="华文楷体" pitchFamily="2" charset="-122"/>
                  </a:rPr>
                  <a:t>，中位数为</a:t>
                </a:r>
                <a:r>
                  <a:rPr lang="en-US" altLang="zh-CN" sz="2800" dirty="0">
                    <a:solidFill>
                      <a:srgbClr val="0000FF"/>
                    </a:solidFill>
                    <a:latin typeface="+mj-lt"/>
                    <a:ea typeface="华文楷体" pitchFamily="2" charset="-122"/>
                  </a:rPr>
                  <a:t>{7}</a:t>
                </a:r>
                <a:r>
                  <a:rPr lang="zh-CN" altLang="en-US" sz="2800" dirty="0">
                    <a:solidFill>
                      <a:srgbClr val="0000FF"/>
                    </a:solidFill>
                    <a:latin typeface="+mj-lt"/>
                    <a:ea typeface="华文楷体" pitchFamily="2" charset="-122"/>
                  </a:rPr>
                  <a:t>，众数为</a:t>
                </a:r>
                <a:r>
                  <a:rPr lang="en-US" altLang="zh-CN" sz="2800" dirty="0">
                    <a:solidFill>
                      <a:srgbClr val="0000FF"/>
                    </a:solidFill>
                    <a:latin typeface="+mj-lt"/>
                    <a:ea typeface="华文楷体" pitchFamily="2" charset="-122"/>
                  </a:rPr>
                  <a:t>{7}</a:t>
                </a: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P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的</a:t>
                </a: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algn="ctr" fontAlgn="auto">
                  <a:lnSpc>
                    <a:spcPct val="90000"/>
                  </a:lnSpc>
                  <a:spcAft>
                    <a:spcPts val="0"/>
                  </a:spcAft>
                  <a:buFont typeface="Arial" panose="020B0604020202020204" pitchFamily="34" charset="0"/>
                  <a:buNone/>
                  <a:defRPr/>
                </a:pPr>
                <a:r>
                  <a:rPr lang="zh-CN" altLang="en-US" sz="2800" dirty="0">
                    <a:solidFill>
                      <a:srgbClr val="0000FF"/>
                    </a:solidFill>
                    <a:latin typeface="+mj-lt"/>
                    <a:ea typeface="华文楷体" pitchFamily="2" charset="-122"/>
                  </a:rPr>
                  <a:t>均值为</a:t>
                </a:r>
                <a:r>
                  <a:rPr lang="en-US" altLang="zh-CN" sz="2800" dirty="0">
                    <a:solidFill>
                      <a:srgbClr val="0000FF"/>
                    </a:solidFill>
                    <a:latin typeface="+mj-lt"/>
                    <a:ea typeface="华文楷体" pitchFamily="2" charset="-122"/>
                  </a:rPr>
                  <a:t>12.25</a:t>
                </a:r>
                <a:r>
                  <a:rPr lang="zh-CN" altLang="en-US" sz="2800" dirty="0">
                    <a:solidFill>
                      <a:srgbClr val="0000FF"/>
                    </a:solidFill>
                    <a:latin typeface="+mj-lt"/>
                    <a:ea typeface="华文楷体" pitchFamily="2" charset="-122"/>
                  </a:rPr>
                  <a:t>，中位数为</a:t>
                </a:r>
                <a:r>
                  <a:rPr lang="en-US" altLang="zh-CN" sz="2800" dirty="0">
                    <a:solidFill>
                      <a:srgbClr val="0000FF"/>
                    </a:solidFill>
                    <a:latin typeface="+mj-lt"/>
                    <a:ea typeface="华文楷体" pitchFamily="2" charset="-122"/>
                  </a:rPr>
                  <a:t>{10}</a:t>
                </a:r>
                <a:r>
                  <a:rPr lang="zh-CN" altLang="en-US" sz="2800" dirty="0">
                    <a:solidFill>
                      <a:srgbClr val="0000FF"/>
                    </a:solidFill>
                    <a:latin typeface="+mj-lt"/>
                    <a:ea typeface="华文楷体" pitchFamily="2" charset="-122"/>
                  </a:rPr>
                  <a:t>，众数为</a:t>
                </a:r>
                <a:r>
                  <a:rPr lang="en-US" altLang="zh-CN" sz="2800" dirty="0">
                    <a:solidFill>
                      <a:srgbClr val="0000FF"/>
                    </a:solidFill>
                    <a:latin typeface="+mj-lt"/>
                    <a:ea typeface="华文楷体" pitchFamily="2" charset="-122"/>
                  </a:rPr>
                  <a:t>{6, 12}</a:t>
                </a:r>
                <a:endParaRPr lang="zh-CN" altLang="en-US" sz="2800" dirty="0">
                  <a:solidFill>
                    <a:srgbClr val="0000FF"/>
                  </a:solidFill>
                  <a:latin typeface="+mj-lt"/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概率论中均值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mean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习惯称为：期望值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expected value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，记为（定义为）：</a:t>
                </a: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r>
                  <a:rPr lang="zh-CN" altLang="en-US" sz="2800" dirty="0">
                    <a:solidFill>
                      <a:srgbClr val="000000"/>
                    </a:solidFill>
                  </a:rPr>
                  <a:t>注意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：</m:t>
                    </m:r>
                    <m:nary>
                      <m:naryPr>
                        <m:chr m:val="∑"/>
                        <m:supHide m:val="on"/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  <m:sup/>
                      <m:e>
                        <m:func>
                          <m:funcPr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zh-CN" altLang="en-US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sub>
                      <m:sup/>
                      <m:e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func>
                          <m:funcPr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zh-CN" altLang="en-US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</m:e>
                        </m:func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altLang="zh-CN" sz="2800" dirty="0">
                  <a:latin typeface="+mj-lt"/>
                  <a:ea typeface="华文楷体" pitchFamily="2" charset="-122"/>
                </a:endParaRPr>
              </a:p>
            </p:txBody>
          </p:sp>
        </mc:Choice>
        <mc:Fallback xmlns="">
          <p:sp>
            <p:nvSpPr>
              <p:cNvPr id="203779" name="Rectangle 3">
                <a:extLst>
                  <a:ext uri="{FF2B5EF4-FFF2-40B4-BE49-F238E27FC236}">
                    <a16:creationId xmlns:a16="http://schemas.microsoft.com/office/drawing/2014/main" id="{3D24281A-1A5D-46B7-BBDD-586237F17E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55650" y="1412875"/>
                <a:ext cx="7920038" cy="4895850"/>
              </a:xfrm>
              <a:blipFill>
                <a:blip r:embed="rId2"/>
                <a:stretch>
                  <a:fillRect l="-1386" t="-22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5" name="Rectangle 4">
            <a:extLst>
              <a:ext uri="{FF2B5EF4-FFF2-40B4-BE49-F238E27FC236}">
                <a16:creationId xmlns:a16="http://schemas.microsoft.com/office/drawing/2014/main" id="{083C67AE-8BE5-4A2E-BC99-7AD0F38060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056" name="Rectangle 6">
            <a:extLst>
              <a:ext uri="{FF2B5EF4-FFF2-40B4-BE49-F238E27FC236}">
                <a16:creationId xmlns:a16="http://schemas.microsoft.com/office/drawing/2014/main" id="{17DEE285-EE62-427E-A13B-84F1D08046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50" name="Object 4">
                <a:extLst>
                  <a:ext uri="{FF2B5EF4-FFF2-40B4-BE49-F238E27FC236}">
                    <a16:creationId xmlns:a16="http://schemas.microsoft.com/office/drawing/2014/main" id="{76709C17-BFDD-4F35-8FE9-3B3DFFA8E62F}"/>
                  </a:ext>
                </a:extLst>
              </p:cNvPr>
              <p:cNvSpPr txBox="1"/>
              <p:nvPr/>
            </p:nvSpPr>
            <p:spPr bwMode="auto">
              <a:xfrm>
                <a:off x="2483768" y="4437037"/>
                <a:ext cx="3051175" cy="792163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𝐸𝑋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sty m:val="p"/>
                            </m:r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Ω</m:t>
                          </m:r>
                        </m:sub>
                        <m:sup/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func>
                            <m:func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fNam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</m:e>
                          </m:func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050" name="Object 4">
                <a:extLst>
                  <a:ext uri="{FF2B5EF4-FFF2-40B4-BE49-F238E27FC236}">
                    <a16:creationId xmlns:a16="http://schemas.microsoft.com/office/drawing/2014/main" id="{76709C17-BFDD-4F35-8FE9-3B3DFFA8E6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83768" y="4437037"/>
                <a:ext cx="3051175" cy="7921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AA22AAF5-51C3-4875-9D67-9653D392CD1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4930696-C07E-465E-86D7-42DC439530E5}" type="datetime1">
              <a:rPr lang="zh-CN" altLang="en-US"/>
              <a:pPr>
                <a:defRPr/>
              </a:pPr>
              <a:t>2022/4/9</a:t>
            </a:fld>
            <a:endParaRPr lang="en-US" altLang="zh-CN"/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4CC2C4CB-1E31-4978-A986-83F734689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C08CFE0C-449F-4480-A40E-CCB6BF284A1F}" type="slidenum">
              <a:rPr lang="en-US" altLang="zh-CN">
                <a:solidFill>
                  <a:srgbClr val="898989"/>
                </a:solidFill>
              </a:rPr>
              <a:pPr algn="ctr"/>
              <a:t>13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2053" name="Rectangle 2">
            <a:extLst>
              <a:ext uri="{FF2B5EF4-FFF2-40B4-BE49-F238E27FC236}">
                <a16:creationId xmlns:a16="http://schemas.microsoft.com/office/drawing/2014/main" id="{48F66464-4E06-4848-8DFB-A04E30FA51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800" dirty="0">
                <a:ea typeface="华文楷体" panose="02010600040101010101" pitchFamily="2" charset="-122"/>
              </a:rPr>
              <a:t>均值的几个法则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3779" name="Rectangle 3">
                <a:extLst>
                  <a:ext uri="{FF2B5EF4-FFF2-40B4-BE49-F238E27FC236}">
                    <a16:creationId xmlns:a16="http://schemas.microsoft.com/office/drawing/2014/main" id="{3D24281A-1A5D-46B7-BBDD-586237F17EC8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755650" y="1412875"/>
                <a:ext cx="7920038" cy="4895850"/>
              </a:xfrm>
            </p:spPr>
            <p:txBody>
              <a:bodyPr rtlCol="0">
                <a:noAutofit/>
              </a:bodyPr>
              <a:lstStyle/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几个法则：</a:t>
                </a:r>
                <a:r>
                  <a:rPr lang="zh-CN" altLang="en-US" sz="2800" dirty="0">
                    <a:latin typeface="+mj-lt"/>
                    <a:ea typeface="华文楷体" pitchFamily="2" charset="-122"/>
                    <a:sym typeface="Wingdings" panose="05000000000000000000" pitchFamily="2" charset="2"/>
                  </a:rPr>
                  <a:t>（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 X 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和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Y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在同一个概率空间上</a:t>
                </a:r>
                <a:r>
                  <a:rPr lang="zh-CN" altLang="en-US" sz="2800" dirty="0">
                    <a:latin typeface="+mj-lt"/>
                    <a:ea typeface="华文楷体" pitchFamily="2" charset="-122"/>
                    <a:sym typeface="Wingdings" panose="05000000000000000000" pitchFamily="2" charset="2"/>
                  </a:rPr>
                  <a:t>）</a:t>
                </a: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marL="0" indent="0" fontAlgn="auto">
                  <a:lnSpc>
                    <a:spcPct val="90000"/>
                  </a:lnSpc>
                  <a:spcAft>
                    <a:spcPts val="0"/>
                  </a:spcAft>
                  <a:buNone/>
                  <a:defRPr/>
                </a:pPr>
                <a:r>
                  <a:rPr lang="zh-CN" altLang="en-US" sz="2400" dirty="0">
                    <a:solidFill>
                      <a:srgbClr val="000000"/>
                    </a:solidFill>
                    <a:latin typeface="+mj-lt"/>
                    <a:ea typeface="华文楷体" pitchFamily="2" charset="-122"/>
                  </a:rPr>
                  <a:t>（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+mj-lt"/>
                    <a:ea typeface="华文楷体" pitchFamily="2" charset="-122"/>
                  </a:rPr>
                  <a:t>1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+mj-lt"/>
                    <a:ea typeface="华文楷体" pitchFamily="2" charset="-122"/>
                  </a:rPr>
                  <a:t>）</a:t>
                </a:r>
                <a14:m>
                  <m:oMath xmlns:m="http://schemas.openxmlformats.org/officeDocument/2006/math"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nary>
                      <m:naryPr>
                        <m:chr m:val="∑"/>
                        <m:supHide m:val="on"/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sub>
                      <m:sup/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d>
                          <m:d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  <m:d>
                          <m:d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func>
                          <m:func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zh-CN" altLang="en-US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</m:e>
                        </m:func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altLang="zh-CN" sz="2400" dirty="0">
                    <a:latin typeface="+mj-lt"/>
                    <a:ea typeface="华文楷体" pitchFamily="2" charset="-122"/>
                  </a:rPr>
                  <a:t>=</a:t>
                </a:r>
                <a14:m>
                  <m:oMath xmlns:m="http://schemas.openxmlformats.org/officeDocument/2006/math"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𝐸𝑋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n-US" altLang="zh-CN" sz="2400" dirty="0">
                  <a:latin typeface="+mj-lt"/>
                  <a:ea typeface="华文楷体" pitchFamily="2" charset="-122"/>
                </a:endParaRPr>
              </a:p>
              <a:p>
                <a:pPr marL="0" indent="0" fontAlgn="auto">
                  <a:lnSpc>
                    <a:spcPct val="90000"/>
                  </a:lnSpc>
                  <a:spcAft>
                    <a:spcPts val="0"/>
                  </a:spcAft>
                  <a:buNone/>
                  <a:defRPr/>
                </a:pPr>
                <a:r>
                  <a:rPr lang="zh-CN" altLang="en-US" sz="2400" dirty="0">
                    <a:latin typeface="+mj-lt"/>
                    <a:ea typeface="华文楷体" pitchFamily="2" charset="-122"/>
                  </a:rPr>
                  <a:t>（</a:t>
                </a:r>
                <a:r>
                  <a:rPr lang="en-US" altLang="zh-CN" sz="2400" dirty="0">
                    <a:latin typeface="+mj-lt"/>
                    <a:ea typeface="华文楷体" pitchFamily="2" charset="-122"/>
                  </a:rPr>
                  <a:t>2</a:t>
                </a:r>
                <a:r>
                  <a:rPr lang="zh-CN" altLang="en-US" sz="2400" dirty="0">
                    <a:latin typeface="+mj-lt"/>
                    <a:ea typeface="华文楷体" pitchFamily="2" charset="-122"/>
                  </a:rPr>
                  <a:t>）</a:t>
                </a:r>
                <a14:m>
                  <m:oMath xmlns:m="http://schemas.openxmlformats.org/officeDocument/2006/math"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</m:oMath>
                </a14:m>
                <a:r>
                  <a:rPr lang="el-GR" altLang="zh-CN" sz="24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α</a:t>
                </a:r>
                <a:r>
                  <a:rPr lang="en-US" altLang="zh-CN" sz="24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X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)</a:t>
                </a:r>
                <a:r>
                  <a:rPr lang="zh-CN" altLang="en-US" sz="24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＝ </a:t>
                </a:r>
                <a:r>
                  <a:rPr lang="el-GR" altLang="zh-CN" sz="24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α</a:t>
                </a:r>
                <a:r>
                  <a:rPr lang="en-US" altLang="zh-CN" sz="24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EX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，</a:t>
                </a:r>
                <a:r>
                  <a:rPr lang="el-GR" altLang="zh-CN" sz="24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α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任意是常数</a:t>
                </a:r>
                <a:endParaRPr lang="en-US" altLang="zh-CN" sz="24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0" indent="0" fontAlgn="auto">
                  <a:lnSpc>
                    <a:spcPct val="90000"/>
                  </a:lnSpc>
                  <a:spcAft>
                    <a:spcPts val="0"/>
                  </a:spcAft>
                  <a:buNone/>
                  <a:defRPr/>
                </a:pP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（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3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）若随机变量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X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、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Y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独立，则</a:t>
                </a:r>
                <a:r>
                  <a:rPr lang="en-US" altLang="zh-CN" sz="2800" i="1" dirty="0">
                    <a:latin typeface="+mj-lt"/>
                    <a:ea typeface="华文楷体" pitchFamily="2" charset="-122"/>
                  </a:rPr>
                  <a:t>E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(</a:t>
                </a:r>
                <a:r>
                  <a:rPr lang="en-US" altLang="zh-CN" sz="2800" i="1" dirty="0">
                    <a:latin typeface="+mj-lt"/>
                    <a:ea typeface="华文楷体" pitchFamily="2" charset="-122"/>
                  </a:rPr>
                  <a:t>XY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)</a:t>
                </a:r>
                <a:r>
                  <a:rPr lang="en-US" altLang="zh-CN" sz="2800" i="1" dirty="0">
                    <a:latin typeface="+mj-lt"/>
                    <a:ea typeface="华文楷体" pitchFamily="2" charset="-122"/>
                  </a:rPr>
                  <a:t> = EX · EY</a:t>
                </a:r>
              </a:p>
              <a:p>
                <a:pPr marL="0" indent="0" fontAlgn="auto">
                  <a:lnSpc>
                    <a:spcPct val="90000"/>
                  </a:lnSpc>
                  <a:spcAft>
                    <a:spcPts val="0"/>
                  </a:spcAft>
                  <a:buNone/>
                  <a:defRPr/>
                </a:pPr>
                <a:endParaRPr lang="zh-CN" altLang="en-US" sz="2800" dirty="0">
                  <a:latin typeface="+mj-lt"/>
                  <a:ea typeface="华文楷体" pitchFamily="2" charset="-122"/>
                </a:endParaRPr>
              </a:p>
            </p:txBody>
          </p:sp>
        </mc:Choice>
        <mc:Fallback xmlns="">
          <p:sp>
            <p:nvSpPr>
              <p:cNvPr id="203779" name="Rectangle 3">
                <a:extLst>
                  <a:ext uri="{FF2B5EF4-FFF2-40B4-BE49-F238E27FC236}">
                    <a16:creationId xmlns:a16="http://schemas.microsoft.com/office/drawing/2014/main" id="{3D24281A-1A5D-46B7-BBDD-586237F17E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55650" y="1412875"/>
                <a:ext cx="7920038" cy="4895850"/>
              </a:xfrm>
              <a:blipFill>
                <a:blip r:embed="rId2"/>
                <a:stretch>
                  <a:fillRect l="-1617" t="-37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5" name="Rectangle 4">
            <a:extLst>
              <a:ext uri="{FF2B5EF4-FFF2-40B4-BE49-F238E27FC236}">
                <a16:creationId xmlns:a16="http://schemas.microsoft.com/office/drawing/2014/main" id="{083C67AE-8BE5-4A2E-BC99-7AD0F38060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056" name="Rectangle 6">
            <a:extLst>
              <a:ext uri="{FF2B5EF4-FFF2-40B4-BE49-F238E27FC236}">
                <a16:creationId xmlns:a16="http://schemas.microsoft.com/office/drawing/2014/main" id="{17DEE285-EE62-427E-A13B-84F1D08046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1889410" y="3253602"/>
                <a:ext cx="3202095" cy="6721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𝑋𝑌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sty m:val="p"/>
                            </m:rPr>
                            <a:rPr lang="el-GR" altLang="zh-CN" b="0" i="1" smtClean="0">
                              <a:latin typeface="Cambria Math" panose="02040503050406030204" pitchFamily="18" charset="0"/>
                            </a:rPr>
                            <m:t>Ω</m:t>
                          </m:r>
                        </m:sub>
                        <m:sup/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brk m:alnAt="7"/>
                                </m:rP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m:rPr>
                              <m:brk m:alnAt="7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brk m:alnAt="7"/>
                                </m:rP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m:rPr>
                              <m:brk m:alnAt="7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·</m:t>
                          </m:r>
                          <m:r>
                            <m:rPr>
                              <m:sty m:val="p"/>
                              <m:brk m:alnAt="7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m:rPr>
                              <m:brk m:alnAt="7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⁡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9410" y="3253602"/>
                <a:ext cx="3202095" cy="67217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2449845" y="3955579"/>
                <a:ext cx="3155736" cy="9116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eqArr>
                            <m:eqArr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brk m:alnAt="7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l-GR" altLang="zh-CN" b="0" i="1" smtClean="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m:rPr>
                                  <m:brk m:alnAt="7"/>
                                </m:rP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l-GR" altLang="zh-CN" i="1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eqArr>
                        </m:sub>
                        <m:sup/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  <m:r>
                            <m:rPr>
                              <m:brk m:alnAt="7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·</m:t>
                          </m:r>
                          <m:r>
                            <m:rPr>
                              <m:sty m:val="p"/>
                              <m:brk m:alnAt="7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m:rPr>
                              <m:brk m:alnAt="7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⁡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brk m:alnAt="7"/>
                            </m:rPr>
                            <a:rPr lang="zh-CN" altLang="en-US" i="1">
                              <a:latin typeface="Cambria Math" panose="02040503050406030204" pitchFamily="18" charset="0"/>
                            </a:rPr>
                            <m:t>且</m:t>
                          </m:r>
                          <m:r>
                            <m:rPr>
                              <m:brk m:alnAt="7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y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9845" y="3955579"/>
                <a:ext cx="3155736" cy="91166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/>
              <p:cNvSpPr txBox="1"/>
              <p:nvPr/>
            </p:nvSpPr>
            <p:spPr>
              <a:xfrm>
                <a:off x="2029673" y="4876563"/>
                <a:ext cx="3996080" cy="91166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eqArr>
                            <m:eqArr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brk m:alnAt="7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l-GR" altLang="zh-CN" b="0" i="1" smtClean="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m:rPr>
                                  <m:brk m:alnAt="7"/>
                                </m:rP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l-GR" altLang="zh-CN" i="1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eqArr>
                        </m:sub>
                        <m:sup/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  <m:r>
                            <m:rPr>
                              <m:brk m:alnAt="7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·</m:t>
                          </m:r>
                          <m:r>
                            <m:rPr>
                              <m:sty m:val="p"/>
                              <m:brk m:alnAt="7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m:rPr>
                              <m:brk m:alnAt="7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m:rPr>
                              <m:brk m:alnAt="7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  <m:r>
                            <m:rPr>
                              <m:brk m:alnAt="7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⁡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y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9673" y="4876563"/>
                <a:ext cx="3996080" cy="91166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/>
              <p:cNvSpPr txBox="1"/>
              <p:nvPr/>
            </p:nvSpPr>
            <p:spPr>
              <a:xfrm>
                <a:off x="2449845" y="5788223"/>
                <a:ext cx="3996080" cy="8866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eqArr>
                            <m:eqArr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brk m:alnAt="7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l-GR" altLang="zh-CN" b="0" i="1" smtClean="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/>
                          </m:eqArr>
                        </m:sub>
                        <m:sup/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𝑥𝑃𝑟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brk m:alnAt="7"/>
                            </m:rP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·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eqArr>
                                <m:eqArr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l-GR" altLang="zh-CN" i="1"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e/>
                              </m:eqArr>
                            </m:sub>
                            <m:sup/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𝑃𝑟</m:t>
                              </m:r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9845" y="5788223"/>
                <a:ext cx="3996080" cy="886653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/>
              <p:cNvSpPr txBox="1"/>
              <p:nvPr/>
            </p:nvSpPr>
            <p:spPr>
              <a:xfrm>
                <a:off x="5081692" y="5950503"/>
                <a:ext cx="399608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𝐸𝑋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𝐸𝑌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1692" y="5950503"/>
                <a:ext cx="3996080" cy="276999"/>
              </a:xfrm>
              <a:prstGeom prst="rect">
                <a:avLst/>
              </a:prstGeom>
              <a:blipFill rotWithShape="0">
                <a:blip r:embed="rId7"/>
                <a:stretch>
                  <a:fillRect b="-347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60630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A2EC9AA1-D9A4-4067-904C-8F2C410AF5C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4930696-C07E-465E-86D7-42DC439530E5}" type="datetime1">
              <a:rPr lang="zh-CN" altLang="en-US"/>
              <a:pPr>
                <a:defRPr/>
              </a:pPr>
              <a:t>2022/4/9</a:t>
            </a:fld>
            <a:endParaRPr lang="en-US" altLang="zh-CN"/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298FFC16-8435-4B09-93E9-72EE60F29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24AF1B50-AAF5-4CF2-BC98-729ED1BEFC00}" type="slidenum">
              <a:rPr lang="en-US" altLang="zh-CN">
                <a:solidFill>
                  <a:srgbClr val="898989"/>
                </a:solidFill>
              </a:rPr>
              <a:pPr algn="ctr"/>
              <a:t>14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21508" name="Rectangle 2">
            <a:extLst>
              <a:ext uri="{FF2B5EF4-FFF2-40B4-BE49-F238E27FC236}">
                <a16:creationId xmlns:a16="http://schemas.microsoft.com/office/drawing/2014/main" id="{F3F7668D-27B2-4D07-916A-A778458630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2636838"/>
            <a:ext cx="8207375" cy="1439862"/>
          </a:xfrm>
        </p:spPr>
        <p:txBody>
          <a:bodyPr/>
          <a:lstStyle/>
          <a:p>
            <a:r>
              <a:rPr lang="en-US" altLang="zh-CN">
                <a:ea typeface="华文楷体" panose="02010600040101010101" pitchFamily="2" charset="-122"/>
              </a:rPr>
              <a:t>8.2 Mean and Variance</a:t>
            </a:r>
            <a:br>
              <a:rPr lang="en-US" altLang="zh-CN">
                <a:ea typeface="华文楷体" panose="02010600040101010101" pitchFamily="2" charset="-122"/>
              </a:rPr>
            </a:br>
            <a:r>
              <a:rPr lang="zh-CN" altLang="en-US">
                <a:ea typeface="华文楷体" panose="02010600040101010101" pitchFamily="2" charset="-122"/>
              </a:rPr>
              <a:t>均值与方差</a:t>
            </a:r>
          </a:p>
        </p:txBody>
      </p:sp>
      <p:sp>
        <p:nvSpPr>
          <p:cNvPr id="21509" name="Rectangle 4">
            <a:extLst>
              <a:ext uri="{FF2B5EF4-FFF2-40B4-BE49-F238E27FC236}">
                <a16:creationId xmlns:a16="http://schemas.microsoft.com/office/drawing/2014/main" id="{988F5837-6B85-4BCA-B900-0C7ECABD27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1510" name="Rectangle 6">
            <a:extLst>
              <a:ext uri="{FF2B5EF4-FFF2-40B4-BE49-F238E27FC236}">
                <a16:creationId xmlns:a16="http://schemas.microsoft.com/office/drawing/2014/main" id="{6FBFCED4-046E-416D-B82C-D472D36998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4D9DC5DA-45AC-450F-BF77-31D472F880F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4930696-C07E-465E-86D7-42DC439530E5}" type="datetime1">
              <a:rPr lang="zh-CN" altLang="en-US"/>
              <a:pPr>
                <a:defRPr/>
              </a:pPr>
              <a:t>2022/4/9</a:t>
            </a:fld>
            <a:endParaRPr lang="en-US" altLang="zh-CN"/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0526FCDE-8711-4740-A4F1-7940B997D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AF5A43FA-BE88-40EF-8A1D-BA59D450E3CF}" type="slidenum">
              <a:rPr lang="en-US" altLang="zh-CN">
                <a:solidFill>
                  <a:srgbClr val="898989"/>
                </a:solidFill>
              </a:rPr>
              <a:pPr algn="ctr"/>
              <a:t>15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3077" name="Rectangle 2">
            <a:extLst>
              <a:ext uri="{FF2B5EF4-FFF2-40B4-BE49-F238E27FC236}">
                <a16:creationId xmlns:a16="http://schemas.microsoft.com/office/drawing/2014/main" id="{9E3723C2-D74E-4E88-878A-E4A84F4F9A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800">
                <a:ea typeface="华文楷体" panose="02010600040101010101" pitchFamily="2" charset="-122"/>
              </a:rPr>
              <a:t>方差</a:t>
            </a:r>
          </a:p>
        </p:txBody>
      </p:sp>
      <p:sp>
        <p:nvSpPr>
          <p:cNvPr id="203779" name="Rectangle 3">
            <a:extLst>
              <a:ext uri="{FF2B5EF4-FFF2-40B4-BE49-F238E27FC236}">
                <a16:creationId xmlns:a16="http://schemas.microsoft.com/office/drawing/2014/main" id="{1E7881D8-DCD8-4810-9AA3-1933163904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412875"/>
            <a:ext cx="7920038" cy="4895850"/>
          </a:xfrm>
        </p:spPr>
        <p:txBody>
          <a:bodyPr rtlCol="0">
            <a:noAutofit/>
          </a:bodyPr>
          <a:lstStyle/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>
                <a:latin typeface="+mj-lt"/>
                <a:ea typeface="华文楷体" pitchFamily="2" charset="-122"/>
              </a:rPr>
              <a:t>方差</a:t>
            </a:r>
            <a:r>
              <a:rPr lang="en-US" altLang="zh-CN" sz="2800">
                <a:latin typeface="+mj-lt"/>
                <a:ea typeface="华文楷体" pitchFamily="2" charset="-122"/>
              </a:rPr>
              <a:t>variance</a:t>
            </a:r>
            <a:r>
              <a:rPr lang="zh-CN" altLang="en-US" sz="2800">
                <a:latin typeface="+mj-lt"/>
                <a:ea typeface="华文楷体" pitchFamily="2" charset="-122"/>
              </a:rPr>
              <a:t>定义为</a:t>
            </a:r>
            <a:endParaRPr lang="en-US" altLang="zh-CN" sz="280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>
                <a:latin typeface="+mj-lt"/>
                <a:ea typeface="华文楷体" pitchFamily="2" charset="-122"/>
              </a:rPr>
              <a:t>方差又称离差，即随机变量远离均值的差。直观上看，方差描述了随机变量分布的“展开程度”。</a:t>
            </a:r>
          </a:p>
        </p:txBody>
      </p:sp>
      <p:sp>
        <p:nvSpPr>
          <p:cNvPr id="3079" name="Rectangle 4">
            <a:extLst>
              <a:ext uri="{FF2B5EF4-FFF2-40B4-BE49-F238E27FC236}">
                <a16:creationId xmlns:a16="http://schemas.microsoft.com/office/drawing/2014/main" id="{F20B71E7-28F8-40C3-A83A-0B368A8E8A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080" name="Rectangle 6">
            <a:extLst>
              <a:ext uri="{FF2B5EF4-FFF2-40B4-BE49-F238E27FC236}">
                <a16:creationId xmlns:a16="http://schemas.microsoft.com/office/drawing/2014/main" id="{7C5119DA-5093-4D35-9280-1AE3635A75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4" name="Object 2">
                <a:extLst>
                  <a:ext uri="{FF2B5EF4-FFF2-40B4-BE49-F238E27FC236}">
                    <a16:creationId xmlns:a16="http://schemas.microsoft.com/office/drawing/2014/main" id="{897D7B76-4D89-4857-A329-3B490EE9F6AC}"/>
                  </a:ext>
                </a:extLst>
              </p:cNvPr>
              <p:cNvSpPr txBox="1"/>
              <p:nvPr/>
            </p:nvSpPr>
            <p:spPr bwMode="auto">
              <a:xfrm>
                <a:off x="3132138" y="2060575"/>
                <a:ext cx="2801937" cy="554038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𝑉𝑋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𝐸𝑋</m:t>
                                  </m:r>
                                </m:e>
                              </m:d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3074" name="Object 2">
                <a:extLst>
                  <a:ext uri="{FF2B5EF4-FFF2-40B4-BE49-F238E27FC236}">
                    <a16:creationId xmlns:a16="http://schemas.microsoft.com/office/drawing/2014/main" id="{897D7B76-4D89-4857-A329-3B490EE9F6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32138" y="2060575"/>
                <a:ext cx="2801937" cy="5540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81" name="Picture 4">
            <a:extLst>
              <a:ext uri="{FF2B5EF4-FFF2-40B4-BE49-F238E27FC236}">
                <a16:creationId xmlns:a16="http://schemas.microsoft.com/office/drawing/2014/main" id="{9D270F9F-9FE4-4D59-94AC-F850B71E6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4076700"/>
            <a:ext cx="7753350" cy="211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EF8C7FD4-6D55-49D2-B506-1DAF0177B99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4930696-C07E-465E-86D7-42DC439530E5}" type="datetime1">
              <a:rPr lang="zh-CN" altLang="en-US"/>
              <a:pPr>
                <a:defRPr/>
              </a:pPr>
              <a:t>2022/4/9</a:t>
            </a:fld>
            <a:endParaRPr lang="en-US" altLang="zh-CN"/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412A7ABF-A30B-4D8F-8C13-E9A68848B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B561556B-390A-4D38-BAE8-F0DDC5AD491C}" type="slidenum">
              <a:rPr lang="en-US" altLang="zh-CN">
                <a:solidFill>
                  <a:srgbClr val="898989"/>
                </a:solidFill>
              </a:rPr>
              <a:pPr algn="ctr"/>
              <a:t>16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4101" name="Rectangle 2">
            <a:extLst>
              <a:ext uri="{FF2B5EF4-FFF2-40B4-BE49-F238E27FC236}">
                <a16:creationId xmlns:a16="http://schemas.microsoft.com/office/drawing/2014/main" id="{B6B7194A-9806-4811-867F-6E7E42F82C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800">
                <a:ea typeface="华文楷体" panose="02010600040101010101" pitchFamily="2" charset="-122"/>
              </a:rPr>
              <a:t>彩票方案</a:t>
            </a:r>
          </a:p>
        </p:txBody>
      </p:sp>
      <p:sp>
        <p:nvSpPr>
          <p:cNvPr id="203779" name="Rectangle 3">
            <a:extLst>
              <a:ext uri="{FF2B5EF4-FFF2-40B4-BE49-F238E27FC236}">
                <a16:creationId xmlns:a16="http://schemas.microsoft.com/office/drawing/2014/main" id="{34AEB8B9-8029-4B8F-8CB2-B653E0C0A7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412875"/>
            <a:ext cx="7920038" cy="4895850"/>
          </a:xfrm>
        </p:spPr>
        <p:txBody>
          <a:bodyPr rtlCol="0">
            <a:noAutofit/>
          </a:bodyPr>
          <a:lstStyle/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彩票公司每周卖掉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100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张彩票，其中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1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张可以赢得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100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百万（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1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亿）美元，而另外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99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张彩票什么也得不到。</a:t>
            </a: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现在有两次免费得到彩票的机会，一种方案是在同一次抽奖中同时抽两张，另一种是在两次抽奖中各抽一张。哪一种赢面更大？</a:t>
            </a: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记</a:t>
            </a:r>
            <a:r>
              <a:rPr lang="en-US" altLang="zh-CN" sz="2800" i="1" dirty="0">
                <a:latin typeface="+mj-lt"/>
                <a:ea typeface="华文楷体" pitchFamily="2" charset="-122"/>
              </a:rPr>
              <a:t>X</a:t>
            </a:r>
            <a:r>
              <a:rPr lang="en-US" altLang="zh-CN" sz="2800" baseline="-25000" dirty="0">
                <a:latin typeface="+mj-lt"/>
                <a:ea typeface="华文楷体" pitchFamily="2" charset="-122"/>
              </a:rPr>
              <a:t>1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、</a:t>
            </a:r>
            <a:r>
              <a:rPr lang="en-US" altLang="zh-CN" sz="2800" i="1" dirty="0">
                <a:latin typeface="+mj-lt"/>
                <a:ea typeface="华文楷体" pitchFamily="2" charset="-122"/>
              </a:rPr>
              <a:t>X</a:t>
            </a:r>
            <a:r>
              <a:rPr lang="en-US" altLang="zh-CN" sz="2800" baseline="-25000" dirty="0">
                <a:latin typeface="+mj-lt"/>
                <a:ea typeface="华文楷体" pitchFamily="2" charset="-122"/>
              </a:rPr>
              <a:t>2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分别为两张彩票的收益值。首先来看两种方案的期望收益，不难看到，均为</a:t>
            </a: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zh-CN" altLang="en-US" sz="2800" dirty="0">
              <a:latin typeface="+mj-lt"/>
              <a:ea typeface="华文楷体" pitchFamily="2" charset="-122"/>
            </a:endParaRPr>
          </a:p>
        </p:txBody>
      </p:sp>
      <p:sp>
        <p:nvSpPr>
          <p:cNvPr id="4103" name="Rectangle 4">
            <a:extLst>
              <a:ext uri="{FF2B5EF4-FFF2-40B4-BE49-F238E27FC236}">
                <a16:creationId xmlns:a16="http://schemas.microsoft.com/office/drawing/2014/main" id="{859E1832-FDA2-4C47-B4C3-8DB50CE296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4104" name="Rectangle 6">
            <a:extLst>
              <a:ext uri="{FF2B5EF4-FFF2-40B4-BE49-F238E27FC236}">
                <a16:creationId xmlns:a16="http://schemas.microsoft.com/office/drawing/2014/main" id="{C69E443E-2FB2-4170-977B-35B290DBDC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98" name="Object 3">
                <a:extLst>
                  <a:ext uri="{FF2B5EF4-FFF2-40B4-BE49-F238E27FC236}">
                    <a16:creationId xmlns:a16="http://schemas.microsoft.com/office/drawing/2014/main" id="{6CAB06A9-472C-4B54-9D92-FAD9FD4CF095}"/>
                  </a:ext>
                </a:extLst>
              </p:cNvPr>
              <p:cNvSpPr txBox="1"/>
              <p:nvPr/>
            </p:nvSpPr>
            <p:spPr bwMode="auto">
              <a:xfrm>
                <a:off x="2050256" y="4797152"/>
                <a:ext cx="5043488" cy="887412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=2⋅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99</m:t>
                              </m:r>
                            </m:num>
                            <m:den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100</m:t>
                              </m:r>
                            </m:den>
                          </m:f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⋅0+</m:t>
                          </m:r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100</m:t>
                              </m:r>
                            </m:den>
                          </m:f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⋅100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098" name="Object 3">
                <a:extLst>
                  <a:ext uri="{FF2B5EF4-FFF2-40B4-BE49-F238E27FC236}">
                    <a16:creationId xmlns:a16="http://schemas.microsoft.com/office/drawing/2014/main" id="{6CAB06A9-472C-4B54-9D92-FAD9FD4CF0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50256" y="4797152"/>
                <a:ext cx="5043488" cy="88741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C7021D5E-835F-40C3-A75E-A3E312FA2FD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4930696-C07E-465E-86D7-42DC439530E5}" type="datetime1">
              <a:rPr lang="zh-CN" altLang="en-US"/>
              <a:pPr>
                <a:defRPr/>
              </a:pPr>
              <a:t>2022/4/9</a:t>
            </a:fld>
            <a:endParaRPr lang="en-US" altLang="zh-CN"/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F32B2AE5-C1E9-4123-8239-C8D0F6B1B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F752A6BB-B04C-422C-9B6E-69C172190A4E}" type="slidenum">
              <a:rPr lang="en-US" altLang="zh-CN">
                <a:solidFill>
                  <a:srgbClr val="898989"/>
                </a:solidFill>
              </a:rPr>
              <a:pPr algn="ctr"/>
              <a:t>17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22532" name="Rectangle 2">
            <a:extLst>
              <a:ext uri="{FF2B5EF4-FFF2-40B4-BE49-F238E27FC236}">
                <a16:creationId xmlns:a16="http://schemas.microsoft.com/office/drawing/2014/main" id="{FA719734-BE24-4103-80C8-53F01A4C9D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800">
                <a:ea typeface="华文楷体" panose="02010600040101010101" pitchFamily="2" charset="-122"/>
              </a:rPr>
              <a:t>彩票方案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3779" name="Rectangle 3">
                <a:extLst>
                  <a:ext uri="{FF2B5EF4-FFF2-40B4-BE49-F238E27FC236}">
                    <a16:creationId xmlns:a16="http://schemas.microsoft.com/office/drawing/2014/main" id="{8577C176-45A2-4E82-A85D-46714C9907BE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755650" y="1268413"/>
                <a:ext cx="7920038" cy="5184775"/>
              </a:xfrm>
            </p:spPr>
            <p:txBody>
              <a:bodyPr rtlCol="0">
                <a:noAutofit/>
              </a:bodyPr>
              <a:lstStyle/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两种方案不分高下？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en-US" sz="2800" dirty="0">
                        <a:latin typeface="+mj-lt"/>
                        <a:ea typeface="华文楷体" pitchFamily="2" charset="-122"/>
                      </a:rPr>
                      <m:t>分析</m:t>
                    </m:r>
                    <m:sSub>
                      <m:sSubPr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的概率分布</a:t>
                </a: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endParaRPr lang="en-US" altLang="zh-CN" sz="1400" dirty="0">
                  <a:latin typeface="+mj-lt"/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同一周抽：</a:t>
                </a:r>
                <a:r>
                  <a:rPr lang="zh-CN" altLang="en-US" sz="2800" dirty="0">
                    <a:ea typeface="华文楷体" pitchFamily="2" charset="-122"/>
                  </a:rPr>
                  <a:t>赢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100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的机会稍大，无赢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200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的机会</a:t>
                </a: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不同周抽：</a:t>
                </a:r>
                <a:r>
                  <a:rPr lang="zh-CN" altLang="en-US" sz="2800" dirty="0">
                    <a:ea typeface="华文楷体" pitchFamily="2" charset="-122"/>
                  </a:rPr>
                  <a:t>赢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100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的机会稍小，有</a:t>
                </a:r>
                <a:r>
                  <a:rPr lang="zh-CN" altLang="en-US" sz="2800" dirty="0">
                    <a:ea typeface="华文楷体" pitchFamily="2" charset="-122"/>
                  </a:rPr>
                  <a:t>赢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200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的机会</a:t>
                </a: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方差分别为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196M</a:t>
                </a:r>
                <a:r>
                  <a:rPr lang="en-US" altLang="zh-CN" sz="2800" baseline="30000" dirty="0">
                    <a:latin typeface="+mj-lt"/>
                    <a:ea typeface="华文楷体" pitchFamily="2" charset="-122"/>
                  </a:rPr>
                  <a:t>2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和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198M</a:t>
                </a:r>
                <a:r>
                  <a:rPr lang="en-US" altLang="zh-CN" sz="2800" baseline="30000" dirty="0">
                    <a:latin typeface="+mj-lt"/>
                    <a:ea typeface="华文楷体" pitchFamily="2" charset="-122"/>
                  </a:rPr>
                  <a:t>2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，即“不同周”的分布更广，与直观一致</a:t>
                </a: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r>
                  <a:rPr lang="zh-CN" altLang="en-US" sz="2800" dirty="0">
                    <a:solidFill>
                      <a:srgbClr val="0000FF"/>
                    </a:solidFill>
                    <a:latin typeface="+mj-lt"/>
                    <a:ea typeface="华文楷体" pitchFamily="2" charset="-122"/>
                  </a:rPr>
                  <a:t>标准差</a:t>
                </a:r>
                <a:r>
                  <a:rPr lang="el-GR" altLang="zh-CN" sz="2800" dirty="0"/>
                  <a:t>σ</a:t>
                </a:r>
                <a:r>
                  <a:rPr lang="zh-CN" altLang="en-US" sz="2800" dirty="0"/>
                  <a:t>：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方差的平方根，数量级上与随机变量相同</a:t>
                </a:r>
              </a:p>
            </p:txBody>
          </p:sp>
        </mc:Choice>
        <mc:Fallback xmlns="">
          <p:sp>
            <p:nvSpPr>
              <p:cNvPr id="203779" name="Rectangle 3">
                <a:extLst>
                  <a:ext uri="{FF2B5EF4-FFF2-40B4-BE49-F238E27FC236}">
                    <a16:creationId xmlns:a16="http://schemas.microsoft.com/office/drawing/2014/main" id="{8577C176-45A2-4E82-A85D-46714C9907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55650" y="1268413"/>
                <a:ext cx="7920038" cy="5184775"/>
              </a:xfrm>
              <a:blipFill>
                <a:blip r:embed="rId2"/>
                <a:stretch>
                  <a:fillRect l="-1386" t="-19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534" name="Rectangle 4">
            <a:extLst>
              <a:ext uri="{FF2B5EF4-FFF2-40B4-BE49-F238E27FC236}">
                <a16:creationId xmlns:a16="http://schemas.microsoft.com/office/drawing/2014/main" id="{2A9748B5-F74B-4AF2-A161-B5B7B95F25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2535" name="Rectangle 6">
            <a:extLst>
              <a:ext uri="{FF2B5EF4-FFF2-40B4-BE49-F238E27FC236}">
                <a16:creationId xmlns:a16="http://schemas.microsoft.com/office/drawing/2014/main" id="{063DF807-19EF-4371-8942-FC3FA67AA6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5F677199-4D6A-4F23-A67C-E100152F53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3771264"/>
              </p:ext>
            </p:extLst>
          </p:nvPr>
        </p:nvGraphicFramePr>
        <p:xfrm>
          <a:off x="1979613" y="1773238"/>
          <a:ext cx="5400676" cy="14628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3501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01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01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01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522">
                <a:tc rowSpan="2">
                  <a:txBody>
                    <a:bodyPr/>
                    <a:lstStyle/>
                    <a:p>
                      <a:pPr algn="ctr"/>
                      <a:endParaRPr lang="zh-CN" altLang="en-US" sz="1800" b="0">
                        <a:latin typeface="楷体" pitchFamily="49" charset="-122"/>
                        <a:ea typeface="楷体" pitchFamily="49" charset="-122"/>
                      </a:endParaRPr>
                    </a:p>
                  </a:txBody>
                  <a:tcPr marL="91441" marR="91441" marT="45690" marB="45690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CN" altLang="en-US" sz="1800" b="0">
                          <a:latin typeface="楷体" pitchFamily="49" charset="-122"/>
                          <a:ea typeface="楷体" pitchFamily="49" charset="-122"/>
                        </a:rPr>
                        <a:t>收益（以百万为单位）</a:t>
                      </a:r>
                    </a:p>
                  </a:txBody>
                  <a:tcPr marL="91441" marR="91441" marT="45690" marB="45690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52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>
                          <a:latin typeface="楷体" pitchFamily="49" charset="-122"/>
                          <a:ea typeface="楷体" pitchFamily="49" charset="-122"/>
                        </a:rPr>
                        <a:t>0</a:t>
                      </a:r>
                      <a:endParaRPr lang="zh-CN" altLang="en-US" sz="1800" b="0">
                        <a:latin typeface="楷体" pitchFamily="49" charset="-122"/>
                        <a:ea typeface="楷体" pitchFamily="49" charset="-122"/>
                      </a:endParaRPr>
                    </a:p>
                  </a:txBody>
                  <a:tcPr marL="91441" marR="91441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>
                          <a:latin typeface="楷体" pitchFamily="49" charset="-122"/>
                          <a:ea typeface="楷体" pitchFamily="49" charset="-122"/>
                        </a:rPr>
                        <a:t>100</a:t>
                      </a:r>
                      <a:endParaRPr lang="zh-CN" altLang="en-US" sz="1800" b="0">
                        <a:latin typeface="楷体" pitchFamily="49" charset="-122"/>
                        <a:ea typeface="楷体" pitchFamily="49" charset="-122"/>
                      </a:endParaRPr>
                    </a:p>
                  </a:txBody>
                  <a:tcPr marL="91441" marR="91441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>
                          <a:latin typeface="楷体" pitchFamily="49" charset="-122"/>
                          <a:ea typeface="楷体" pitchFamily="49" charset="-122"/>
                        </a:rPr>
                        <a:t>200</a:t>
                      </a:r>
                      <a:endParaRPr lang="zh-CN" altLang="en-US" sz="1800" b="0">
                        <a:latin typeface="楷体" pitchFamily="49" charset="-122"/>
                        <a:ea typeface="楷体" pitchFamily="49" charset="-122"/>
                      </a:endParaRPr>
                    </a:p>
                  </a:txBody>
                  <a:tcPr marL="91441" marR="91441" marT="45690" marB="456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5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dirty="0">
                          <a:latin typeface="楷体" pitchFamily="49" charset="-122"/>
                          <a:ea typeface="楷体" pitchFamily="49" charset="-122"/>
                        </a:rPr>
                        <a:t>同一周抽</a:t>
                      </a:r>
                    </a:p>
                  </a:txBody>
                  <a:tcPr marL="91441" marR="91441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>
                          <a:latin typeface="楷体" pitchFamily="49" charset="-122"/>
                          <a:ea typeface="楷体" pitchFamily="49" charset="-122"/>
                        </a:rPr>
                        <a:t>.9800</a:t>
                      </a:r>
                      <a:endParaRPr lang="zh-CN" altLang="en-US" sz="1800" b="0">
                        <a:latin typeface="楷体" pitchFamily="49" charset="-122"/>
                        <a:ea typeface="楷体" pitchFamily="49" charset="-122"/>
                      </a:endParaRPr>
                    </a:p>
                  </a:txBody>
                  <a:tcPr marL="91441" marR="91441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>
                          <a:latin typeface="楷体" pitchFamily="49" charset="-122"/>
                          <a:ea typeface="楷体" pitchFamily="49" charset="-122"/>
                        </a:rPr>
                        <a:t>.0200</a:t>
                      </a:r>
                      <a:endParaRPr lang="zh-CN" altLang="en-US" sz="1800" b="0">
                        <a:latin typeface="楷体" pitchFamily="49" charset="-122"/>
                        <a:ea typeface="楷体" pitchFamily="49" charset="-122"/>
                      </a:endParaRPr>
                    </a:p>
                  </a:txBody>
                  <a:tcPr marL="91441" marR="91441" marT="45690" marB="45690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="0">
                        <a:latin typeface="楷体" pitchFamily="49" charset="-122"/>
                        <a:ea typeface="楷体" pitchFamily="49" charset="-122"/>
                      </a:endParaRPr>
                    </a:p>
                  </a:txBody>
                  <a:tcPr marL="91441" marR="91441" marT="45690" marB="456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5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dirty="0">
                          <a:latin typeface="楷体" pitchFamily="49" charset="-122"/>
                          <a:ea typeface="楷体" pitchFamily="49" charset="-122"/>
                        </a:rPr>
                        <a:t>不同周抽</a:t>
                      </a:r>
                    </a:p>
                  </a:txBody>
                  <a:tcPr marL="91441" marR="91441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>
                          <a:latin typeface="楷体" pitchFamily="49" charset="-122"/>
                          <a:ea typeface="楷体" pitchFamily="49" charset="-122"/>
                        </a:rPr>
                        <a:t>.9801</a:t>
                      </a:r>
                      <a:endParaRPr lang="zh-CN" altLang="en-US" sz="1800" b="0">
                        <a:latin typeface="楷体" pitchFamily="49" charset="-122"/>
                        <a:ea typeface="楷体" pitchFamily="49" charset="-122"/>
                      </a:endParaRPr>
                    </a:p>
                  </a:txBody>
                  <a:tcPr marL="91441" marR="91441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>
                          <a:latin typeface="楷体" pitchFamily="49" charset="-122"/>
                          <a:ea typeface="楷体" pitchFamily="49" charset="-122"/>
                        </a:rPr>
                        <a:t>.0198</a:t>
                      </a:r>
                      <a:endParaRPr lang="zh-CN" altLang="en-US" sz="1800" b="0">
                        <a:latin typeface="楷体" pitchFamily="49" charset="-122"/>
                        <a:ea typeface="楷体" pitchFamily="49" charset="-122"/>
                      </a:endParaRPr>
                    </a:p>
                  </a:txBody>
                  <a:tcPr marL="91441" marR="91441" marT="45690" marB="456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latin typeface="楷体" pitchFamily="49" charset="-122"/>
                          <a:ea typeface="楷体" pitchFamily="49" charset="-122"/>
                        </a:rPr>
                        <a:t>.0001</a:t>
                      </a:r>
                      <a:endParaRPr lang="zh-CN" altLang="en-US" sz="1800" b="0" dirty="0">
                        <a:latin typeface="楷体" pitchFamily="49" charset="-122"/>
                        <a:ea typeface="楷体" pitchFamily="49" charset="-122"/>
                      </a:endParaRPr>
                    </a:p>
                  </a:txBody>
                  <a:tcPr marL="91441" marR="91441" marT="45690" marB="456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9779E91C-5358-4D96-9046-581886B9D88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4930696-C07E-465E-86D7-42DC439530E5}" type="datetime1">
              <a:rPr lang="zh-CN" altLang="en-US"/>
              <a:pPr>
                <a:defRPr/>
              </a:pPr>
              <a:t>2022/4/9</a:t>
            </a:fld>
            <a:endParaRPr lang="en-US" altLang="zh-CN"/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C86549CE-B868-454A-8E1B-C2BBF6C92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E1F22901-E94B-4CDF-9B10-159F9D58F62C}" type="slidenum">
              <a:rPr lang="en-US" altLang="zh-CN">
                <a:solidFill>
                  <a:srgbClr val="898989"/>
                </a:solidFill>
              </a:rPr>
              <a:pPr algn="ctr"/>
              <a:t>18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5126" name="Rectangle 2">
            <a:extLst>
              <a:ext uri="{FF2B5EF4-FFF2-40B4-BE49-F238E27FC236}">
                <a16:creationId xmlns:a16="http://schemas.microsoft.com/office/drawing/2014/main" id="{D0339511-D4CB-4797-BC60-8645BAB881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800">
                <a:ea typeface="华文楷体" panose="02010600040101010101" pitchFamily="2" charset="-122"/>
              </a:rPr>
              <a:t>方差的计算</a:t>
            </a:r>
          </a:p>
        </p:txBody>
      </p:sp>
      <p:sp>
        <p:nvSpPr>
          <p:cNvPr id="203779" name="Rectangle 3">
            <a:extLst>
              <a:ext uri="{FF2B5EF4-FFF2-40B4-BE49-F238E27FC236}">
                <a16:creationId xmlns:a16="http://schemas.microsoft.com/office/drawing/2014/main" id="{A8CEDFE2-2E88-4007-B43B-9FA28B60D8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412875"/>
            <a:ext cx="7920038" cy="4895850"/>
          </a:xfrm>
        </p:spPr>
        <p:txBody>
          <a:bodyPr rtlCol="0">
            <a:noAutofit/>
          </a:bodyPr>
          <a:lstStyle/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>
                <a:latin typeface="+mj-lt"/>
                <a:ea typeface="华文楷体" pitchFamily="2" charset="-122"/>
              </a:rPr>
              <a:t>在概率论中已经知道</a:t>
            </a:r>
            <a:endParaRPr lang="en-US" altLang="zh-CN" sz="280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>
                <a:latin typeface="+mj-lt"/>
                <a:ea typeface="华文楷体" pitchFamily="2" charset="-122"/>
              </a:rPr>
              <a:t>当</a:t>
            </a:r>
            <a:r>
              <a:rPr lang="en-US" altLang="zh-CN" sz="2800">
                <a:latin typeface="+mj-lt"/>
                <a:ea typeface="华文楷体" pitchFamily="2" charset="-122"/>
              </a:rPr>
              <a:t>X</a:t>
            </a:r>
            <a:r>
              <a:rPr lang="zh-CN" altLang="en-US" sz="2800">
                <a:latin typeface="+mj-lt"/>
                <a:ea typeface="华文楷体" pitchFamily="2" charset="-122"/>
              </a:rPr>
              <a:t>、</a:t>
            </a:r>
            <a:r>
              <a:rPr lang="en-US" altLang="zh-CN" sz="2800">
                <a:latin typeface="+mj-lt"/>
                <a:ea typeface="华文楷体" pitchFamily="2" charset="-122"/>
              </a:rPr>
              <a:t>Y</a:t>
            </a:r>
            <a:r>
              <a:rPr lang="zh-CN" altLang="en-US" sz="2800">
                <a:latin typeface="+mj-lt"/>
                <a:ea typeface="华文楷体" pitchFamily="2" charset="-122"/>
              </a:rPr>
              <a:t>独立的时候，有</a:t>
            </a:r>
            <a:endParaRPr lang="en-US" altLang="zh-CN" sz="280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>
                <a:ea typeface="华文楷体" pitchFamily="2" charset="-122"/>
              </a:rPr>
              <a:t>我们都知道方差是概率论中的重要概念，能够直接地反映随机变量的取值的发散程度。</a:t>
            </a:r>
            <a:r>
              <a:rPr lang="zh-CN" altLang="en-US" sz="2800">
                <a:latin typeface="+mj-lt"/>
                <a:ea typeface="华文楷体" pitchFamily="2" charset="-122"/>
              </a:rPr>
              <a:t>那么除此以外，计算方差的</a:t>
            </a:r>
            <a:r>
              <a:rPr lang="zh-CN" altLang="en-US" sz="2800">
                <a:solidFill>
                  <a:srgbClr val="0000FF"/>
                </a:solidFill>
                <a:latin typeface="+mj-lt"/>
                <a:ea typeface="华文楷体" pitchFamily="2" charset="-122"/>
              </a:rPr>
              <a:t>主要目的</a:t>
            </a:r>
            <a:r>
              <a:rPr lang="zh-CN" altLang="en-US" sz="2800">
                <a:latin typeface="+mj-lt"/>
                <a:ea typeface="华文楷体" pitchFamily="2" charset="-122"/>
              </a:rPr>
              <a:t>是什么呢？</a:t>
            </a:r>
            <a:endParaRPr lang="en-US" altLang="zh-CN" sz="280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en-US" altLang="zh-CN" sz="2800">
                <a:latin typeface="+mj-lt"/>
                <a:ea typeface="华文楷体" pitchFamily="2" charset="-122"/>
              </a:rPr>
              <a:t>OK</a:t>
            </a:r>
            <a:r>
              <a:rPr lang="zh-CN" altLang="en-US" sz="2800">
                <a:latin typeface="+mj-lt"/>
                <a:ea typeface="华文楷体" pitchFamily="2" charset="-122"/>
              </a:rPr>
              <a:t>，这需要从切比雪夫不等式（</a:t>
            </a:r>
            <a:r>
              <a:rPr lang="en-US" altLang="zh-CN" sz="2800">
                <a:ea typeface="华文楷体" pitchFamily="2" charset="-122"/>
              </a:rPr>
              <a:t> Chebyshev’s Inequality </a:t>
            </a:r>
            <a:r>
              <a:rPr lang="zh-CN" altLang="en-US" sz="2800">
                <a:latin typeface="+mj-lt"/>
                <a:ea typeface="华文楷体" pitchFamily="2" charset="-122"/>
              </a:rPr>
              <a:t>）说起。</a:t>
            </a:r>
            <a:endParaRPr lang="en-US" altLang="zh-CN" sz="280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zh-CN" altLang="en-US" sz="2800">
              <a:latin typeface="+mj-lt"/>
              <a:ea typeface="华文楷体" pitchFamily="2" charset="-122"/>
            </a:endParaRPr>
          </a:p>
        </p:txBody>
      </p:sp>
      <p:sp>
        <p:nvSpPr>
          <p:cNvPr id="5128" name="Rectangle 4">
            <a:extLst>
              <a:ext uri="{FF2B5EF4-FFF2-40B4-BE49-F238E27FC236}">
                <a16:creationId xmlns:a16="http://schemas.microsoft.com/office/drawing/2014/main" id="{F3C54855-AFCC-45D4-9910-39EB698124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5129" name="Rectangle 6">
            <a:extLst>
              <a:ext uri="{FF2B5EF4-FFF2-40B4-BE49-F238E27FC236}">
                <a16:creationId xmlns:a16="http://schemas.microsoft.com/office/drawing/2014/main" id="{6AD74921-C221-4F97-804F-B32C26DAE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22" name="Object 2">
                <a:extLst>
                  <a:ext uri="{FF2B5EF4-FFF2-40B4-BE49-F238E27FC236}">
                    <a16:creationId xmlns:a16="http://schemas.microsoft.com/office/drawing/2014/main" id="{306469D9-9363-459A-A578-C0DD8D931DDD}"/>
                  </a:ext>
                </a:extLst>
              </p:cNvPr>
              <p:cNvSpPr txBox="1"/>
              <p:nvPr/>
            </p:nvSpPr>
            <p:spPr bwMode="auto">
              <a:xfrm>
                <a:off x="3203575" y="1795463"/>
                <a:ext cx="2684463" cy="554037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𝑉𝑋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𝐸𝑋</m:t>
                              </m:r>
                            </m:e>
                          </m:d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5122" name="Object 2">
                <a:extLst>
                  <a:ext uri="{FF2B5EF4-FFF2-40B4-BE49-F238E27FC236}">
                    <a16:creationId xmlns:a16="http://schemas.microsoft.com/office/drawing/2014/main" id="{306469D9-9363-459A-A578-C0DD8D931D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03575" y="1795463"/>
                <a:ext cx="2684463" cy="55403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23" name="Object 3">
                <a:extLst>
                  <a:ext uri="{FF2B5EF4-FFF2-40B4-BE49-F238E27FC236}">
                    <a16:creationId xmlns:a16="http://schemas.microsoft.com/office/drawing/2014/main" id="{5C6CB677-C355-45AA-91DC-C011857CA464}"/>
                  </a:ext>
                </a:extLst>
              </p:cNvPr>
              <p:cNvSpPr txBox="1"/>
              <p:nvPr/>
            </p:nvSpPr>
            <p:spPr bwMode="auto">
              <a:xfrm>
                <a:off x="3132138" y="2781300"/>
                <a:ext cx="2919412" cy="49530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𝑉𝑋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𝑉𝑌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5123" name="Object 3">
                <a:extLst>
                  <a:ext uri="{FF2B5EF4-FFF2-40B4-BE49-F238E27FC236}">
                    <a16:creationId xmlns:a16="http://schemas.microsoft.com/office/drawing/2014/main" id="{5C6CB677-C355-45AA-91DC-C011857CA4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32138" y="2781300"/>
                <a:ext cx="2919412" cy="4953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9779E91C-5358-4D96-9046-581886B9D88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4930696-C07E-465E-86D7-42DC439530E5}" type="datetime1">
              <a:rPr lang="zh-CN" altLang="en-US"/>
              <a:pPr>
                <a:defRPr/>
              </a:pPr>
              <a:t>2022/4/9</a:t>
            </a:fld>
            <a:endParaRPr lang="en-US" altLang="zh-CN"/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C86549CE-B868-454A-8E1B-C2BBF6C92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E1F22901-E94B-4CDF-9B10-159F9D58F62C}" type="slidenum">
              <a:rPr lang="en-US" altLang="zh-CN">
                <a:solidFill>
                  <a:srgbClr val="898989"/>
                </a:solidFill>
              </a:rPr>
              <a:pPr algn="ctr"/>
              <a:t>19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5126" name="Rectangle 2">
            <a:extLst>
              <a:ext uri="{FF2B5EF4-FFF2-40B4-BE49-F238E27FC236}">
                <a16:creationId xmlns:a16="http://schemas.microsoft.com/office/drawing/2014/main" id="{D0339511-D4CB-4797-BC60-8645BAB881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800">
                <a:ea typeface="华文楷体" panose="02010600040101010101" pitchFamily="2" charset="-122"/>
              </a:rPr>
              <a:t>方差的计算</a:t>
            </a:r>
          </a:p>
        </p:txBody>
      </p:sp>
      <p:sp>
        <p:nvSpPr>
          <p:cNvPr id="203779" name="Rectangle 3">
            <a:extLst>
              <a:ext uri="{FF2B5EF4-FFF2-40B4-BE49-F238E27FC236}">
                <a16:creationId xmlns:a16="http://schemas.microsoft.com/office/drawing/2014/main" id="{A8CEDFE2-2E88-4007-B43B-9FA28B60D8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412875"/>
            <a:ext cx="7920038" cy="4895850"/>
          </a:xfrm>
        </p:spPr>
        <p:txBody>
          <a:bodyPr rtlCol="0">
            <a:noAutofit/>
          </a:bodyPr>
          <a:lstStyle/>
          <a:p>
            <a:r>
              <a:rPr lang="zh-CN" altLang="en-US" sz="2800" dirty="0">
                <a:latin typeface="+mj-lt"/>
                <a:ea typeface="华文楷体" pitchFamily="2" charset="-122"/>
              </a:rPr>
              <a:t>双掷均匀骰子点数之和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S=S</a:t>
            </a:r>
            <a:r>
              <a:rPr lang="en-US" altLang="zh-CN" sz="2800" baseline="-25000" dirty="0">
                <a:latin typeface="+mj-lt"/>
                <a:ea typeface="华文楷体" pitchFamily="2" charset="-122"/>
              </a:rPr>
              <a:t>1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+S</a:t>
            </a:r>
            <a:r>
              <a:rPr lang="en-US" altLang="zh-CN" sz="2800" baseline="-25000" dirty="0">
                <a:latin typeface="+mj-lt"/>
                <a:ea typeface="华文楷体" pitchFamily="2" charset="-122"/>
              </a:rPr>
              <a:t>2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，</a:t>
            </a:r>
            <a:r>
              <a:rPr lang="en-US" altLang="zh-CN" sz="2800" dirty="0">
                <a:ea typeface="华文楷体" pitchFamily="2" charset="-122"/>
              </a:rPr>
              <a:t>S</a:t>
            </a:r>
            <a:r>
              <a:rPr lang="en-US" altLang="zh-CN" sz="2800" baseline="-25000" dirty="0">
                <a:ea typeface="华文楷体" pitchFamily="2" charset="-122"/>
              </a:rPr>
              <a:t>1</a:t>
            </a:r>
            <a:r>
              <a:rPr lang="zh-CN" altLang="en-US" sz="2800" dirty="0">
                <a:ea typeface="华文楷体" pitchFamily="2" charset="-122"/>
              </a:rPr>
              <a:t>和</a:t>
            </a:r>
            <a:r>
              <a:rPr lang="en-US" altLang="zh-CN" sz="2800" dirty="0">
                <a:ea typeface="华文楷体" pitchFamily="2" charset="-122"/>
              </a:rPr>
              <a:t>S</a:t>
            </a:r>
            <a:r>
              <a:rPr lang="en-US" altLang="zh-CN" sz="2800" baseline="-25000" dirty="0">
                <a:ea typeface="华文楷体" pitchFamily="2" charset="-122"/>
              </a:rPr>
              <a:t>2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是</a:t>
            </a:r>
            <a:r>
              <a:rPr lang="zh-CN" altLang="en-US" sz="2800" dirty="0">
                <a:ea typeface="华文楷体" pitchFamily="2" charset="-122"/>
              </a:rPr>
              <a:t>掷一次骰子的点数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，</a:t>
            </a:r>
            <a:r>
              <a:rPr lang="en-US" altLang="zh-CN" sz="2800" dirty="0">
                <a:ea typeface="华文楷体" pitchFamily="2" charset="-122"/>
              </a:rPr>
              <a:t> S</a:t>
            </a:r>
            <a:r>
              <a:rPr lang="en-US" altLang="zh-CN" sz="2800" baseline="-25000" dirty="0">
                <a:ea typeface="华文楷体" pitchFamily="2" charset="-122"/>
              </a:rPr>
              <a:t>1</a:t>
            </a:r>
            <a:r>
              <a:rPr lang="zh-CN" altLang="en-US" sz="2800" dirty="0">
                <a:ea typeface="华文楷体" pitchFamily="2" charset="-122"/>
              </a:rPr>
              <a:t>和</a:t>
            </a:r>
            <a:r>
              <a:rPr lang="en-US" altLang="zh-CN" sz="2800" dirty="0">
                <a:ea typeface="华文楷体" pitchFamily="2" charset="-122"/>
              </a:rPr>
              <a:t>S</a:t>
            </a:r>
            <a:r>
              <a:rPr lang="en-US" altLang="zh-CN" sz="2800" baseline="-25000" dirty="0">
                <a:ea typeface="华文楷体" pitchFamily="2" charset="-122"/>
              </a:rPr>
              <a:t>2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独立</a:t>
            </a:r>
          </a:p>
          <a:p>
            <a:endParaRPr lang="en-US" altLang="zh-CN" sz="2800" dirty="0">
              <a:latin typeface="+mj-lt"/>
              <a:ea typeface="华文楷体" pitchFamily="2" charset="-122"/>
            </a:endParaRPr>
          </a:p>
          <a:p>
            <a:endParaRPr lang="en-US" altLang="zh-CN" sz="2800" dirty="0">
              <a:latin typeface="+mj-lt"/>
              <a:ea typeface="华文楷体" pitchFamily="2" charset="-122"/>
            </a:endParaRPr>
          </a:p>
          <a:p>
            <a:endParaRPr lang="en-US" altLang="zh-CN" sz="2800" dirty="0">
              <a:latin typeface="+mj-lt"/>
              <a:ea typeface="华文楷体" pitchFamily="2" charset="-122"/>
            </a:endParaRPr>
          </a:p>
          <a:p>
            <a:endParaRPr lang="en-US" altLang="zh-CN" sz="2800" dirty="0">
              <a:latin typeface="+mj-lt"/>
              <a:ea typeface="华文楷体" pitchFamily="2" charset="-122"/>
            </a:endParaRPr>
          </a:p>
          <a:p>
            <a:r>
              <a:rPr lang="zh-CN" altLang="en-US" sz="2800" dirty="0">
                <a:latin typeface="+mj-lt"/>
                <a:ea typeface="华文楷体" pitchFamily="2" charset="-122"/>
              </a:rPr>
              <a:t>对于灌铅骰子</a:t>
            </a:r>
            <a:endParaRPr lang="en-US" altLang="zh-CN" sz="2800" dirty="0">
              <a:latin typeface="+mj-lt"/>
              <a:ea typeface="华文楷体" pitchFamily="2" charset="-122"/>
            </a:endParaRPr>
          </a:p>
          <a:p>
            <a:endParaRPr lang="en-US" altLang="zh-CN" sz="2800" dirty="0">
              <a:latin typeface="+mj-lt"/>
              <a:ea typeface="华文楷体" pitchFamily="2" charset="-122"/>
            </a:endParaRPr>
          </a:p>
          <a:p>
            <a:endParaRPr lang="en-US" altLang="zh-CN" sz="2800" dirty="0">
              <a:latin typeface="+mj-lt"/>
              <a:ea typeface="华文楷体" pitchFamily="2" charset="-122"/>
            </a:endParaRPr>
          </a:p>
        </p:txBody>
      </p:sp>
      <p:sp>
        <p:nvSpPr>
          <p:cNvPr id="5128" name="Rectangle 4">
            <a:extLst>
              <a:ext uri="{FF2B5EF4-FFF2-40B4-BE49-F238E27FC236}">
                <a16:creationId xmlns:a16="http://schemas.microsoft.com/office/drawing/2014/main" id="{F3C54855-AFCC-45D4-9910-39EB698124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5129" name="Rectangle 6">
            <a:extLst>
              <a:ext uri="{FF2B5EF4-FFF2-40B4-BE49-F238E27FC236}">
                <a16:creationId xmlns:a16="http://schemas.microsoft.com/office/drawing/2014/main" id="{6AD74921-C221-4F97-804F-B32C26DAE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22" name="Object 2">
                <a:extLst>
                  <a:ext uri="{FF2B5EF4-FFF2-40B4-BE49-F238E27FC236}">
                    <a16:creationId xmlns:a16="http://schemas.microsoft.com/office/drawing/2014/main" id="{306469D9-9363-459A-A578-C0DD8D931DDD}"/>
                  </a:ext>
                </a:extLst>
              </p:cNvPr>
              <p:cNvSpPr txBox="1"/>
              <p:nvPr/>
            </p:nvSpPr>
            <p:spPr bwMode="auto">
              <a:xfrm>
                <a:off x="6876257" y="3657402"/>
                <a:ext cx="1800199" cy="347662"/>
              </a:xfrm>
              <a:prstGeom prst="rect">
                <a:avLst/>
              </a:prstGeom>
              <a:noFill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𝑉𝑋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𝐸𝑋</m:t>
                              </m:r>
                            </m:e>
                          </m:d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122" name="Object 2">
                <a:extLst>
                  <a:ext uri="{FF2B5EF4-FFF2-40B4-BE49-F238E27FC236}">
                    <a16:creationId xmlns:a16="http://schemas.microsoft.com/office/drawing/2014/main" id="{306469D9-9363-459A-A578-C0DD8D931D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76257" y="3657402"/>
                <a:ext cx="1800199" cy="34766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23" name="Object 3">
                <a:extLst>
                  <a:ext uri="{FF2B5EF4-FFF2-40B4-BE49-F238E27FC236}">
                    <a16:creationId xmlns:a16="http://schemas.microsoft.com/office/drawing/2014/main" id="{5C6CB677-C355-45AA-91DC-C011857CA464}"/>
                  </a:ext>
                </a:extLst>
              </p:cNvPr>
              <p:cNvSpPr txBox="1"/>
              <p:nvPr/>
            </p:nvSpPr>
            <p:spPr bwMode="auto">
              <a:xfrm>
                <a:off x="6876256" y="3941812"/>
                <a:ext cx="2267744" cy="49530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𝑉𝑋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𝑉𝑌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123" name="Object 3">
                <a:extLst>
                  <a:ext uri="{FF2B5EF4-FFF2-40B4-BE49-F238E27FC236}">
                    <a16:creationId xmlns:a16="http://schemas.microsoft.com/office/drawing/2014/main" id="{5C6CB677-C355-45AA-91DC-C011857CA4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76256" y="3941812"/>
                <a:ext cx="2267744" cy="4953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1791066" y="2570205"/>
                <a:ext cx="7029406" cy="61542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𝑉</m:t>
                    </m:r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800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800" dirty="0"/>
                  <a:t>+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sz="2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sz="2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sz="2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sz="2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)−</m:t>
                    </m:r>
                    <m:sSup>
                      <m:sSup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altLang="zh-CN" sz="2800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b="0" i="1" dirty="0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US" altLang="zh-CN" sz="28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800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35</m:t>
                        </m:r>
                      </m:num>
                      <m:den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1066" y="2570205"/>
                <a:ext cx="7029406" cy="615425"/>
              </a:xfrm>
              <a:prstGeom prst="rect">
                <a:avLst/>
              </a:prstGeom>
              <a:blipFill>
                <a:blip r:embed="rId4"/>
                <a:stretch>
                  <a:fillRect t="-4950" b="-168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/>
              <p:cNvSpPr txBox="1"/>
              <p:nvPr/>
            </p:nvSpPr>
            <p:spPr>
              <a:xfrm>
                <a:off x="1803756" y="3489640"/>
                <a:ext cx="3416316" cy="61811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𝑉𝑆</m:t>
                    </m:r>
                  </m:oMath>
                </a14:m>
                <a:r>
                  <a:rPr lang="en-US" altLang="zh-CN" sz="2800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35</m:t>
                        </m:r>
                      </m:num>
                      <m:den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sz="28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35</m:t>
                        </m:r>
                      </m:num>
                      <m:den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35</m:t>
                        </m:r>
                      </m:num>
                      <m:den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3756" y="3489640"/>
                <a:ext cx="3416316" cy="618118"/>
              </a:xfrm>
              <a:prstGeom prst="rect">
                <a:avLst/>
              </a:prstGeom>
              <a:blipFill>
                <a:blip r:embed="rId5"/>
                <a:stretch>
                  <a:fillRect t="-3922" b="-176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/>
              <p:cNvSpPr txBox="1"/>
              <p:nvPr/>
            </p:nvSpPr>
            <p:spPr>
              <a:xfrm>
                <a:off x="1791066" y="4938713"/>
                <a:ext cx="7029405" cy="5275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𝑉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(2∗</m:t>
                    </m:r>
                    <m:sSup>
                      <m:sSup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dirty="0"/>
                  <a:t>+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+2∗</m:t>
                    </m:r>
                    <m:sSup>
                      <m:sSup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)−</m:t>
                    </m:r>
                    <m:sSup>
                      <m:sSup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45</m:t>
                        </m:r>
                      </m:num>
                      <m:den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1066" y="4938713"/>
                <a:ext cx="7029405" cy="527580"/>
              </a:xfrm>
              <a:prstGeom prst="rect">
                <a:avLst/>
              </a:prstGeom>
              <a:blipFill>
                <a:blip r:embed="rId6"/>
                <a:stretch>
                  <a:fillRect t="-3448" b="-183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/>
              <p:cNvSpPr txBox="1"/>
              <p:nvPr/>
            </p:nvSpPr>
            <p:spPr>
              <a:xfrm>
                <a:off x="1791067" y="5609046"/>
                <a:ext cx="1989391" cy="7013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latin typeface="Cambria Math" panose="02040503050406030204" pitchFamily="18" charset="0"/>
                        </a:rPr>
                        <m:t>𝑉𝑆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=7.5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8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1067" y="5609046"/>
                <a:ext cx="1989391" cy="70134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51741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C9515F32-9D25-4E69-942E-0295950564E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4930696-C07E-465E-86D7-42DC439530E5}" type="datetime1">
              <a:rPr lang="zh-CN" altLang="en-US"/>
              <a:pPr>
                <a:defRPr/>
              </a:pPr>
              <a:t>2022/4/9</a:t>
            </a:fld>
            <a:endParaRPr lang="en-US" altLang="zh-CN"/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8505BCCE-9BCF-416C-8CAA-EE8870F4C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828A3CD5-BDAC-4B9B-A55D-C4F478AA1D79}" type="slidenum">
              <a:rPr lang="en-US" altLang="zh-CN">
                <a:solidFill>
                  <a:srgbClr val="898989"/>
                </a:solidFill>
              </a:rPr>
              <a:pPr algn="ctr"/>
              <a:t>20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6150" name="Rectangle 2">
            <a:extLst>
              <a:ext uri="{FF2B5EF4-FFF2-40B4-BE49-F238E27FC236}">
                <a16:creationId xmlns:a16="http://schemas.microsoft.com/office/drawing/2014/main" id="{E392C5B0-BE54-48F8-A39C-6E5F126A1E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800">
                <a:ea typeface="华文楷体" panose="02010600040101010101" pitchFamily="2" charset="-122"/>
              </a:rPr>
              <a:t>方差的作用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3779" name="Rectangle 3">
                <a:extLst>
                  <a:ext uri="{FF2B5EF4-FFF2-40B4-BE49-F238E27FC236}">
                    <a16:creationId xmlns:a16="http://schemas.microsoft.com/office/drawing/2014/main" id="{8D7F90B8-EC54-4454-8419-B99B966A444D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755650" y="1412875"/>
                <a:ext cx="7920038" cy="4895850"/>
              </a:xfrm>
            </p:spPr>
            <p:txBody>
              <a:bodyPr rtlCol="0">
                <a:noAutofit/>
              </a:bodyPr>
              <a:lstStyle/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r>
                  <a:rPr lang="zh-CN" altLang="en-US" sz="2800" dirty="0">
                    <a:ea typeface="华文楷体" pitchFamily="2" charset="-122"/>
                  </a:rPr>
                  <a:t>概率论中的切比雪夫不等式不同于前面遇到的同名不等式，它的形式是（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CN" altLang="en-US" sz="2800" dirty="0">
                    <a:ea typeface="华文楷体" pitchFamily="2" charset="-122"/>
                  </a:rPr>
                  <a:t>是任意正实数）</a:t>
                </a: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在知道方差的情况下，可以粗略地估计随机变量远离期望值的概率。很容易得到下面的推论：</a:t>
                </a: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随机变量在均值的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c</a:t>
                </a:r>
                <a:r>
                  <a:rPr lang="el-GR" altLang="zh-CN" sz="2800" dirty="0">
                    <a:latin typeface="+mj-lt"/>
                    <a:ea typeface="华文楷体" pitchFamily="2" charset="-122"/>
                  </a:rPr>
                  <a:t>σ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上下的概率不小于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1 – 1/</a:t>
                </a:r>
                <a:r>
                  <a:rPr lang="en-US" altLang="zh-CN" sz="2800" dirty="0">
                    <a:ea typeface="华文楷体" pitchFamily="2" charset="-122"/>
                  </a:rPr>
                  <a:t>c</a:t>
                </a:r>
                <a:r>
                  <a:rPr lang="en-US" altLang="zh-CN" sz="2800" baseline="30000" dirty="0">
                    <a:ea typeface="华文楷体" pitchFamily="2" charset="-122"/>
                  </a:rPr>
                  <a:t>2</a:t>
                </a:r>
                <a:r>
                  <a:rPr lang="zh-CN" altLang="en-US" sz="2800" dirty="0">
                    <a:ea typeface="华文楷体" pitchFamily="2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zh-CN" altLang="en-US" sz="28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其中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zh-CN" sz="2800" dirty="0">
                    <a:ea typeface="华文楷体" pitchFamily="2" charset="-122"/>
                  </a:rPr>
                  <a:t>=c</a:t>
                </a:r>
                <a:r>
                  <a:rPr lang="en-US" altLang="zh-CN" sz="2800" baseline="30000" dirty="0">
                    <a:ea typeface="华文楷体" pitchFamily="2" charset="-122"/>
                  </a:rPr>
                  <a:t>2</a:t>
                </a:r>
                <a:r>
                  <a:rPr lang="en-US" altLang="zh-CN" sz="2800" i="1" dirty="0">
                    <a:ea typeface="华文楷体" pitchFamily="2" charset="-122"/>
                  </a:rPr>
                  <a:t>VX</a:t>
                </a:r>
                <a:r>
                  <a:rPr lang="zh-CN" altLang="en-US" sz="2800" i="1" dirty="0">
                    <a:ea typeface="华文楷体" pitchFamily="2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altLang="zh-CN" sz="2800" i="1" dirty="0">
                    <a:ea typeface="华文楷体" pitchFamily="2" charset="-122"/>
                  </a:rPr>
                  <a:t>=EX</a:t>
                </a: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r>
                  <a:rPr lang="zh-CN" altLang="en-US" sz="2800" dirty="0">
                    <a:ea typeface="华文楷体" pitchFamily="2" charset="-122"/>
                  </a:rPr>
                  <a:t>随机变量在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99%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的时间里落在</a:t>
                </a:r>
                <a:r>
                  <a:rPr lang="el-GR" altLang="zh-CN" sz="2800" dirty="0">
                    <a:latin typeface="+mj-lt"/>
                    <a:ea typeface="华文楷体" pitchFamily="2" charset="-122"/>
                  </a:rPr>
                  <a:t>μ</a:t>
                </a:r>
                <a:r>
                  <a:rPr lang="zh-CN" altLang="el-GR" sz="2800" dirty="0">
                    <a:latin typeface="+mj-lt"/>
                    <a:ea typeface="华文楷体" pitchFamily="2" charset="-122"/>
                  </a:rPr>
                  <a:t>－ </a:t>
                </a:r>
                <a:r>
                  <a:rPr lang="el-GR" altLang="zh-CN" sz="2800" dirty="0">
                    <a:latin typeface="+mj-lt"/>
                    <a:ea typeface="华文楷体" pitchFamily="2" charset="-122"/>
                  </a:rPr>
                  <a:t>10σ 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与</a:t>
                </a:r>
                <a:r>
                  <a:rPr lang="el-GR" altLang="zh-CN" sz="2800" dirty="0">
                    <a:latin typeface="+mj-lt"/>
                    <a:ea typeface="华文楷体" pitchFamily="2" charset="-122"/>
                  </a:rPr>
                  <a:t>μ</a:t>
                </a:r>
                <a:r>
                  <a:rPr lang="zh-CN" altLang="el-GR" sz="2800" dirty="0">
                    <a:latin typeface="+mj-lt"/>
                    <a:ea typeface="华文楷体" pitchFamily="2" charset="-122"/>
                  </a:rPr>
                  <a:t>＋ </a:t>
                </a:r>
                <a:r>
                  <a:rPr lang="el-GR" altLang="zh-CN" sz="2800" dirty="0">
                    <a:latin typeface="+mj-lt"/>
                    <a:ea typeface="华文楷体" pitchFamily="2" charset="-122"/>
                  </a:rPr>
                  <a:t>10σ 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之间（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i="1" dirty="0">
                        <a:latin typeface="Cambria Math" panose="02040503050406030204" pitchFamily="18" charset="0"/>
                        <a:ea typeface="华文楷体" pitchFamily="2" charset="-122"/>
                      </a:rPr>
                      <m:t>c</m:t>
                    </m:r>
                  </m:oMath>
                </a14:m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取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10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取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100</a:t>
                </a:r>
                <a:r>
                  <a:rPr lang="en-US" altLang="zh-CN" sz="2800" i="1" dirty="0">
                    <a:latin typeface="+mj-lt"/>
                    <a:ea typeface="华文楷体" pitchFamily="2" charset="-122"/>
                  </a:rPr>
                  <a:t>VX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）</a:t>
                </a: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endParaRPr lang="zh-CN" altLang="en-US" sz="2800" dirty="0">
                  <a:latin typeface="+mj-lt"/>
                  <a:ea typeface="华文楷体" pitchFamily="2" charset="-122"/>
                </a:endParaRPr>
              </a:p>
            </p:txBody>
          </p:sp>
        </mc:Choice>
        <mc:Fallback xmlns="">
          <p:sp>
            <p:nvSpPr>
              <p:cNvPr id="203779" name="Rectangle 3">
                <a:extLst>
                  <a:ext uri="{FF2B5EF4-FFF2-40B4-BE49-F238E27FC236}">
                    <a16:creationId xmlns:a16="http://schemas.microsoft.com/office/drawing/2014/main" id="{8D7F90B8-EC54-4454-8419-B99B966A44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55650" y="1412875"/>
                <a:ext cx="7920038" cy="4895850"/>
              </a:xfrm>
              <a:blipFill>
                <a:blip r:embed="rId2"/>
                <a:stretch>
                  <a:fillRect l="-1386" t="-2242" r="-27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52" name="Rectangle 4">
            <a:extLst>
              <a:ext uri="{FF2B5EF4-FFF2-40B4-BE49-F238E27FC236}">
                <a16:creationId xmlns:a16="http://schemas.microsoft.com/office/drawing/2014/main" id="{F7AADC40-03C0-404B-994D-100A2ED15D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153" name="Rectangle 6">
            <a:extLst>
              <a:ext uri="{FF2B5EF4-FFF2-40B4-BE49-F238E27FC236}">
                <a16:creationId xmlns:a16="http://schemas.microsoft.com/office/drawing/2014/main" id="{9ED4BB59-FCB5-48B6-A1BC-C7013AEDB6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Object 3">
                <a:extLst>
                  <a:ext uri="{FF2B5EF4-FFF2-40B4-BE49-F238E27FC236}">
                    <a16:creationId xmlns:a16="http://schemas.microsoft.com/office/drawing/2014/main" id="{76DF7082-A5CA-4B51-9918-C9F7311F6988}"/>
                  </a:ext>
                </a:extLst>
              </p:cNvPr>
              <p:cNvSpPr txBox="1"/>
              <p:nvPr/>
            </p:nvSpPr>
            <p:spPr bwMode="auto">
              <a:xfrm>
                <a:off x="3223945" y="3507358"/>
                <a:ext cx="2572191" cy="641722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d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d>
                        </m:e>
                      </m:func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147" name="Object 3">
                <a:extLst>
                  <a:ext uri="{FF2B5EF4-FFF2-40B4-BE49-F238E27FC236}">
                    <a16:creationId xmlns:a16="http://schemas.microsoft.com/office/drawing/2014/main" id="{76DF7082-A5CA-4B51-9918-C9F7311F69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23945" y="3507358"/>
                <a:ext cx="2572191" cy="6417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2">
                <a:extLst>
                  <a:ext uri="{FF2B5EF4-FFF2-40B4-BE49-F238E27FC236}">
                    <a16:creationId xmlns:a16="http://schemas.microsoft.com/office/drawing/2014/main" id="{4B94A82B-AF93-4E21-9512-1BDEC9DBE33E}"/>
                  </a:ext>
                </a:extLst>
              </p:cNvPr>
              <p:cNvSpPr txBox="1"/>
              <p:nvPr/>
            </p:nvSpPr>
            <p:spPr bwMode="auto">
              <a:xfrm>
                <a:off x="3210893" y="2225700"/>
                <a:ext cx="2808907" cy="575444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r>
                  <a:rPr lang="en-US" altLang="zh-CN" dirty="0" err="1">
                    <a:solidFill>
                      <a:srgbClr val="000000"/>
                    </a:solidFill>
                  </a:rPr>
                  <a:t>Pr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𝐸𝑋</m:t>
                                </m:r>
                              </m:e>
                            </m:d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zh-CN" alt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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𝑉𝑋</m:t>
                        </m:r>
                      </m:num>
                      <m:den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den>
                    </m:f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Object 2">
                <a:extLst>
                  <a:ext uri="{FF2B5EF4-FFF2-40B4-BE49-F238E27FC236}">
                    <a16:creationId xmlns:a16="http://schemas.microsoft.com/office/drawing/2014/main" id="{4B94A82B-AF93-4E21-9512-1BDEC9DBE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10893" y="2225700"/>
                <a:ext cx="2808907" cy="575444"/>
              </a:xfrm>
              <a:prstGeom prst="rect">
                <a:avLst/>
              </a:prstGeom>
              <a:blipFill>
                <a:blip r:embed="rId4"/>
                <a:stretch>
                  <a:fillRect l="-19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C9515F32-9D25-4E69-942E-0295950564E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4930696-C07E-465E-86D7-42DC439530E5}" type="datetime1">
              <a:rPr lang="zh-CN" altLang="en-US"/>
              <a:pPr>
                <a:defRPr/>
              </a:pPr>
              <a:t>2022/4/9</a:t>
            </a:fld>
            <a:endParaRPr lang="en-US" altLang="zh-CN"/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8505BCCE-9BCF-416C-8CAA-EE8870F4C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828A3CD5-BDAC-4B9B-A55D-C4F478AA1D79}" type="slidenum">
              <a:rPr lang="en-US" altLang="zh-CN">
                <a:solidFill>
                  <a:srgbClr val="898989"/>
                </a:solidFill>
              </a:rPr>
              <a:pPr algn="ctr"/>
              <a:t>21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6150" name="Rectangle 2">
            <a:extLst>
              <a:ext uri="{FF2B5EF4-FFF2-40B4-BE49-F238E27FC236}">
                <a16:creationId xmlns:a16="http://schemas.microsoft.com/office/drawing/2014/main" id="{E392C5B0-BE54-48F8-A39C-6E5F126A1E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800" dirty="0">
                <a:ea typeface="华文楷体" panose="02010600040101010101" pitchFamily="2" charset="-122"/>
              </a:rPr>
              <a:t>切比雪夫不等式的证明</a:t>
            </a:r>
          </a:p>
        </p:txBody>
      </p:sp>
      <p:sp>
        <p:nvSpPr>
          <p:cNvPr id="6152" name="Rectangle 4">
            <a:extLst>
              <a:ext uri="{FF2B5EF4-FFF2-40B4-BE49-F238E27FC236}">
                <a16:creationId xmlns:a16="http://schemas.microsoft.com/office/drawing/2014/main" id="{F7AADC40-03C0-404B-994D-100A2ED15D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153" name="Rectangle 6">
            <a:extLst>
              <a:ext uri="{FF2B5EF4-FFF2-40B4-BE49-F238E27FC236}">
                <a16:creationId xmlns:a16="http://schemas.microsoft.com/office/drawing/2014/main" id="{9ED4BB59-FCB5-48B6-A1BC-C7013AEDB6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6" name="Object 2">
                <a:extLst>
                  <a:ext uri="{FF2B5EF4-FFF2-40B4-BE49-F238E27FC236}">
                    <a16:creationId xmlns:a16="http://schemas.microsoft.com/office/drawing/2014/main" id="{4B94A82B-AF93-4E21-9512-1BDEC9DBE33E}"/>
                  </a:ext>
                </a:extLst>
              </p:cNvPr>
              <p:cNvSpPr txBox="1"/>
              <p:nvPr/>
            </p:nvSpPr>
            <p:spPr bwMode="auto">
              <a:xfrm>
                <a:off x="1043608" y="1380062"/>
                <a:ext cx="3456384" cy="896810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r>
                  <a:rPr lang="en-US" altLang="zh-CN" sz="2400" dirty="0" err="1">
                    <a:solidFill>
                      <a:srgbClr val="000000"/>
                    </a:solidFill>
                  </a:rPr>
                  <a:t>Pr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𝐸𝑋</m:t>
                                </m:r>
                              </m:e>
                            </m:d>
                          </m:e>
                          <m:sup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zh-CN" alt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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𝑉𝑋</m:t>
                        </m:r>
                      </m:num>
                      <m:den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den>
                    </m:f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6146" name="Object 2">
                <a:extLst>
                  <a:ext uri="{FF2B5EF4-FFF2-40B4-BE49-F238E27FC236}">
                    <a16:creationId xmlns:a16="http://schemas.microsoft.com/office/drawing/2014/main" id="{4B94A82B-AF93-4E21-9512-1BDEC9DBE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43608" y="1380062"/>
                <a:ext cx="3456384" cy="896810"/>
              </a:xfrm>
              <a:prstGeom prst="rect">
                <a:avLst/>
              </a:prstGeom>
              <a:blipFill>
                <a:blip r:embed="rId2"/>
                <a:stretch>
                  <a:fillRect l="-26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1043608" y="2244761"/>
                <a:ext cx="4032448" cy="89620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𝑉𝑋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zh-CN" altLang="en-US" sz="24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zh-CN" altLang="en-US" sz="24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sty m:val="p"/>
                            </m:rPr>
                            <a:rPr lang="el-GR" altLang="zh-CN" sz="2400" b="0" i="1" smtClean="0">
                              <a:latin typeface="Cambria Math" panose="02040503050406030204" pitchFamily="18" charset="0"/>
                            </a:rPr>
                            <m:t>Ω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d>
                                <m:d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brk m:alnAt="7"/>
                                    </m:rP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d>
                              <m:r>
                                <m:rPr>
                                  <m:brk m:alnAt="7"/>
                                </m:r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𝐸𝑋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m:rPr>
                              <m:brk m:alnAt="7"/>
                            </m:rP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2244761"/>
                <a:ext cx="4032448" cy="8962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1381254" y="3212976"/>
                <a:ext cx="4646080" cy="11816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eqArr>
                            <m:eqArrPr>
                              <m:ctrlPr>
                                <a:rPr lang="zh-CN" alt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brk m:alnAt="7"/>
                                </m:rPr>
                                <a:rPr lang="zh-CN" altLang="en-US" sz="2400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zh-CN" altLang="en-US" sz="24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m:rPr>
                                  <m:sty m:val="p"/>
                                </m:rPr>
                                <a:rPr lang="el-GR" altLang="zh-CN" sz="2400" b="0" i="1" smtClean="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d>
                                    <m:d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zh-CN" altLang="en-US" sz="2400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</m:d>
                                  <m:r>
                                    <m:rPr>
                                      <m:brk m:alnAt="7"/>
                                    </m:r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𝐸𝑋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zh-CN" alt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</m:eqArr>
                        </m:sub>
                        <m:sup/>
                        <m:e>
                          <m:sSup>
                            <m:s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d>
                                <m:d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brk m:alnAt="7"/>
                                    </m:rP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d>
                              <m:r>
                                <m:rPr>
                                  <m:brk m:alnAt="7"/>
                                </m:r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𝐸𝑋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m:rPr>
                              <m:brk m:alnAt="7"/>
                            </m:rP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1254" y="3212976"/>
                <a:ext cx="4646080" cy="118160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1336178" y="4551650"/>
                <a:ext cx="6312690" cy="118160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eqArr>
                            <m:eqArrPr>
                              <m:ctrlPr>
                                <a:rPr lang="zh-CN" alt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brk m:alnAt="7"/>
                                </m:rPr>
                                <a:rPr lang="zh-CN" altLang="en-US" sz="2400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zh-CN" altLang="en-US" sz="2400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m:rPr>
                                  <m:sty m:val="p"/>
                                </m:rPr>
                                <a:rPr lang="el-GR" altLang="zh-CN" sz="2400" b="0" i="1" smtClean="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d>
                                    <m:d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zh-CN" altLang="en-US" sz="2400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</m:d>
                                  <m:r>
                                    <m:rPr>
                                      <m:brk m:alnAt="7"/>
                                    </m:r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𝐸𝑋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zh-CN" altLang="en-US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</m:eqArr>
                        </m:sub>
                        <m:sup/>
                        <m:e>
                          <m:sSup>
                            <m:s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func>
                                <m:func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2400">
                                      <a:latin typeface="Cambria Math" panose="02040503050406030204" pitchFamily="18" charset="0"/>
                                    </a:rPr>
                                    <m:t>Pr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zh-CN" altLang="en-US" sz="2400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=⁡</m:t>
                              </m:r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altLang="zh-CN" sz="240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𝐸𝑋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r>
                            <m:rPr>
                              <m:brk m:alnAt="7"/>
                            </m:r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6178" y="4551650"/>
                <a:ext cx="6312690" cy="118160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37018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342CFD0F-0186-4BE6-88C3-B97B64F8D83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4930696-C07E-465E-86D7-42DC439530E5}" type="datetime1">
              <a:rPr lang="zh-CN" altLang="en-US"/>
              <a:pPr>
                <a:defRPr/>
              </a:pPr>
              <a:t>2022/4/9</a:t>
            </a:fld>
            <a:endParaRPr lang="en-US" altLang="zh-CN"/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818962D6-8D96-46A7-B8D0-08967EB94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C91F3812-AA49-449F-B1D9-DF44B8AE0313}" type="slidenum">
              <a:rPr lang="en-US" altLang="zh-CN">
                <a:solidFill>
                  <a:srgbClr val="898989"/>
                </a:solidFill>
              </a:rPr>
              <a:pPr algn="ctr"/>
              <a:t>22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7174" name="Rectangle 2">
            <a:extLst>
              <a:ext uri="{FF2B5EF4-FFF2-40B4-BE49-F238E27FC236}">
                <a16:creationId xmlns:a16="http://schemas.microsoft.com/office/drawing/2014/main" id="{7F86CE1D-8F47-4E71-BEB2-32E99343D0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800">
                <a:ea typeface="华文楷体" panose="02010600040101010101" pitchFamily="2" charset="-122"/>
              </a:rPr>
              <a:t>方差的例子：</a:t>
            </a:r>
            <a:r>
              <a:rPr lang="en-US" altLang="zh-CN" sz="4800">
                <a:ea typeface="华文楷体" panose="02010600040101010101" pitchFamily="2" charset="-122"/>
              </a:rPr>
              <a:t>n</a:t>
            </a:r>
            <a:r>
              <a:rPr lang="zh-CN" altLang="en-US" sz="4800">
                <a:ea typeface="华文楷体" panose="02010600040101010101" pitchFamily="2" charset="-122"/>
              </a:rPr>
              <a:t>次双掷骰子</a:t>
            </a:r>
          </a:p>
        </p:txBody>
      </p:sp>
      <p:sp>
        <p:nvSpPr>
          <p:cNvPr id="203779" name="Rectangle 3">
            <a:extLst>
              <a:ext uri="{FF2B5EF4-FFF2-40B4-BE49-F238E27FC236}">
                <a16:creationId xmlns:a16="http://schemas.microsoft.com/office/drawing/2014/main" id="{284B93C0-3357-4554-A962-C23B3741BF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412875"/>
            <a:ext cx="7920038" cy="4895850"/>
          </a:xfrm>
        </p:spPr>
        <p:txBody>
          <a:bodyPr rtlCol="0">
            <a:noAutofit/>
          </a:bodyPr>
          <a:lstStyle/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考虑双掷均匀骰子问题，双掷骰子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n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次，在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n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很大的时候，掷出的点数之和基本上总是在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7n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左右。为什么呢？</a:t>
            </a: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 dirty="0">
                <a:solidFill>
                  <a:srgbClr val="0000FF"/>
                </a:solidFill>
                <a:latin typeface="+mj-lt"/>
                <a:ea typeface="华文楷体" pitchFamily="2" charset="-122"/>
              </a:rPr>
              <a:t>分析：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n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次双掷骰子的方差为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35n/6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，标准差为</a:t>
            </a: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altLang="zh-CN" sz="2800" dirty="0">
                <a:latin typeface="+mj-lt"/>
                <a:ea typeface="华文楷体" pitchFamily="2" charset="-122"/>
              </a:rPr>
              <a:t>	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根据切比雪夫不等式，可以得到</a:t>
            </a: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zh-CN" altLang="en-US" sz="2800" dirty="0">
              <a:latin typeface="+mj-lt"/>
              <a:ea typeface="华文楷体" pitchFamily="2" charset="-122"/>
            </a:endParaRPr>
          </a:p>
        </p:txBody>
      </p:sp>
      <p:sp>
        <p:nvSpPr>
          <p:cNvPr id="7176" name="Rectangle 4">
            <a:extLst>
              <a:ext uri="{FF2B5EF4-FFF2-40B4-BE49-F238E27FC236}">
                <a16:creationId xmlns:a16="http://schemas.microsoft.com/office/drawing/2014/main" id="{5FE346C0-BF3D-47B7-8D47-3FFA80B738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7177" name="Rectangle 6">
            <a:extLst>
              <a:ext uri="{FF2B5EF4-FFF2-40B4-BE49-F238E27FC236}">
                <a16:creationId xmlns:a16="http://schemas.microsoft.com/office/drawing/2014/main" id="{1EAE521A-C57B-44A0-8E56-0A8993E7D3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70" name="Object 3">
                <a:extLst>
                  <a:ext uri="{FF2B5EF4-FFF2-40B4-BE49-F238E27FC236}">
                    <a16:creationId xmlns:a16="http://schemas.microsoft.com/office/drawing/2014/main" id="{692AD628-7D47-4B52-B23C-68628A4950B4}"/>
                  </a:ext>
                </a:extLst>
              </p:cNvPr>
              <p:cNvSpPr txBox="1"/>
              <p:nvPr/>
            </p:nvSpPr>
            <p:spPr bwMode="auto">
              <a:xfrm>
                <a:off x="4355976" y="3140968"/>
                <a:ext cx="863600" cy="889000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35</m:t>
                              </m:r>
                            </m:num>
                            <m:den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ra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170" name="Object 3">
                <a:extLst>
                  <a:ext uri="{FF2B5EF4-FFF2-40B4-BE49-F238E27FC236}">
                    <a16:creationId xmlns:a16="http://schemas.microsoft.com/office/drawing/2014/main" id="{692AD628-7D47-4B52-B23C-68628A4950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55976" y="3140968"/>
                <a:ext cx="863600" cy="889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71" name="Object 4">
                <a:extLst>
                  <a:ext uri="{FF2B5EF4-FFF2-40B4-BE49-F238E27FC236}">
                    <a16:creationId xmlns:a16="http://schemas.microsoft.com/office/drawing/2014/main" id="{7CBDAB7A-D126-437D-AF45-B8959751077C}"/>
                  </a:ext>
                </a:extLst>
              </p:cNvPr>
              <p:cNvSpPr txBox="1"/>
              <p:nvPr/>
            </p:nvSpPr>
            <p:spPr bwMode="auto">
              <a:xfrm>
                <a:off x="2267744" y="4660205"/>
                <a:ext cx="5461000" cy="101600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−10</m:t>
                              </m:r>
                              <m:rad>
                                <m:radPr>
                                  <m:degHide m:val="on"/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35</m:t>
                                      </m:r>
                                    </m:num>
                                    <m:den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den>
                                  </m:f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rad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&lt;7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+10</m:t>
                              </m:r>
                              <m:rad>
                                <m:radPr>
                                  <m:degHide m:val="on"/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35</m:t>
                                      </m:r>
                                    </m:num>
                                    <m:den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den>
                                  </m:f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rad>
                            </m:e>
                          </m:d>
                        </m:e>
                      </m:func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≥.99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171" name="Object 4">
                <a:extLst>
                  <a:ext uri="{FF2B5EF4-FFF2-40B4-BE49-F238E27FC236}">
                    <a16:creationId xmlns:a16="http://schemas.microsoft.com/office/drawing/2014/main" id="{7CBDAB7A-D126-437D-AF45-B895975107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67744" y="4660205"/>
                <a:ext cx="5461000" cy="1016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圆角矩形 10">
            <a:extLst>
              <a:ext uri="{FF2B5EF4-FFF2-40B4-BE49-F238E27FC236}">
                <a16:creationId xmlns:a16="http://schemas.microsoft.com/office/drawing/2014/main" id="{45246086-E533-4402-A458-A21037FF3AD7}"/>
              </a:ext>
            </a:extLst>
          </p:cNvPr>
          <p:cNvSpPr/>
          <p:nvPr/>
        </p:nvSpPr>
        <p:spPr>
          <a:xfrm>
            <a:off x="5868144" y="5629422"/>
            <a:ext cx="1800225" cy="87471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>
                <a:solidFill>
                  <a:srgbClr val="FFFF00"/>
                </a:solidFill>
                <a:latin typeface="楷体" pitchFamily="49" charset="-122"/>
                <a:ea typeface="楷体" pitchFamily="49" charset="-122"/>
              </a:rPr>
              <a:t>n</a:t>
            </a:r>
            <a:r>
              <a:rPr lang="zh-CN" altLang="en-US" sz="2400">
                <a:solidFill>
                  <a:srgbClr val="FFFF00"/>
                </a:solidFill>
                <a:latin typeface="楷体" pitchFamily="49" charset="-122"/>
                <a:ea typeface="楷体" pitchFamily="49" charset="-122"/>
              </a:rPr>
              <a:t>很大时，相比</a:t>
            </a:r>
            <a:r>
              <a:rPr lang="en-US" altLang="zh-CN" sz="2400">
                <a:solidFill>
                  <a:srgbClr val="FFFF00"/>
                </a:solidFill>
                <a:latin typeface="楷体" pitchFamily="49" charset="-122"/>
                <a:ea typeface="楷体" pitchFamily="49" charset="-122"/>
              </a:rPr>
              <a:t>7n</a:t>
            </a:r>
            <a:r>
              <a:rPr lang="zh-CN" altLang="en-US" sz="2400">
                <a:solidFill>
                  <a:srgbClr val="FFFF00"/>
                </a:solidFill>
                <a:latin typeface="楷体" pitchFamily="49" charset="-122"/>
                <a:ea typeface="楷体" pitchFamily="49" charset="-122"/>
              </a:rPr>
              <a:t>很小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DB55453B-BA96-4F67-BB0B-1B692F7921F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4930696-C07E-465E-86D7-42DC439530E5}" type="datetime1">
              <a:rPr lang="zh-CN" altLang="en-US"/>
              <a:pPr>
                <a:defRPr/>
              </a:pPr>
              <a:t>2022/4/9</a:t>
            </a:fld>
            <a:endParaRPr lang="en-US" altLang="zh-CN"/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70459B09-334C-4EF7-B7CE-C51C07431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DBF71921-5906-44A8-9279-4163E748657D}" type="slidenum">
              <a:rPr lang="en-US" altLang="zh-CN">
                <a:solidFill>
                  <a:srgbClr val="898989"/>
                </a:solidFill>
              </a:rPr>
              <a:pPr algn="ctr"/>
              <a:t>23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23556" name="Rectangle 2">
            <a:extLst>
              <a:ext uri="{FF2B5EF4-FFF2-40B4-BE49-F238E27FC236}">
                <a16:creationId xmlns:a16="http://schemas.microsoft.com/office/drawing/2014/main" id="{68E144F4-4275-4994-8B58-236E22DA1E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800">
                <a:ea typeface="华文楷体" panose="02010600040101010101" pitchFamily="2" charset="-122"/>
              </a:rPr>
              <a:t>方差的例子：足球胜利问题</a:t>
            </a:r>
          </a:p>
        </p:txBody>
      </p:sp>
      <p:sp>
        <p:nvSpPr>
          <p:cNvPr id="203779" name="Rectangle 3">
            <a:extLst>
              <a:ext uri="{FF2B5EF4-FFF2-40B4-BE49-F238E27FC236}">
                <a16:creationId xmlns:a16="http://schemas.microsoft.com/office/drawing/2014/main" id="{3A35609D-8B4A-40DA-A08C-BD92F0B054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412875"/>
            <a:ext cx="7920038" cy="4895850"/>
          </a:xfrm>
        </p:spPr>
        <p:txBody>
          <a:bodyPr rtlCol="0">
            <a:noAutofit/>
          </a:bodyPr>
          <a:lstStyle/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一支足球队的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n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个球迷在一起看球，球队胜利以后，大家一起往上扔帽子。假设落下来之后，每顶</a:t>
            </a:r>
            <a:r>
              <a:rPr lang="zh-CN" altLang="en-US" sz="2800" dirty="0">
                <a:ea typeface="华文楷体" pitchFamily="2" charset="-122"/>
              </a:rPr>
              <a:t>帽子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恰好戴在一个球迷头上，而且每种落法的几率是相等的。</a:t>
            </a: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下面用均值和方差的概念来分析一下。显然，每种落法可以表示为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{1, 2, …, n}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的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1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个（帽子）排列（置换）。概率空间</a:t>
            </a:r>
            <a:r>
              <a:rPr lang="zh-CN" altLang="en-US" sz="2800" dirty="0">
                <a:latin typeface="+mj-lt"/>
                <a:ea typeface="华文楷体" pitchFamily="2" charset="-122"/>
                <a:sym typeface="Symbol" panose="05050102010706020507" pitchFamily="18" charset="2"/>
              </a:rPr>
              <a:t>由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n!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个不同的排列构成，对任意</a:t>
            </a:r>
            <a:r>
              <a:rPr lang="el-GR" altLang="zh-CN" sz="2800" dirty="0">
                <a:solidFill>
                  <a:srgbClr val="0000FF"/>
                </a:solidFill>
                <a:latin typeface="+mj-lt"/>
                <a:ea typeface="华文楷体" pitchFamily="2" charset="-122"/>
              </a:rPr>
              <a:t>π</a:t>
            </a:r>
            <a:r>
              <a:rPr lang="el-GR" altLang="zh-CN" sz="2800" dirty="0">
                <a:solidFill>
                  <a:srgbClr val="0000FF"/>
                </a:solidFill>
                <a:latin typeface="+mj-lt"/>
                <a:ea typeface="华文楷体" pitchFamily="2" charset="-122"/>
                <a:sym typeface="Symbol" panose="05050102010706020507" pitchFamily="18" charset="2"/>
              </a:rPr>
              <a:t></a:t>
            </a:r>
            <a:r>
              <a:rPr lang="zh-CN" altLang="en-US" sz="2800" dirty="0">
                <a:solidFill>
                  <a:srgbClr val="0000FF"/>
                </a:solidFill>
                <a:latin typeface="+mj-lt"/>
                <a:ea typeface="华文楷体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2800" dirty="0" err="1">
                <a:solidFill>
                  <a:srgbClr val="0000FF"/>
                </a:solidFill>
                <a:latin typeface="+mj-lt"/>
                <a:ea typeface="华文楷体" pitchFamily="2" charset="-122"/>
                <a:sym typeface="Symbol" panose="05050102010706020507" pitchFamily="18" charset="2"/>
              </a:rPr>
              <a:t>Pr</a:t>
            </a:r>
            <a:r>
              <a:rPr lang="en-US" altLang="zh-CN" sz="2800" dirty="0">
                <a:solidFill>
                  <a:srgbClr val="0000FF"/>
                </a:solidFill>
                <a:latin typeface="+mj-lt"/>
                <a:ea typeface="华文楷体" pitchFamily="2" charset="-122"/>
                <a:sym typeface="Symbol" panose="05050102010706020507" pitchFamily="18" charset="2"/>
              </a:rPr>
              <a:t>(</a:t>
            </a:r>
            <a:r>
              <a:rPr lang="el-GR" altLang="zh-CN" sz="2800" dirty="0">
                <a:solidFill>
                  <a:srgbClr val="0000FF"/>
                </a:solidFill>
                <a:ea typeface="华文楷体" pitchFamily="2" charset="-122"/>
              </a:rPr>
              <a:t>π</a:t>
            </a:r>
            <a:r>
              <a:rPr lang="en-US" altLang="zh-CN" sz="2800" dirty="0">
                <a:solidFill>
                  <a:srgbClr val="0000FF"/>
                </a:solidFill>
                <a:latin typeface="+mj-lt"/>
                <a:ea typeface="华文楷体" pitchFamily="2" charset="-122"/>
                <a:sym typeface="Symbol" panose="05050102010706020507" pitchFamily="18" charset="2"/>
              </a:rPr>
              <a:t>)=1/n!</a:t>
            </a:r>
            <a:r>
              <a:rPr lang="zh-CN" altLang="en-US" sz="2800" dirty="0">
                <a:solidFill>
                  <a:srgbClr val="0000FF"/>
                </a:solidFill>
                <a:latin typeface="+mj-lt"/>
                <a:ea typeface="华文楷体" pitchFamily="2" charset="-122"/>
                <a:sym typeface="Symbol" panose="05050102010706020507" pitchFamily="18" charset="2"/>
              </a:rPr>
              <a:t>。</a:t>
            </a:r>
            <a:endParaRPr lang="en-US" altLang="zh-CN" sz="2800" dirty="0">
              <a:solidFill>
                <a:srgbClr val="0000FF"/>
              </a:solidFill>
              <a:latin typeface="+mj-lt"/>
              <a:ea typeface="华文楷体" pitchFamily="2" charset="-122"/>
              <a:sym typeface="Symbol" panose="05050102010706020507" pitchFamily="18" charset="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 dirty="0">
                <a:solidFill>
                  <a:srgbClr val="0000FF"/>
                </a:solidFill>
                <a:latin typeface="+mj-lt"/>
                <a:ea typeface="华文楷体" pitchFamily="2" charset="-122"/>
                <a:sym typeface="Symbol" panose="05050102010706020507" pitchFamily="18" charset="2"/>
              </a:rPr>
              <a:t>随机变量</a:t>
            </a:r>
            <a:r>
              <a:rPr lang="en-US" altLang="zh-CN" sz="2800" i="1" dirty="0" err="1">
                <a:solidFill>
                  <a:srgbClr val="0000FF"/>
                </a:solidFill>
                <a:latin typeface="+mj-lt"/>
                <a:ea typeface="华文楷体" pitchFamily="2" charset="-122"/>
              </a:rPr>
              <a:t>F</a:t>
            </a:r>
            <a:r>
              <a:rPr lang="en-US" altLang="zh-CN" sz="2800" i="1" baseline="-25000" dirty="0" err="1">
                <a:solidFill>
                  <a:srgbClr val="0000FF"/>
                </a:solidFill>
                <a:latin typeface="+mj-lt"/>
                <a:ea typeface="华文楷体" pitchFamily="2" charset="-122"/>
              </a:rPr>
              <a:t>n</a:t>
            </a:r>
            <a:r>
              <a:rPr lang="en-US" altLang="zh-CN" sz="2800" dirty="0">
                <a:solidFill>
                  <a:srgbClr val="0000FF"/>
                </a:solidFill>
                <a:latin typeface="+mj-lt"/>
                <a:ea typeface="华文楷体" pitchFamily="2" charset="-122"/>
              </a:rPr>
              <a:t>(</a:t>
            </a:r>
            <a:r>
              <a:rPr lang="el-GR" altLang="zh-CN" sz="2800" dirty="0">
                <a:solidFill>
                  <a:srgbClr val="0000FF"/>
                </a:solidFill>
                <a:ea typeface="华文楷体" pitchFamily="2" charset="-122"/>
              </a:rPr>
              <a:t>π</a:t>
            </a:r>
            <a:r>
              <a:rPr lang="en-US" altLang="zh-CN" sz="2800" dirty="0">
                <a:solidFill>
                  <a:srgbClr val="0000FF"/>
                </a:solidFill>
                <a:latin typeface="+mj-lt"/>
                <a:ea typeface="华文楷体" pitchFamily="2" charset="-122"/>
              </a:rPr>
              <a:t>)=</a:t>
            </a:r>
            <a:r>
              <a:rPr lang="el-GR" altLang="zh-CN" sz="2800" dirty="0">
                <a:ea typeface="华文楷体" pitchFamily="2" charset="-122"/>
              </a:rPr>
              <a:t>π</a:t>
            </a:r>
            <a:r>
              <a:rPr lang="zh-CN" altLang="en-US" sz="2800" dirty="0">
                <a:ea typeface="华文楷体" pitchFamily="2" charset="-122"/>
              </a:rPr>
              <a:t>的不动点个数</a:t>
            </a:r>
            <a:endParaRPr lang="en-US" altLang="zh-CN" sz="2800" dirty="0">
              <a:ea typeface="华文楷体" pitchFamily="2" charset="-122"/>
            </a:endParaRPr>
          </a:p>
          <a:p>
            <a:pPr marL="0" indent="0" fontAlgn="auto">
              <a:lnSpc>
                <a:spcPct val="90000"/>
              </a:lnSpc>
              <a:spcAft>
                <a:spcPts val="0"/>
              </a:spcAft>
              <a:buNone/>
              <a:defRPr/>
            </a:pPr>
            <a:r>
              <a:rPr lang="en-US" altLang="zh-CN" sz="2800" dirty="0">
                <a:ea typeface="华文楷体" pitchFamily="2" charset="-122"/>
              </a:rPr>
              <a:t>                                </a:t>
            </a:r>
            <a:r>
              <a:rPr lang="zh-CN" altLang="en-US" sz="2800" dirty="0">
                <a:ea typeface="华文楷体" pitchFamily="2" charset="-122"/>
              </a:rPr>
              <a:t>正确落下的帽子个数</a:t>
            </a:r>
            <a:endParaRPr lang="en-US" altLang="zh-CN" sz="2800" dirty="0"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 dirty="0">
                <a:ea typeface="华文楷体" pitchFamily="2" charset="-122"/>
              </a:rPr>
              <a:t>随机变量</a:t>
            </a:r>
            <a:r>
              <a:rPr lang="en-US" altLang="zh-CN" sz="2800" i="1" dirty="0" err="1">
                <a:solidFill>
                  <a:srgbClr val="0000FF"/>
                </a:solidFill>
                <a:ea typeface="华文楷体" pitchFamily="2" charset="-122"/>
              </a:rPr>
              <a:t>F</a:t>
            </a:r>
            <a:r>
              <a:rPr lang="en-US" altLang="zh-CN" sz="2800" i="1" baseline="-25000" dirty="0" err="1">
                <a:solidFill>
                  <a:srgbClr val="0000FF"/>
                </a:solidFill>
                <a:ea typeface="华文楷体" pitchFamily="2" charset="-122"/>
              </a:rPr>
              <a:t>n</a:t>
            </a:r>
            <a:r>
              <a:rPr lang="en-US" altLang="zh-CN" sz="2800" i="1" baseline="-25000" dirty="0">
                <a:solidFill>
                  <a:srgbClr val="0000FF"/>
                </a:solidFill>
                <a:ea typeface="华文楷体" pitchFamily="2" charset="-122"/>
              </a:rPr>
              <a:t>, k</a:t>
            </a:r>
            <a:r>
              <a:rPr lang="en-US" altLang="zh-CN" sz="2800" dirty="0">
                <a:solidFill>
                  <a:srgbClr val="0000FF"/>
                </a:solidFill>
                <a:ea typeface="华文楷体" pitchFamily="2" charset="-122"/>
              </a:rPr>
              <a:t>(</a:t>
            </a:r>
            <a:r>
              <a:rPr lang="el-GR" altLang="zh-CN" sz="2800" dirty="0">
                <a:solidFill>
                  <a:srgbClr val="0000FF"/>
                </a:solidFill>
                <a:ea typeface="华文楷体" pitchFamily="2" charset="-122"/>
              </a:rPr>
              <a:t>π</a:t>
            </a:r>
            <a:r>
              <a:rPr lang="en-US" altLang="zh-CN" sz="2800" dirty="0">
                <a:solidFill>
                  <a:srgbClr val="0000FF"/>
                </a:solidFill>
                <a:ea typeface="华文楷体" pitchFamily="2" charset="-122"/>
              </a:rPr>
              <a:t>)=[</a:t>
            </a:r>
            <a:r>
              <a:rPr lang="en-US" altLang="zh-CN" sz="2800" dirty="0">
                <a:ea typeface="华文楷体" pitchFamily="2" charset="-122"/>
              </a:rPr>
              <a:t>π </a:t>
            </a:r>
            <a:r>
              <a:rPr lang="zh-CN" altLang="en-US" sz="2800" dirty="0">
                <a:ea typeface="华文楷体" pitchFamily="2" charset="-122"/>
              </a:rPr>
              <a:t>的位置</a:t>
            </a:r>
            <a:r>
              <a:rPr lang="en-US" altLang="zh-CN" sz="2800" dirty="0">
                <a:ea typeface="华文楷体" pitchFamily="2" charset="-122"/>
              </a:rPr>
              <a:t>k </a:t>
            </a:r>
            <a:r>
              <a:rPr lang="zh-CN" altLang="en-US" sz="2800" dirty="0">
                <a:ea typeface="华文楷体" pitchFamily="2" charset="-122"/>
              </a:rPr>
              <a:t>是一个不动点</a:t>
            </a:r>
            <a:r>
              <a:rPr lang="en-US" altLang="zh-CN" sz="2800" dirty="0">
                <a:ea typeface="华文楷体" pitchFamily="2" charset="-122"/>
              </a:rPr>
              <a:t>]</a:t>
            </a:r>
            <a:endParaRPr lang="zh-CN" altLang="en-US" sz="2800" dirty="0">
              <a:ea typeface="华文楷体" pitchFamily="2" charset="-122"/>
            </a:endParaRPr>
          </a:p>
        </p:txBody>
      </p:sp>
      <p:sp>
        <p:nvSpPr>
          <p:cNvPr id="23558" name="Rectangle 4">
            <a:extLst>
              <a:ext uri="{FF2B5EF4-FFF2-40B4-BE49-F238E27FC236}">
                <a16:creationId xmlns:a16="http://schemas.microsoft.com/office/drawing/2014/main" id="{5EF2253B-8F27-4827-AF1A-0EC18EEC94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3559" name="Rectangle 6">
            <a:extLst>
              <a:ext uri="{FF2B5EF4-FFF2-40B4-BE49-F238E27FC236}">
                <a16:creationId xmlns:a16="http://schemas.microsoft.com/office/drawing/2014/main" id="{600582D4-A00B-4A2D-9062-439BF813BA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49FF52FE-595A-419F-A0DB-848504BD183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4930696-C07E-465E-86D7-42DC439530E5}" type="datetime1">
              <a:rPr lang="zh-CN" altLang="en-US"/>
              <a:pPr>
                <a:defRPr/>
              </a:pPr>
              <a:t>2022/4/9</a:t>
            </a:fld>
            <a:endParaRPr lang="en-US" altLang="zh-CN"/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3A880FF6-B5A8-4742-AAE6-0FB0AA6C2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B8A81413-64A3-4A84-A990-C7AAC559E0F8}" type="slidenum">
              <a:rPr lang="en-US" altLang="zh-CN">
                <a:solidFill>
                  <a:srgbClr val="898989"/>
                </a:solidFill>
              </a:rPr>
              <a:pPr algn="ctr"/>
              <a:t>24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8199" name="Rectangle 2">
            <a:extLst>
              <a:ext uri="{FF2B5EF4-FFF2-40B4-BE49-F238E27FC236}">
                <a16:creationId xmlns:a16="http://schemas.microsoft.com/office/drawing/2014/main" id="{D42C471D-E8B3-41DD-9921-ADF7043014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800">
                <a:ea typeface="华文楷体" panose="02010600040101010101" pitchFamily="2" charset="-122"/>
              </a:rPr>
              <a:t>方差的例子：足球胜利问题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3779" name="Rectangle 3">
                <a:extLst>
                  <a:ext uri="{FF2B5EF4-FFF2-40B4-BE49-F238E27FC236}">
                    <a16:creationId xmlns:a16="http://schemas.microsoft.com/office/drawing/2014/main" id="{B4AA9950-4627-4A6A-AAAC-B542F1C189FC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755650" y="1412875"/>
                <a:ext cx="7920038" cy="4895850"/>
              </a:xfrm>
            </p:spPr>
            <p:txBody>
              <a:bodyPr rtlCol="0">
                <a:noAutofit/>
              </a:bodyPr>
              <a:lstStyle/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显然</a:t>
                </a: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marL="0" indent="0" fontAlgn="auto">
                  <a:lnSpc>
                    <a:spcPct val="90000"/>
                  </a:lnSpc>
                  <a:spcAft>
                    <a:spcPts val="0"/>
                  </a:spcAft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m:rPr>
                          <m:nor/>
                        </m:rPr>
                        <a:rPr lang="en-US" altLang="zh-CN" sz="2800" dirty="0">
                          <a:solidFill>
                            <a:srgbClr val="0000FF"/>
                          </a:solidFill>
                          <a:ea typeface="华文楷体" pitchFamily="2" charset="-122"/>
                        </a:rPr>
                        <m:t>(</m:t>
                      </m:r>
                      <m:r>
                        <m:rPr>
                          <m:nor/>
                        </m:rPr>
                        <a:rPr lang="el-GR" altLang="zh-CN" sz="2800" dirty="0">
                          <a:solidFill>
                            <a:srgbClr val="0000FF"/>
                          </a:solidFill>
                          <a:ea typeface="华文楷体" pitchFamily="2" charset="-122"/>
                        </a:rPr>
                        <m:t>π</m:t>
                      </m:r>
                      <m:r>
                        <m:rPr>
                          <m:nor/>
                        </m:rPr>
                        <a:rPr lang="en-US" altLang="zh-CN" sz="2800" dirty="0">
                          <a:solidFill>
                            <a:srgbClr val="0000FF"/>
                          </a:solidFill>
                          <a:ea typeface="华文楷体" pitchFamily="2" charset="-122"/>
                        </a:rPr>
                        <m:t>)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  <m:r>
                        <m:rPr>
                          <m:nor/>
                        </m:rPr>
                        <a:rPr lang="en-US" altLang="zh-CN" sz="2800" dirty="0">
                          <a:solidFill>
                            <a:srgbClr val="0000FF"/>
                          </a:solidFill>
                          <a:ea typeface="华文楷体" pitchFamily="2" charset="-122"/>
                        </a:rPr>
                        <m:t>(</m:t>
                      </m:r>
                      <m:r>
                        <m:rPr>
                          <m:nor/>
                        </m:rPr>
                        <a:rPr lang="el-GR" altLang="zh-CN" sz="2800" dirty="0">
                          <a:solidFill>
                            <a:srgbClr val="0000FF"/>
                          </a:solidFill>
                          <a:ea typeface="华文楷体" pitchFamily="2" charset="-122"/>
                        </a:rPr>
                        <m:t>π</m:t>
                      </m:r>
                      <m:r>
                        <m:rPr>
                          <m:nor/>
                        </m:rPr>
                        <a:rPr lang="en-US" altLang="zh-CN" sz="2800" dirty="0">
                          <a:solidFill>
                            <a:srgbClr val="0000FF"/>
                          </a:solidFill>
                          <a:ea typeface="华文楷体" pitchFamily="2" charset="-122"/>
                        </a:rPr>
                        <m:t>)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,2</m:t>
                          </m:r>
                        </m:sub>
                      </m:sSub>
                      <m:r>
                        <m:rPr>
                          <m:nor/>
                        </m:rPr>
                        <a:rPr lang="en-US" altLang="zh-CN" sz="2800" dirty="0">
                          <a:solidFill>
                            <a:srgbClr val="0000FF"/>
                          </a:solidFill>
                          <a:ea typeface="华文楷体" pitchFamily="2" charset="-122"/>
                        </a:rPr>
                        <m:t>(</m:t>
                      </m:r>
                      <m:r>
                        <m:rPr>
                          <m:nor/>
                        </m:rPr>
                        <a:rPr lang="el-GR" altLang="zh-CN" sz="2800" dirty="0">
                          <a:solidFill>
                            <a:srgbClr val="0000FF"/>
                          </a:solidFill>
                          <a:ea typeface="华文楷体" pitchFamily="2" charset="-122"/>
                        </a:rPr>
                        <m:t>π</m:t>
                      </m:r>
                      <m:r>
                        <m:rPr>
                          <m:nor/>
                        </m:rPr>
                        <a:rPr lang="en-US" altLang="zh-CN" sz="2800" dirty="0">
                          <a:solidFill>
                            <a:srgbClr val="0000FF"/>
                          </a:solidFill>
                          <a:ea typeface="华文楷体" pitchFamily="2" charset="-122"/>
                        </a:rPr>
                        <m:t>)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m:rPr>
                          <m:nor/>
                        </m:rPr>
                        <a:rPr lang="en-US" altLang="zh-CN" sz="2800" dirty="0">
                          <a:solidFill>
                            <a:srgbClr val="0000FF"/>
                          </a:solidFill>
                          <a:ea typeface="华文楷体" pitchFamily="2" charset="-122"/>
                        </a:rPr>
                        <m:t>(</m:t>
                      </m:r>
                      <m:r>
                        <m:rPr>
                          <m:nor/>
                        </m:rPr>
                        <a:rPr lang="el-GR" altLang="zh-CN" sz="2800" dirty="0">
                          <a:solidFill>
                            <a:srgbClr val="0000FF"/>
                          </a:solidFill>
                          <a:ea typeface="华文楷体" pitchFamily="2" charset="-122"/>
                        </a:rPr>
                        <m:t>π</m:t>
                      </m:r>
                      <m:r>
                        <m:rPr>
                          <m:nor/>
                        </m:rPr>
                        <a:rPr lang="en-US" altLang="zh-CN" sz="2800" dirty="0">
                          <a:solidFill>
                            <a:srgbClr val="0000FF"/>
                          </a:solidFill>
                          <a:ea typeface="华文楷体" pitchFamily="2" charset="-122"/>
                        </a:rPr>
                        <m:t>)</m:t>
                      </m:r>
                    </m:oMath>
                  </m:oMathPara>
                </a14:m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marL="0" indent="0" fontAlgn="auto">
                  <a:lnSpc>
                    <a:spcPct val="90000"/>
                  </a:lnSpc>
                  <a:spcAft>
                    <a:spcPts val="0"/>
                  </a:spcAft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,2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r>
                  <a:rPr lang="en-US" altLang="zh-CN" sz="2800" i="1" dirty="0" err="1">
                    <a:latin typeface="+mj-lt"/>
                    <a:ea typeface="华文楷体" pitchFamily="2" charset="-122"/>
                  </a:rPr>
                  <a:t>F</a:t>
                </a:r>
                <a:r>
                  <a:rPr lang="en-US" altLang="zh-CN" sz="2800" i="1" baseline="-25000" dirty="0" err="1">
                    <a:latin typeface="+mj-lt"/>
                    <a:ea typeface="华文楷体" pitchFamily="2" charset="-122"/>
                  </a:rPr>
                  <a:t>n,k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的期望值就是其等于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1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的概率，为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1/n</a:t>
                </a:r>
              </a:p>
              <a:p>
                <a:pPr marL="0" indent="0" algn="ctr" fontAlgn="auto">
                  <a:lnSpc>
                    <a:spcPct val="90000"/>
                  </a:lnSpc>
                  <a:spcAft>
                    <a:spcPts val="0"/>
                  </a:spcAft>
                  <a:buNone/>
                  <a:defRPr/>
                </a:pPr>
                <a:r>
                  <a:rPr lang="en-US" altLang="zh-CN" sz="2800" i="1" dirty="0">
                    <a:solidFill>
                      <a:srgbClr val="000000"/>
                    </a:solidFill>
                  </a:rPr>
                  <a:t>Ex</a:t>
                </a:r>
                <a:r>
                  <a:rPr lang="en-US" altLang="zh-CN" sz="2800" dirty="0">
                    <a:solidFill>
                      <a:srgbClr val="000000"/>
                    </a:solidFill>
                  </a:rPr>
                  <a:t>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  <m:sup/>
                      <m:e>
                        <m:func>
                          <m:funcPr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zh-CN" altLang="en-US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所以</a:t>
                </a: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也就是说，平均有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1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顶帽子落到正确的头上。</a:t>
                </a: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fontAlgn="auto">
                  <a:lnSpc>
                    <a:spcPct val="90000"/>
                  </a:lnSpc>
                  <a:spcAft>
                    <a:spcPts val="0"/>
                  </a:spcAft>
                  <a:defRPr/>
                </a:pPr>
                <a:endParaRPr lang="zh-CN" altLang="en-US" sz="2800" dirty="0">
                  <a:latin typeface="+mj-lt"/>
                  <a:ea typeface="华文楷体" pitchFamily="2" charset="-122"/>
                </a:endParaRPr>
              </a:p>
            </p:txBody>
          </p:sp>
        </mc:Choice>
        <mc:Fallback xmlns="">
          <p:sp>
            <p:nvSpPr>
              <p:cNvPr id="203779" name="Rectangle 3">
                <a:extLst>
                  <a:ext uri="{FF2B5EF4-FFF2-40B4-BE49-F238E27FC236}">
                    <a16:creationId xmlns:a16="http://schemas.microsoft.com/office/drawing/2014/main" id="{B4AA9950-4627-4A6A-AAAC-B542F1C189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55650" y="1412875"/>
                <a:ext cx="7920038" cy="4895850"/>
              </a:xfrm>
              <a:blipFill>
                <a:blip r:embed="rId2"/>
                <a:stretch>
                  <a:fillRect l="-1386" t="-22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01" name="Rectangle 4">
            <a:extLst>
              <a:ext uri="{FF2B5EF4-FFF2-40B4-BE49-F238E27FC236}">
                <a16:creationId xmlns:a16="http://schemas.microsoft.com/office/drawing/2014/main" id="{475155BF-7A03-4E2B-A35B-2204ECD9F1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8202" name="Rectangle 6">
            <a:extLst>
              <a:ext uri="{FF2B5EF4-FFF2-40B4-BE49-F238E27FC236}">
                <a16:creationId xmlns:a16="http://schemas.microsoft.com/office/drawing/2014/main" id="{DB72954D-0448-49C3-9F74-783AA6ECF2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95" name="Object 3">
                <a:extLst>
                  <a:ext uri="{FF2B5EF4-FFF2-40B4-BE49-F238E27FC236}">
                    <a16:creationId xmlns:a16="http://schemas.microsoft.com/office/drawing/2014/main" id="{7D50F027-9145-4D0E-92A7-64FF8587F1C6}"/>
                  </a:ext>
                </a:extLst>
              </p:cNvPr>
              <p:cNvSpPr txBox="1"/>
              <p:nvPr/>
            </p:nvSpPr>
            <p:spPr bwMode="auto">
              <a:xfrm>
                <a:off x="3124200" y="3679825"/>
                <a:ext cx="3473450" cy="90170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</m:d>
                        </m:e>
                      </m:func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195" name="Object 3">
                <a:extLst>
                  <a:ext uri="{FF2B5EF4-FFF2-40B4-BE49-F238E27FC236}">
                    <a16:creationId xmlns:a16="http://schemas.microsoft.com/office/drawing/2014/main" id="{7D50F027-9145-4D0E-92A7-64FF8587F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24200" y="3679825"/>
                <a:ext cx="3473450" cy="9017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96" name="Object 4">
                <a:extLst>
                  <a:ext uri="{FF2B5EF4-FFF2-40B4-BE49-F238E27FC236}">
                    <a16:creationId xmlns:a16="http://schemas.microsoft.com/office/drawing/2014/main" id="{C38A36A0-65E9-4EA4-BF60-3ED2AD200AB4}"/>
                  </a:ext>
                </a:extLst>
              </p:cNvPr>
              <p:cNvSpPr txBox="1"/>
              <p:nvPr/>
            </p:nvSpPr>
            <p:spPr bwMode="auto">
              <a:xfrm>
                <a:off x="2196517" y="4437112"/>
                <a:ext cx="1855366" cy="613767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196" name="Object 4">
                <a:extLst>
                  <a:ext uri="{FF2B5EF4-FFF2-40B4-BE49-F238E27FC236}">
                    <a16:creationId xmlns:a16="http://schemas.microsoft.com/office/drawing/2014/main" id="{C38A36A0-65E9-4EA4-BF60-3ED2AD200A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96517" y="4437112"/>
                <a:ext cx="1855366" cy="61376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75273914-E294-4FF1-BDD1-8BEC502249D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4930696-C07E-465E-86D7-42DC439530E5}" type="datetime1">
              <a:rPr lang="zh-CN" altLang="en-US"/>
              <a:pPr>
                <a:defRPr/>
              </a:pPr>
              <a:t>2022/4/9</a:t>
            </a:fld>
            <a:endParaRPr lang="en-US" altLang="zh-CN"/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72F1C65E-DA22-4988-AA3A-AEE1EC825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7BA27201-B915-4C91-A95A-9347A07BDDDC}" type="slidenum">
              <a:rPr lang="en-US" altLang="zh-CN">
                <a:solidFill>
                  <a:srgbClr val="898989"/>
                </a:solidFill>
              </a:rPr>
              <a:pPr algn="ctr"/>
              <a:t>25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9221" name="Rectangle 2">
            <a:extLst>
              <a:ext uri="{FF2B5EF4-FFF2-40B4-BE49-F238E27FC236}">
                <a16:creationId xmlns:a16="http://schemas.microsoft.com/office/drawing/2014/main" id="{4631BD6E-8CC9-4DFE-8050-A855692132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800">
                <a:ea typeface="华文楷体" panose="02010600040101010101" pitchFamily="2" charset="-122"/>
              </a:rPr>
              <a:t>方差的例子：足球胜利问题</a:t>
            </a:r>
          </a:p>
        </p:txBody>
      </p:sp>
      <p:sp>
        <p:nvSpPr>
          <p:cNvPr id="203779" name="Rectangle 3">
            <a:extLst>
              <a:ext uri="{FF2B5EF4-FFF2-40B4-BE49-F238E27FC236}">
                <a16:creationId xmlns:a16="http://schemas.microsoft.com/office/drawing/2014/main" id="{547AF19A-7876-4726-87C4-E115BD5EB4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412875"/>
            <a:ext cx="7920038" cy="4895850"/>
          </a:xfrm>
        </p:spPr>
        <p:txBody>
          <a:bodyPr rtlCol="0">
            <a:noAutofit/>
          </a:bodyPr>
          <a:lstStyle/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>
                <a:latin typeface="+mj-lt"/>
                <a:ea typeface="华文楷体" pitchFamily="2" charset="-122"/>
              </a:rPr>
              <a:t>那么</a:t>
            </a:r>
            <a:r>
              <a:rPr lang="en-US" altLang="zh-CN" sz="2800" i="1">
                <a:latin typeface="+mj-lt"/>
                <a:ea typeface="华文楷体" pitchFamily="2" charset="-122"/>
              </a:rPr>
              <a:t>F</a:t>
            </a:r>
            <a:r>
              <a:rPr lang="en-US" altLang="zh-CN" sz="2800" i="1" baseline="-25000">
                <a:latin typeface="+mj-lt"/>
                <a:ea typeface="华文楷体" pitchFamily="2" charset="-122"/>
              </a:rPr>
              <a:t>n</a:t>
            </a:r>
            <a:r>
              <a:rPr lang="zh-CN" altLang="en-US" sz="2800">
                <a:latin typeface="+mj-lt"/>
                <a:ea typeface="华文楷体" pitchFamily="2" charset="-122"/>
              </a:rPr>
              <a:t>的标准差是什么呢？情况稍微复杂一些，因为</a:t>
            </a:r>
            <a:r>
              <a:rPr lang="en-US" altLang="zh-CN" sz="2800" i="1">
                <a:latin typeface="+mj-lt"/>
                <a:ea typeface="华文楷体" pitchFamily="2" charset="-122"/>
              </a:rPr>
              <a:t>F</a:t>
            </a:r>
            <a:r>
              <a:rPr lang="en-US" altLang="zh-CN" sz="2800" i="1" baseline="-25000">
                <a:latin typeface="+mj-lt"/>
                <a:ea typeface="华文楷体" pitchFamily="2" charset="-122"/>
              </a:rPr>
              <a:t>n,k</a:t>
            </a:r>
            <a:r>
              <a:rPr lang="zh-CN" altLang="en-US" sz="2800">
                <a:latin typeface="+mj-lt"/>
                <a:ea typeface="华文楷体" pitchFamily="2" charset="-122"/>
              </a:rPr>
              <a:t>之间</a:t>
            </a:r>
            <a:r>
              <a:rPr lang="zh-CN" altLang="en-US" sz="2800">
                <a:ea typeface="华文楷体" pitchFamily="2" charset="-122"/>
              </a:rPr>
              <a:t>不</a:t>
            </a:r>
            <a:r>
              <a:rPr lang="zh-CN" altLang="en-US" sz="2800">
                <a:latin typeface="+mj-lt"/>
                <a:ea typeface="华文楷体" pitchFamily="2" charset="-122"/>
              </a:rPr>
              <a:t>是独立的。所以下面将它展开来分析</a:t>
            </a:r>
            <a:endParaRPr lang="en-US" altLang="zh-CN" sz="280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zh-CN" altLang="en-US" sz="2800">
              <a:latin typeface="+mj-lt"/>
              <a:ea typeface="华文楷体" pitchFamily="2" charset="-122"/>
            </a:endParaRPr>
          </a:p>
        </p:txBody>
      </p:sp>
      <p:sp>
        <p:nvSpPr>
          <p:cNvPr id="9223" name="Rectangle 4">
            <a:extLst>
              <a:ext uri="{FF2B5EF4-FFF2-40B4-BE49-F238E27FC236}">
                <a16:creationId xmlns:a16="http://schemas.microsoft.com/office/drawing/2014/main" id="{FBC2D6C5-BAFE-41C4-ADCD-BC082E55C3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9224" name="Rectangle 6">
            <a:extLst>
              <a:ext uri="{FF2B5EF4-FFF2-40B4-BE49-F238E27FC236}">
                <a16:creationId xmlns:a16="http://schemas.microsoft.com/office/drawing/2014/main" id="{24C3A155-E26A-47B5-B646-E3070F1D22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18" name="Object 2">
                <a:extLst>
                  <a:ext uri="{FF2B5EF4-FFF2-40B4-BE49-F238E27FC236}">
                    <a16:creationId xmlns:a16="http://schemas.microsoft.com/office/drawing/2014/main" id="{5455BB31-58F8-40EB-9BE3-C0DAE610B09F}"/>
                  </a:ext>
                </a:extLst>
              </p:cNvPr>
              <p:cNvSpPr txBox="1"/>
              <p:nvPr/>
            </p:nvSpPr>
            <p:spPr bwMode="auto">
              <a:xfrm>
                <a:off x="2124075" y="2492375"/>
                <a:ext cx="5514975" cy="366395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m:rPr>
                          <m:aln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,1</m:t>
                                      </m:r>
                                    </m:sub>
                                  </m:s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,2</m:t>
                                      </m:r>
                                    </m:sub>
                                  </m:s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+⋯+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nary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nary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d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218" name="Object 2">
                <a:extLst>
                  <a:ext uri="{FF2B5EF4-FFF2-40B4-BE49-F238E27FC236}">
                    <a16:creationId xmlns:a16="http://schemas.microsoft.com/office/drawing/2014/main" id="{5455BB31-58F8-40EB-9BE3-C0DAE610B0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24075" y="2492375"/>
                <a:ext cx="5514975" cy="36639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9FD2D6A5-76AD-43FE-8A31-AB1738B91DA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4930696-C07E-465E-86D7-42DC439530E5}" type="datetime1">
              <a:rPr lang="zh-CN" altLang="en-US"/>
              <a:pPr>
                <a:defRPr/>
              </a:pPr>
              <a:t>2022/4/9</a:t>
            </a:fld>
            <a:endParaRPr lang="en-US" altLang="zh-CN"/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2C8A5958-D4F1-49EE-954C-D779D164B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7CF1F525-314B-4FA2-BB07-0195F66BD6E6}" type="slidenum">
              <a:rPr lang="en-US" altLang="zh-CN">
                <a:solidFill>
                  <a:srgbClr val="898989"/>
                </a:solidFill>
              </a:rPr>
              <a:pPr algn="ctr"/>
              <a:t>26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0249" name="Rectangle 2">
            <a:extLst>
              <a:ext uri="{FF2B5EF4-FFF2-40B4-BE49-F238E27FC236}">
                <a16:creationId xmlns:a16="http://schemas.microsoft.com/office/drawing/2014/main" id="{D9D92BFB-5401-4738-9327-7D3889F028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800">
                <a:ea typeface="华文楷体" panose="02010600040101010101" pitchFamily="2" charset="-122"/>
              </a:rPr>
              <a:t>方差的例子：足球胜利问题</a:t>
            </a:r>
          </a:p>
        </p:txBody>
      </p:sp>
      <p:sp>
        <p:nvSpPr>
          <p:cNvPr id="203779" name="Rectangle 3">
            <a:extLst>
              <a:ext uri="{FF2B5EF4-FFF2-40B4-BE49-F238E27FC236}">
                <a16:creationId xmlns:a16="http://schemas.microsoft.com/office/drawing/2014/main" id="{DD299518-D40F-4713-AE46-AE1566D635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412875"/>
            <a:ext cx="7920038" cy="4895850"/>
          </a:xfrm>
        </p:spPr>
        <p:txBody>
          <a:bodyPr rtlCol="0">
            <a:noAutofit/>
          </a:bodyPr>
          <a:lstStyle/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由于</a:t>
            </a:r>
            <a:r>
              <a:rPr lang="en-US" altLang="zh-CN" sz="2800" i="1" dirty="0" err="1">
                <a:latin typeface="+mj-lt"/>
                <a:ea typeface="华文楷体" pitchFamily="2" charset="-122"/>
              </a:rPr>
              <a:t>F</a:t>
            </a:r>
            <a:r>
              <a:rPr lang="en-US" altLang="zh-CN" sz="2800" i="1" baseline="-25000" dirty="0" err="1">
                <a:latin typeface="+mj-lt"/>
                <a:ea typeface="华文楷体" pitchFamily="2" charset="-122"/>
              </a:rPr>
              <a:t>n,k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的值不是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0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就是</a:t>
            </a:r>
            <a:r>
              <a:rPr lang="en-US" altLang="zh-CN" sz="2800" dirty="0">
                <a:latin typeface="+mj-lt"/>
                <a:ea typeface="华文楷体" pitchFamily="2" charset="-122"/>
              </a:rPr>
              <a:t>1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，因此有</a:t>
            </a: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所以</a:t>
            </a: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1400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对于后一项</a:t>
            </a: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因此得到</a:t>
            </a: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2800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en-US" altLang="zh-CN" sz="1600" dirty="0">
              <a:latin typeface="+mj-lt"/>
              <a:ea typeface="华文楷体" pitchFamily="2" charset="-122"/>
            </a:endParaRP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800" dirty="0">
                <a:latin typeface="+mj-lt"/>
                <a:ea typeface="华文楷体" pitchFamily="2" charset="-122"/>
              </a:rPr>
              <a:t>从而</a:t>
            </a:r>
            <a:r>
              <a:rPr lang="en-US" altLang="zh-CN" sz="2800" i="1" dirty="0" err="1">
                <a:ea typeface="华文楷体" pitchFamily="2" charset="-122"/>
              </a:rPr>
              <a:t>F</a:t>
            </a:r>
            <a:r>
              <a:rPr lang="en-US" altLang="zh-CN" sz="2800" i="1" baseline="-25000" dirty="0" err="1">
                <a:ea typeface="华文楷体" pitchFamily="2" charset="-122"/>
              </a:rPr>
              <a:t>n</a:t>
            </a:r>
            <a:r>
              <a:rPr lang="zh-CN" altLang="en-US" sz="2800" dirty="0">
                <a:latin typeface="+mj-lt"/>
                <a:ea typeface="华文楷体" pitchFamily="2" charset="-122"/>
              </a:rPr>
              <a:t>的方差为</a:t>
            </a:r>
          </a:p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endParaRPr lang="zh-CN" altLang="en-US" sz="2800" dirty="0">
              <a:latin typeface="+mj-lt"/>
              <a:ea typeface="华文楷体" pitchFamily="2" charset="-122"/>
            </a:endParaRPr>
          </a:p>
        </p:txBody>
      </p:sp>
      <p:sp>
        <p:nvSpPr>
          <p:cNvPr id="10251" name="Rectangle 4">
            <a:extLst>
              <a:ext uri="{FF2B5EF4-FFF2-40B4-BE49-F238E27FC236}">
                <a16:creationId xmlns:a16="http://schemas.microsoft.com/office/drawing/2014/main" id="{8FE81AF7-F4E9-4B8A-9CA2-B9ABC2E585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0252" name="Rectangle 6">
            <a:extLst>
              <a:ext uri="{FF2B5EF4-FFF2-40B4-BE49-F238E27FC236}">
                <a16:creationId xmlns:a16="http://schemas.microsoft.com/office/drawing/2014/main" id="{69561107-C019-4FE1-BDFD-30CC73A1F5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42" name="Object 2">
                <a:extLst>
                  <a:ext uri="{FF2B5EF4-FFF2-40B4-BE49-F238E27FC236}">
                    <a16:creationId xmlns:a16="http://schemas.microsoft.com/office/drawing/2014/main" id="{EFB6716D-BFB3-4417-9E30-328D77DAAFF5}"/>
                  </a:ext>
                </a:extLst>
              </p:cNvPr>
              <p:cNvSpPr txBox="1"/>
              <p:nvPr/>
            </p:nvSpPr>
            <p:spPr bwMode="auto">
              <a:xfrm>
                <a:off x="6300788" y="1412875"/>
                <a:ext cx="1295400" cy="50800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0242" name="Object 2">
                <a:extLst>
                  <a:ext uri="{FF2B5EF4-FFF2-40B4-BE49-F238E27FC236}">
                    <a16:creationId xmlns:a16="http://schemas.microsoft.com/office/drawing/2014/main" id="{EFB6716D-BFB3-4417-9E30-328D77DAAF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00788" y="1412875"/>
                <a:ext cx="1295400" cy="508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43" name="Object 3">
                <a:extLst>
                  <a:ext uri="{FF2B5EF4-FFF2-40B4-BE49-F238E27FC236}">
                    <a16:creationId xmlns:a16="http://schemas.microsoft.com/office/drawing/2014/main" id="{057B69A9-AE20-41D8-BB19-56699880FE2E}"/>
                  </a:ext>
                </a:extLst>
              </p:cNvPr>
              <p:cNvSpPr txBox="1"/>
              <p:nvPr/>
            </p:nvSpPr>
            <p:spPr bwMode="auto">
              <a:xfrm>
                <a:off x="1979613" y="1773238"/>
                <a:ext cx="2663825" cy="80803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0243" name="Object 3">
                <a:extLst>
                  <a:ext uri="{FF2B5EF4-FFF2-40B4-BE49-F238E27FC236}">
                    <a16:creationId xmlns:a16="http://schemas.microsoft.com/office/drawing/2014/main" id="{057B69A9-AE20-41D8-BB19-56699880FE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79613" y="1773238"/>
                <a:ext cx="2663825" cy="8080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44" name="Object 5">
                <a:extLst>
                  <a:ext uri="{FF2B5EF4-FFF2-40B4-BE49-F238E27FC236}">
                    <a16:creationId xmlns:a16="http://schemas.microsoft.com/office/drawing/2014/main" id="{A2DA1151-9049-417D-9A9A-4644AC1EF58C}"/>
                  </a:ext>
                </a:extLst>
              </p:cNvPr>
              <p:cNvSpPr txBox="1"/>
              <p:nvPr/>
            </p:nvSpPr>
            <p:spPr bwMode="auto">
              <a:xfrm>
                <a:off x="2947988" y="2573301"/>
                <a:ext cx="5838825" cy="13684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m:rPr>
                          <m:aln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帽子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和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的位置都是正确的</m:t>
                              </m:r>
                            </m:e>
                          </m:d>
                        </m:e>
                      </m:func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d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244" name="Object 5">
                <a:extLst>
                  <a:ext uri="{FF2B5EF4-FFF2-40B4-BE49-F238E27FC236}">
                    <a16:creationId xmlns:a16="http://schemas.microsoft.com/office/drawing/2014/main" id="{A2DA1151-9049-417D-9A9A-4644AC1EF5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47988" y="2573301"/>
                <a:ext cx="5838825" cy="13684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45" name="Object 6">
                <a:extLst>
                  <a:ext uri="{FF2B5EF4-FFF2-40B4-BE49-F238E27FC236}">
                    <a16:creationId xmlns:a16="http://schemas.microsoft.com/office/drawing/2014/main" id="{0B03D6D5-86C3-4556-B720-850A18F1CB87}"/>
                  </a:ext>
                </a:extLst>
              </p:cNvPr>
              <p:cNvSpPr txBox="1"/>
              <p:nvPr/>
            </p:nvSpPr>
            <p:spPr bwMode="auto">
              <a:xfrm>
                <a:off x="2670175" y="4005263"/>
                <a:ext cx="4926013" cy="158432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m:rPr>
                          <m:aln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d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245" name="Object 6">
                <a:extLst>
                  <a:ext uri="{FF2B5EF4-FFF2-40B4-BE49-F238E27FC236}">
                    <a16:creationId xmlns:a16="http://schemas.microsoft.com/office/drawing/2014/main" id="{0B03D6D5-86C3-4556-B720-850A18F1CB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70175" y="4005263"/>
                <a:ext cx="4926013" cy="15843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46" name="Object 7">
                <a:extLst>
                  <a:ext uri="{FF2B5EF4-FFF2-40B4-BE49-F238E27FC236}">
                    <a16:creationId xmlns:a16="http://schemas.microsoft.com/office/drawing/2014/main" id="{8988F6B0-F762-4786-840F-5F06F64A8A82}"/>
                  </a:ext>
                </a:extLst>
              </p:cNvPr>
              <p:cNvSpPr txBox="1"/>
              <p:nvPr/>
            </p:nvSpPr>
            <p:spPr bwMode="auto">
              <a:xfrm>
                <a:off x="3671888" y="5693569"/>
                <a:ext cx="3924300" cy="51117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=2−1=1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246" name="Object 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988F6B0-F762-4786-840F-5F06F64A8A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71888" y="5693569"/>
                <a:ext cx="3924300" cy="51117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DB55453B-BA96-4F67-BB0B-1B692F7921F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4930696-C07E-465E-86D7-42DC439530E5}" type="datetime1">
              <a:rPr lang="zh-CN" altLang="en-US"/>
              <a:pPr>
                <a:defRPr/>
              </a:pPr>
              <a:t>2022/4/9</a:t>
            </a:fld>
            <a:endParaRPr lang="en-US" altLang="zh-CN"/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70459B09-334C-4EF7-B7CE-C51C07431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DBF71921-5906-44A8-9279-4163E748657D}" type="slidenum">
              <a:rPr lang="en-US" altLang="zh-CN">
                <a:solidFill>
                  <a:srgbClr val="898989"/>
                </a:solidFill>
              </a:rPr>
              <a:pPr algn="ctr"/>
              <a:t>27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23556" name="Rectangle 2">
            <a:extLst>
              <a:ext uri="{FF2B5EF4-FFF2-40B4-BE49-F238E27FC236}">
                <a16:creationId xmlns:a16="http://schemas.microsoft.com/office/drawing/2014/main" id="{68E144F4-4275-4994-8B58-236E22DA1E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 </a:t>
            </a:r>
            <a:r>
              <a:rPr lang="zh-CN" altLang="zh-CN" dirty="0"/>
              <a:t>个</a:t>
            </a:r>
            <a:r>
              <a:rPr lang="zh-CN" altLang="en-US" dirty="0"/>
              <a:t>独立</a:t>
            </a:r>
            <a:r>
              <a:rPr lang="zh-CN" altLang="zh-CN" dirty="0"/>
              <a:t>样本的平均值</a:t>
            </a:r>
            <a:endParaRPr lang="zh-CN" altLang="en-US" sz="4800" dirty="0">
              <a:ea typeface="华文楷体" panose="0201060004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3779" name="Rectangle 3">
                <a:extLst>
                  <a:ext uri="{FF2B5EF4-FFF2-40B4-BE49-F238E27FC236}">
                    <a16:creationId xmlns:a16="http://schemas.microsoft.com/office/drawing/2014/main" id="{3A35609D-8B4A-40DA-A08C-BD92F0B05429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755650" y="1412875"/>
                <a:ext cx="7920038" cy="5308600"/>
              </a:xfrm>
            </p:spPr>
            <p:txBody>
              <a:bodyPr rtlCol="0">
                <a:noAutofit/>
              </a:bodyPr>
              <a:lstStyle/>
              <a:p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设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 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概率空间</a:t>
                </a:r>
                <a:r>
                  <a:rPr lang="zh-CN" altLang="en-US" sz="2800" dirty="0">
                    <a:latin typeface="+mj-lt"/>
                    <a:ea typeface="华文楷体" pitchFamily="2" charset="-122"/>
                    <a:sym typeface="Symbol" panose="05050102010706020507" pitchFamily="18" charset="2"/>
                  </a:rPr>
                  <a:t>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上的随机变量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X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的均值和标准差分别为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μ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和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σ</a:t>
                </a:r>
              </a:p>
              <a:p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考虑概率空间</a:t>
                </a:r>
                <a:r>
                  <a:rPr lang="zh-CN" altLang="en-US" sz="2800" dirty="0">
                    <a:ea typeface="华文楷体" pitchFamily="2" charset="-122"/>
                    <a:sym typeface="Symbol" panose="05050102010706020507" pitchFamily="18" charset="2"/>
                  </a:rPr>
                  <a:t></a:t>
                </a:r>
                <a:r>
                  <a:rPr lang="en-US" altLang="zh-CN" sz="2800" baseline="30000" dirty="0">
                    <a:ea typeface="华文楷体" pitchFamily="2" charset="-122"/>
                    <a:sym typeface="Symbol" panose="05050102010706020507" pitchFamily="18" charset="2"/>
                  </a:rPr>
                  <a:t>n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 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，基本事件是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n 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元事件组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(</a:t>
                </a:r>
                <a:r>
                  <a:rPr lang="en-US" altLang="zh-CN" sz="2800" dirty="0">
                    <a:latin typeface="+mj-lt"/>
                    <a:ea typeface="华文楷体" pitchFamily="2" charset="-122"/>
                    <a:sym typeface="Symbol" panose="05050102010706020507" pitchFamily="18" charset="2"/>
                  </a:rPr>
                  <a:t></a:t>
                </a:r>
                <a:r>
                  <a:rPr lang="en-US" altLang="zh-CN" sz="2800" baseline="-25000" dirty="0">
                    <a:latin typeface="+mj-lt"/>
                    <a:ea typeface="华文楷体" pitchFamily="2" charset="-122"/>
                    <a:sym typeface="Symbol" panose="05050102010706020507" pitchFamily="18" charset="2"/>
                  </a:rPr>
                  <a:t>1</a:t>
                </a:r>
                <a:r>
                  <a:rPr lang="en-US" altLang="zh-CN" sz="2800" dirty="0">
                    <a:latin typeface="+mj-lt"/>
                    <a:ea typeface="华文楷体" pitchFamily="2" charset="-122"/>
                    <a:sym typeface="Symbol" panose="05050102010706020507" pitchFamily="18" charset="2"/>
                  </a:rPr>
                  <a:t>,…,</a:t>
                </a:r>
                <a:r>
                  <a:rPr lang="en-US" altLang="zh-CN" sz="2800" dirty="0">
                    <a:ea typeface="华文楷体" pitchFamily="2" charset="-122"/>
                    <a:sym typeface="Symbol" panose="05050102010706020507" pitchFamily="18" charset="2"/>
                  </a:rPr>
                  <a:t> </a:t>
                </a:r>
                <a:r>
                  <a:rPr lang="en-US" altLang="zh-CN" sz="2800" baseline="-25000" dirty="0">
                    <a:ea typeface="华文楷体" pitchFamily="2" charset="-122"/>
                    <a:sym typeface="Symbol" panose="05050102010706020507" pitchFamily="18" charset="2"/>
                  </a:rPr>
                  <a:t>n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)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，其中</a:t>
                </a:r>
                <a:r>
                  <a:rPr lang="en-US" altLang="zh-CN" sz="2800" dirty="0">
                    <a:ea typeface="华文楷体" pitchFamily="2" charset="-122"/>
                    <a:sym typeface="Symbol" panose="05050102010706020507" pitchFamily="18" charset="2"/>
                  </a:rPr>
                  <a:t></a:t>
                </a:r>
                <a:r>
                  <a:rPr lang="en-US" altLang="zh-CN" sz="2800" baseline="-25000" dirty="0" err="1">
                    <a:ea typeface="华文楷体" pitchFamily="2" charset="-122"/>
                    <a:sym typeface="Symbol" panose="05050102010706020507" pitchFamily="18" charset="2"/>
                  </a:rPr>
                  <a:t>i</a:t>
                </a:r>
                <a:r>
                  <a:rPr lang="zh-CN" altLang="en-US" sz="2800" dirty="0">
                    <a:latin typeface="+mj-lt"/>
                    <a:ea typeface="华文楷体" pitchFamily="2" charset="-122"/>
                    <a:sym typeface="Symbol" panose="05050102010706020507" pitchFamily="18" charset="2"/>
                  </a:rPr>
                  <a:t></a:t>
                </a:r>
                <a:r>
                  <a:rPr lang="zh-CN" altLang="en-US" sz="2800" dirty="0">
                    <a:ea typeface="华文楷体" pitchFamily="2" charset="-122"/>
                    <a:sym typeface="Symbol" panose="05050102010706020507" pitchFamily="18" charset="2"/>
                  </a:rPr>
                  <a:t>，</a:t>
                </a:r>
                <a:r>
                  <a:rPr lang="en-US" altLang="zh-CN" sz="2800" dirty="0" err="1">
                    <a:latin typeface="+mj-lt"/>
                    <a:ea typeface="华文楷体" pitchFamily="2" charset="-122"/>
                  </a:rPr>
                  <a:t>Pr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(</a:t>
                </a:r>
                <a:r>
                  <a:rPr lang="en-US" altLang="zh-CN" sz="2800" dirty="0">
                    <a:ea typeface="华文楷体" pitchFamily="2" charset="-122"/>
                    <a:sym typeface="Symbol" panose="05050102010706020507" pitchFamily="18" charset="2"/>
                  </a:rPr>
                  <a:t></a:t>
                </a:r>
                <a:r>
                  <a:rPr lang="en-US" altLang="zh-CN" sz="2800" baseline="-25000" dirty="0">
                    <a:ea typeface="华文楷体" pitchFamily="2" charset="-122"/>
                    <a:sym typeface="Symbol" panose="05050102010706020507" pitchFamily="18" charset="2"/>
                  </a:rPr>
                  <a:t>1</a:t>
                </a:r>
                <a:r>
                  <a:rPr lang="en-US" altLang="zh-CN" sz="2800" dirty="0">
                    <a:ea typeface="华文楷体" pitchFamily="2" charset="-122"/>
                    <a:sym typeface="Symbol" panose="05050102010706020507" pitchFamily="18" charset="2"/>
                  </a:rPr>
                  <a:t>,…, </a:t>
                </a:r>
                <a:r>
                  <a:rPr lang="en-US" altLang="zh-CN" sz="2800" baseline="-25000" dirty="0">
                    <a:ea typeface="华文楷体" pitchFamily="2" charset="-122"/>
                    <a:sym typeface="Symbol" panose="05050102010706020507" pitchFamily="18" charset="2"/>
                  </a:rPr>
                  <a:t>n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)=</a:t>
                </a:r>
                <a:r>
                  <a:rPr lang="en-US" altLang="zh-CN" sz="2800" dirty="0" err="1">
                    <a:latin typeface="+mj-lt"/>
                    <a:ea typeface="华文楷体" pitchFamily="2" charset="-122"/>
                  </a:rPr>
                  <a:t>Pr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(</a:t>
                </a:r>
                <a:r>
                  <a:rPr lang="en-US" altLang="zh-CN" sz="2800" dirty="0">
                    <a:ea typeface="华文楷体" pitchFamily="2" charset="-122"/>
                    <a:sym typeface="Symbol" panose="05050102010706020507" pitchFamily="18" charset="2"/>
                  </a:rPr>
                  <a:t></a:t>
                </a:r>
                <a:r>
                  <a:rPr lang="en-US" altLang="zh-CN" sz="2800" baseline="-25000" dirty="0">
                    <a:ea typeface="华文楷体" pitchFamily="2" charset="-122"/>
                    <a:sym typeface="Symbol" panose="05050102010706020507" pitchFamily="18" charset="2"/>
                  </a:rPr>
                  <a:t>1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)…</a:t>
                </a:r>
                <a:r>
                  <a:rPr lang="en-US" altLang="zh-CN" sz="2800" dirty="0" err="1">
                    <a:latin typeface="+mj-lt"/>
                    <a:ea typeface="华文楷体" pitchFamily="2" charset="-122"/>
                  </a:rPr>
                  <a:t>Pr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(</a:t>
                </a:r>
                <a:r>
                  <a:rPr lang="en-US" altLang="zh-CN" sz="2800" dirty="0">
                    <a:ea typeface="华文楷体" pitchFamily="2" charset="-122"/>
                    <a:sym typeface="Symbol" panose="05050102010706020507" pitchFamily="18" charset="2"/>
                  </a:rPr>
                  <a:t></a:t>
                </a:r>
                <a:r>
                  <a:rPr lang="en-US" altLang="zh-CN" sz="2800" baseline="-25000" dirty="0">
                    <a:ea typeface="华文楷体" pitchFamily="2" charset="-122"/>
                    <a:sym typeface="Symbol" panose="05050102010706020507" pitchFamily="18" charset="2"/>
                  </a:rPr>
                  <a:t>n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)</a:t>
                </a:r>
              </a:p>
              <a:p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随机变量</a:t>
                </a:r>
                <a:r>
                  <a:rPr lang="en-US" altLang="zh-CN" sz="2800" dirty="0" err="1">
                    <a:latin typeface="+mj-lt"/>
                    <a:ea typeface="华文楷体" pitchFamily="2" charset="-122"/>
                  </a:rPr>
                  <a:t>X</a:t>
                </a:r>
                <a:r>
                  <a:rPr lang="en-US" altLang="zh-CN" sz="2800" baseline="-25000" dirty="0" err="1">
                    <a:latin typeface="+mj-lt"/>
                    <a:ea typeface="华文楷体" pitchFamily="2" charset="-122"/>
                  </a:rPr>
                  <a:t>k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定义为：</a:t>
                </a:r>
                <a:r>
                  <a:rPr lang="en-US" altLang="zh-CN" sz="2800" dirty="0" err="1">
                    <a:ea typeface="华文楷体" pitchFamily="2" charset="-122"/>
                  </a:rPr>
                  <a:t>X</a:t>
                </a:r>
                <a:r>
                  <a:rPr lang="en-US" altLang="zh-CN" sz="2800" baseline="-25000" dirty="0" err="1">
                    <a:ea typeface="华文楷体" pitchFamily="2" charset="-122"/>
                  </a:rPr>
                  <a:t>k</a:t>
                </a:r>
                <a:r>
                  <a:rPr lang="en-US" altLang="zh-CN" sz="2800" dirty="0">
                    <a:ea typeface="华文楷体" pitchFamily="2" charset="-122"/>
                  </a:rPr>
                  <a:t>(</a:t>
                </a:r>
                <a:r>
                  <a:rPr lang="en-US" altLang="zh-CN" sz="2800" dirty="0">
                    <a:ea typeface="华文楷体" pitchFamily="2" charset="-122"/>
                    <a:sym typeface="Symbol" panose="05050102010706020507" pitchFamily="18" charset="2"/>
                  </a:rPr>
                  <a:t></a:t>
                </a:r>
                <a:r>
                  <a:rPr lang="en-US" altLang="zh-CN" sz="2800" baseline="-25000" dirty="0">
                    <a:ea typeface="华文楷体" pitchFamily="2" charset="-122"/>
                    <a:sym typeface="Symbol" panose="05050102010706020507" pitchFamily="18" charset="2"/>
                  </a:rPr>
                  <a:t>1</a:t>
                </a:r>
                <a:r>
                  <a:rPr lang="en-US" altLang="zh-CN" sz="2800" dirty="0">
                    <a:ea typeface="华文楷体" pitchFamily="2" charset="-122"/>
                    <a:sym typeface="Symbol" panose="05050102010706020507" pitchFamily="18" charset="2"/>
                  </a:rPr>
                  <a:t>,…, </a:t>
                </a:r>
                <a:r>
                  <a:rPr lang="en-US" altLang="zh-CN" sz="2800" baseline="-25000" dirty="0">
                    <a:ea typeface="华文楷体" pitchFamily="2" charset="-122"/>
                    <a:sym typeface="Symbol" panose="05050102010706020507" pitchFamily="18" charset="2"/>
                  </a:rPr>
                  <a:t>n</a:t>
                </a:r>
                <a:r>
                  <a:rPr lang="en-US" altLang="zh-CN" sz="2800" dirty="0">
                    <a:ea typeface="华文楷体" pitchFamily="2" charset="-122"/>
                  </a:rPr>
                  <a:t>)=X(</a:t>
                </a:r>
                <a:r>
                  <a:rPr lang="en-US" altLang="zh-CN" sz="2800" dirty="0">
                    <a:ea typeface="华文楷体" pitchFamily="2" charset="-122"/>
                    <a:sym typeface="Symbol" panose="05050102010706020507" pitchFamily="18" charset="2"/>
                  </a:rPr>
                  <a:t></a:t>
                </a:r>
                <a:r>
                  <a:rPr lang="en-US" altLang="zh-CN" sz="2800" baseline="-25000" dirty="0">
                    <a:ea typeface="华文楷体" pitchFamily="2" charset="-122"/>
                    <a:sym typeface="Symbol" panose="05050102010706020507" pitchFamily="18" charset="2"/>
                  </a:rPr>
                  <a:t>k</a:t>
                </a:r>
                <a:r>
                  <a:rPr lang="en-US" altLang="zh-CN" sz="2800" dirty="0">
                    <a:ea typeface="华文楷体" pitchFamily="2" charset="-122"/>
                  </a:rPr>
                  <a:t>)</a:t>
                </a:r>
              </a:p>
              <a:p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n 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个独立随机变量的平均值（</a:t>
                </a:r>
                <a:r>
                  <a:rPr lang="zh-CN" altLang="zh-CN" sz="2800" dirty="0">
                    <a:latin typeface="+mj-lt"/>
                    <a:ea typeface="华文楷体" pitchFamily="2" charset="-122"/>
                  </a:rPr>
                  <a:t>Ω上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X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的</a:t>
                </a:r>
                <a:r>
                  <a:rPr lang="en-US" altLang="zh-CN" sz="2800" dirty="0">
                    <a:latin typeface="+mj-lt"/>
                    <a:ea typeface="华文楷体" pitchFamily="2" charset="-122"/>
                  </a:rPr>
                  <a:t>n</a:t>
                </a:r>
                <a:r>
                  <a:rPr lang="zh-CN" altLang="zh-CN" sz="2800" dirty="0">
                    <a:latin typeface="+mj-lt"/>
                    <a:ea typeface="华文楷体" pitchFamily="2" charset="-122"/>
                  </a:rPr>
                  <a:t>个独立样本</a:t>
                </a:r>
                <a:r>
                  <a:rPr lang="zh-CN" altLang="en-US" sz="2800" dirty="0">
                    <a:latin typeface="+mj-lt"/>
                    <a:ea typeface="华文楷体" pitchFamily="2" charset="-122"/>
                  </a:rPr>
                  <a:t>的平均值）</a:t>
                </a:r>
                <a:r>
                  <a:rPr lang="zh-CN" altLang="zh-CN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f>
                          <m:fPr>
                            <m:ctrlPr>
                              <a:rPr lang="zh-CN" altLang="zh-CN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…+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pPr marL="0" indent="0">
                  <a:buNone/>
                </a:pPr>
                <a:r>
                  <a:rPr lang="zh-CN" altLang="zh-CN" sz="2400" dirty="0"/>
                  <a:t>均值是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lang="zh-CN" altLang="zh-CN" sz="2400" dirty="0"/>
                  <a:t>，标准差是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endParaRPr lang="en-US" altLang="zh-CN" sz="2400" dirty="0"/>
              </a:p>
              <a:p>
                <a:pPr marL="0" indent="0">
                  <a:buNone/>
                </a:pPr>
                <a:r>
                  <a:rPr lang="zh-CN" altLang="zh-CN" sz="2400" dirty="0"/>
                  <a:t>至少在</a:t>
                </a:r>
                <a:r>
                  <a:rPr lang="en-US" altLang="zh-CN" sz="2400" dirty="0"/>
                  <a:t>99%</a:t>
                </a:r>
                <a:r>
                  <a:rPr lang="zh-CN" altLang="zh-CN" sz="2400" dirty="0"/>
                  <a:t>的时间里位于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latin typeface="Cambria Math" panose="02040503050406030204" pitchFamily="18" charset="0"/>
                      </a:rPr>
                      <m:t>μ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400"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US" altLang="zh-CN" sz="240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altLang="zh-CN" sz="2400"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r>
                  <a:rPr lang="zh-CN" altLang="zh-CN" sz="2400" dirty="0"/>
                  <a:t>和</a:t>
                </a:r>
                <a:r>
                  <a:rPr lang="en-US" altLang="zh-CN" sz="2400" dirty="0"/>
                  <a:t> 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latin typeface="Cambria Math" panose="02040503050406030204" pitchFamily="18" charset="0"/>
                      </a:rPr>
                      <m:t>μ</m:t>
                    </m:r>
                    <m:r>
                      <a:rPr lang="en-US" altLang="zh-CN" sz="2400">
                        <a:latin typeface="Cambria Math" panose="02040503050406030204" pitchFamily="18" charset="0"/>
                      </a:rPr>
                      <m:t>+10</m:t>
                    </m:r>
                    <m:r>
                      <m:rPr>
                        <m:sty m:val="p"/>
                      </m:rPr>
                      <a:rPr lang="en-US" altLang="zh-CN" sz="240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altLang="zh-CN" sz="2400"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r>
                  <a:rPr lang="zh-CN" altLang="zh-CN" sz="2400" dirty="0"/>
                  <a:t>之间</a:t>
                </a:r>
                <a:r>
                  <a:rPr lang="zh-CN" altLang="en-US" sz="2400" dirty="0">
                    <a:latin typeface="+mj-lt"/>
                    <a:ea typeface="华文楷体" pitchFamily="2" charset="-122"/>
                  </a:rPr>
                  <a:t>；若</a:t>
                </a:r>
                <a:r>
                  <a:rPr lang="en-US" altLang="zh-CN" sz="2400" dirty="0">
                    <a:latin typeface="+mj-lt"/>
                    <a:ea typeface="华文楷体" pitchFamily="2" charset="-122"/>
                  </a:rPr>
                  <a:t>n</a:t>
                </a:r>
                <a:r>
                  <a:rPr lang="zh-CN" altLang="en-US" sz="2400" dirty="0">
                    <a:latin typeface="+mj-lt"/>
                    <a:ea typeface="华文楷体" pitchFamily="2" charset="-122"/>
                  </a:rPr>
                  <a:t>足够大，则其几乎总是非常接近</a:t>
                </a:r>
                <a:r>
                  <a:rPr lang="en-US" altLang="zh-CN" sz="2400" i="1" dirty="0">
                    <a:latin typeface="+mj-lt"/>
                    <a:ea typeface="华文楷体" pitchFamily="2" charset="-122"/>
                  </a:rPr>
                  <a:t>EX</a:t>
                </a:r>
              </a:p>
              <a:p>
                <a:pPr marL="0" indent="0">
                  <a:buNone/>
                </a:pPr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endParaRPr lang="zh-CN" altLang="en-US" sz="2800" dirty="0">
                  <a:latin typeface="+mj-lt"/>
                  <a:ea typeface="华文楷体" pitchFamily="2" charset="-122"/>
                </a:endParaRPr>
              </a:p>
            </p:txBody>
          </p:sp>
        </mc:Choice>
        <mc:Fallback>
          <p:sp>
            <p:nvSpPr>
              <p:cNvPr id="203779" name="Rectangle 3">
                <a:extLst>
                  <a:ext uri="{FF2B5EF4-FFF2-40B4-BE49-F238E27FC236}">
                    <a16:creationId xmlns:a16="http://schemas.microsoft.com/office/drawing/2014/main" id="{3A35609D-8B4A-40DA-A08C-BD92F0B054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55650" y="1412875"/>
                <a:ext cx="7920038" cy="5308600"/>
              </a:xfrm>
              <a:blipFill>
                <a:blip r:embed="rId2"/>
                <a:stretch>
                  <a:fillRect l="-1386" t="-1493" r="-17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558" name="Rectangle 4">
            <a:extLst>
              <a:ext uri="{FF2B5EF4-FFF2-40B4-BE49-F238E27FC236}">
                <a16:creationId xmlns:a16="http://schemas.microsoft.com/office/drawing/2014/main" id="{5EF2253B-8F27-4827-AF1A-0EC18EEC94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3559" name="Rectangle 6">
            <a:extLst>
              <a:ext uri="{FF2B5EF4-FFF2-40B4-BE49-F238E27FC236}">
                <a16:creationId xmlns:a16="http://schemas.microsoft.com/office/drawing/2014/main" id="{600582D4-A00B-4A2D-9062-439BF813BA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0475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>
            <a:extLst>
              <a:ext uri="{FF2B5EF4-FFF2-40B4-BE49-F238E27FC236}">
                <a16:creationId xmlns:a16="http://schemas.microsoft.com/office/drawing/2014/main" id="{DB55453B-BA96-4F67-BB0B-1B692F7921F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4930696-C07E-465E-86D7-42DC439530E5}" type="datetime1">
              <a:rPr lang="zh-CN" altLang="en-US"/>
              <a:pPr>
                <a:defRPr/>
              </a:pPr>
              <a:t>2022/4/9</a:t>
            </a:fld>
            <a:endParaRPr lang="en-US" altLang="zh-CN"/>
          </a:p>
        </p:txBody>
      </p:sp>
      <p:sp>
        <p:nvSpPr>
          <p:cNvPr id="9" name="灯片编号占位符 4">
            <a:extLst>
              <a:ext uri="{FF2B5EF4-FFF2-40B4-BE49-F238E27FC236}">
                <a16:creationId xmlns:a16="http://schemas.microsoft.com/office/drawing/2014/main" id="{70459B09-334C-4EF7-B7CE-C51C07431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DBF71921-5906-44A8-9279-4163E748657D}" type="slidenum">
              <a:rPr lang="en-US" altLang="zh-CN">
                <a:solidFill>
                  <a:srgbClr val="898989"/>
                </a:solidFill>
              </a:rPr>
              <a:pPr algn="ctr"/>
              <a:t>28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23556" name="Rectangle 2">
            <a:extLst>
              <a:ext uri="{FF2B5EF4-FFF2-40B4-BE49-F238E27FC236}">
                <a16:creationId xmlns:a16="http://schemas.microsoft.com/office/drawing/2014/main" id="{68E144F4-4275-4994-8B58-236E22DA1E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均值</a:t>
            </a:r>
            <a:r>
              <a:rPr lang="zh-CN" altLang="en-US" dirty="0"/>
              <a:t>和方差的估计</a:t>
            </a:r>
            <a:endParaRPr lang="zh-CN" altLang="en-US" sz="4800" dirty="0">
              <a:ea typeface="华文楷体" panose="0201060004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3779" name="Rectangle 3">
                <a:extLst>
                  <a:ext uri="{FF2B5EF4-FFF2-40B4-BE49-F238E27FC236}">
                    <a16:creationId xmlns:a16="http://schemas.microsoft.com/office/drawing/2014/main" id="{3A35609D-8B4A-40DA-A08C-BD92F0B05429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755650" y="1412875"/>
                <a:ext cx="7920038" cy="5308600"/>
              </a:xfrm>
            </p:spPr>
            <p:txBody>
              <a:bodyPr rtlCol="0">
                <a:noAutofit/>
              </a:bodyPr>
              <a:lstStyle/>
              <a:p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  <m:r>
                      <m:rPr>
                        <m:sty m:val="p"/>
                      </m:rPr>
                      <a:rPr lang="en-US" altLang="zh-CN" sz="200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altLang="zh-CN" sz="2000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2+…+</m:t>
                            </m:r>
                          </m:sub>
                        </m:sSub>
                        <m:sSub>
                          <m:sSubPr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en-US" altLang="zh-CN" sz="2000" dirty="0">
                  <a:latin typeface="+mj-lt"/>
                  <a:ea typeface="华文楷体" pitchFamily="2" charset="-122"/>
                </a:endParaRPr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acc>
                    <m:r>
                      <m:rPr>
                        <m:sty m:val="p"/>
                      </m:rPr>
                      <a:rPr lang="en-US" altLang="zh-CN" sz="200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zh-CN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CN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p>
                              <m:sSupPr>
                                <m:ctrlPr>
                                  <a:rPr lang="zh-CN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zh-CN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+,,,+</m:t>
                            </m:r>
                            <m:sSup>
                              <m:sSupPr>
                                <m:ctrlPr>
                                  <a:rPr lang="zh-CN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zh-CN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  <m:sub/>
                        </m:sSub>
                      </m:num>
                      <m:den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</m:oMath>
                </a14:m>
                <a:r>
                  <a:rPr lang="en-US" altLang="zh-CN" sz="2000" dirty="0"/>
                  <a:t> -</a:t>
                </a:r>
                <a:r>
                  <a:rPr lang="zh-CN" altLang="zh-CN" sz="20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2+…+</m:t>
                            </m:r>
                          </m:sub>
                        </m:sSub>
                        <m:sSub>
                          <m:sSubPr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altLang="zh-CN" sz="2000" b="0" i="1" baseline="3000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−1)</m:t>
                        </m:r>
                      </m:den>
                    </m:f>
                  </m:oMath>
                </a14:m>
                <a:r>
                  <a:rPr lang="en-US" altLang="zh-CN" sz="2000" dirty="0"/>
                  <a:t> </a:t>
                </a:r>
                <a:endParaRPr lang="en-US" altLang="zh-CN" sz="2000" dirty="0">
                  <a:latin typeface="+mj-lt"/>
                  <a:ea typeface="华文楷体" pitchFamily="2" charset="-122"/>
                </a:endParaRPr>
              </a:p>
              <a:p>
                <a:r>
                  <a:rPr lang="en-US" altLang="zh-CN" sz="2000" dirty="0">
                    <a:latin typeface="+mj-lt"/>
                    <a:ea typeface="华文楷体" pitchFamily="2" charset="-122"/>
                  </a:rPr>
                  <a:t>E(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  <m:r>
                      <m:rPr>
                        <m:sty m:val="p"/>
                      </m:rPr>
                      <a:rPr lang="en-US" altLang="zh-CN" sz="200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altLang="zh-CN" sz="2000" dirty="0">
                    <a:latin typeface="+mj-lt"/>
                    <a:ea typeface="华文楷体" pitchFamily="2" charset="-122"/>
                  </a:rPr>
                  <a:t> )=</a:t>
                </a:r>
                <a:r>
                  <a:rPr lang="en-US" altLang="zh-CN" sz="2000" dirty="0">
                    <a:ea typeface="华文楷体" pitchFamily="2" charset="-122"/>
                  </a:rPr>
                  <a:t>E</a:t>
                </a:r>
                <a:r>
                  <a:rPr lang="en-US" altLang="zh-CN" sz="2000" i="1" dirty="0">
                    <a:ea typeface="华文楷体" pitchFamily="2" charset="-122"/>
                  </a:rPr>
                  <a:t>X</a:t>
                </a:r>
                <a:r>
                  <a:rPr lang="zh-CN" altLang="en-US" sz="2000" i="1" dirty="0">
                    <a:ea typeface="华文楷体" pitchFamily="2" charset="-122"/>
                  </a:rPr>
                  <a:t>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acc>
                    <m:r>
                      <m:rPr>
                        <m:sty m:val="p"/>
                      </m:rPr>
                      <a:rPr lang="en-US" altLang="zh-CN" sz="200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)=</m:t>
                    </m:r>
                    <m:r>
                      <m:rPr>
                        <m:sty m:val="p"/>
                      </m:rPr>
                      <a:rPr lang="en-US" altLang="zh-CN" sz="2000">
                        <a:latin typeface="Cambria Math" panose="02040503050406030204" pitchFamily="18" charset="0"/>
                      </a:rPr>
                      <m:t>VX</m:t>
                    </m:r>
                  </m:oMath>
                </a14:m>
                <a:endParaRPr lang="en-US" altLang="zh-CN" sz="2000" dirty="0">
                  <a:ea typeface="华文楷体" pitchFamily="2" charset="-122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US" altLang="zh-CN" sz="200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a:rPr lang="en-US" altLang="zh-CN" sz="20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limLoc m:val="undOvr"/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p>
                              <m:sSupPr>
                                <m:ctrlPr>
                                  <a:rPr lang="zh-CN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zh-CN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zh-CN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nary>
                        <m:nary>
                          <m:naryPr>
                            <m:chr m:val="∑"/>
                            <m:limLoc m:val="undOvr"/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zh-CN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zh-CN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zh-CN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nary>
                          </m:e>
                        </m:nary>
                        <m:r>
                          <a:rPr lang="en-US" altLang="zh-CN" sz="200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en-US" altLang="zh-CN" sz="2000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(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)−</m:t>
                          </m:r>
                          <m:f>
                            <m:f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nary>
                      <m:nary>
                        <m:naryPr>
                          <m:chr m:val="∑"/>
                          <m:limLoc m:val="undOvr"/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zh-CN" altLang="zh-CN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0" smtClean="0">
                          <a:latin typeface="Cambria Math" panose="02040503050406030204" pitchFamily="18" charset="0"/>
                        </a:rPr>
                        <m:t>                  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(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)−</m:t>
                          </m:r>
                          <m:f>
                            <m:f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nary>
                      <m:nary>
                        <m:naryPr>
                          <m:chr m:val="∑"/>
                          <m:limLoc m:val="undOvr"/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sSup>
                                    <m:sSupPr>
                                      <m:ctrlPr>
                                        <a:rPr lang="zh-CN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zh-CN" altLang="zh-CN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zh-CN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≠</m:t>
                                      </m:r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</m:d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sSup>
                                    <m:sSupPr>
                                      <m:ctrlPr>
                                        <a:rPr lang="zh-CN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p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zh-CN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</m:d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b/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zh-CN" altLang="zh-CN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𝑛</m:t>
                      </m:r>
                      <m:sSup>
                        <m:sSup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)−</m:t>
                      </m:r>
                      <m:f>
                        <m:f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d>
                        <m:d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𝑛𝐸</m:t>
                          </m:r>
                          <m:d>
                            <m:d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sSup>
                            <m:sSup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zh-CN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𝑉𝑋</m:t>
                      </m:r>
                    </m:oMath>
                  </m:oMathPara>
                </a14:m>
                <a:endParaRPr lang="zh-CN" altLang="zh-CN" sz="2000" dirty="0"/>
              </a:p>
              <a:p>
                <a:endParaRPr lang="en-US" altLang="zh-CN" sz="2800" dirty="0">
                  <a:latin typeface="+mj-lt"/>
                  <a:ea typeface="华文楷体" pitchFamily="2" charset="-122"/>
                </a:endParaRPr>
              </a:p>
              <a:p>
                <a:endParaRPr lang="zh-CN" altLang="en-US" sz="2800" dirty="0">
                  <a:latin typeface="+mj-lt"/>
                  <a:ea typeface="华文楷体" pitchFamily="2" charset="-122"/>
                </a:endParaRPr>
              </a:p>
            </p:txBody>
          </p:sp>
        </mc:Choice>
        <mc:Fallback>
          <p:sp>
            <p:nvSpPr>
              <p:cNvPr id="203779" name="Rectangle 3">
                <a:extLst>
                  <a:ext uri="{FF2B5EF4-FFF2-40B4-BE49-F238E27FC236}">
                    <a16:creationId xmlns:a16="http://schemas.microsoft.com/office/drawing/2014/main" id="{3A35609D-8B4A-40DA-A08C-BD92F0B054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55650" y="1412875"/>
                <a:ext cx="7920038" cy="5308600"/>
              </a:xfrm>
              <a:blipFill>
                <a:blip r:embed="rId2"/>
                <a:stretch>
                  <a:fillRect l="-693" b="-28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558" name="Rectangle 4">
            <a:extLst>
              <a:ext uri="{FF2B5EF4-FFF2-40B4-BE49-F238E27FC236}">
                <a16:creationId xmlns:a16="http://schemas.microsoft.com/office/drawing/2014/main" id="{5EF2253B-8F27-4827-AF1A-0EC18EEC94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3559" name="Rectangle 6">
            <a:extLst>
              <a:ext uri="{FF2B5EF4-FFF2-40B4-BE49-F238E27FC236}">
                <a16:creationId xmlns:a16="http://schemas.microsoft.com/office/drawing/2014/main" id="{600582D4-A00B-4A2D-9062-439BF813BA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59144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3E9516-96C8-4B8E-940B-C2B8E379432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D25E7E5-7041-42CA-83F0-C0E1C0E01A3E}" type="datetime1">
              <a:rPr lang="zh-CN" altLang="en-US"/>
              <a:pPr>
                <a:defRPr/>
              </a:pPr>
              <a:t>2022/4/9</a:t>
            </a:fld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196FE21-140F-4BC9-9240-4FBB8284F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fld id="{9C74E103-004D-4F25-B5D3-2E916D0D517F}" type="slidenum">
              <a:rPr lang="en-US" altLang="zh-CN">
                <a:solidFill>
                  <a:srgbClr val="898989"/>
                </a:solidFill>
              </a:rPr>
              <a:pPr algn="ctr"/>
              <a:t>29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24580" name="Rectangle 2">
            <a:extLst>
              <a:ext uri="{FF2B5EF4-FFF2-40B4-BE49-F238E27FC236}">
                <a16:creationId xmlns:a16="http://schemas.microsoft.com/office/drawing/2014/main" id="{1C1F621B-B8AC-4161-9271-4FAEACC953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华文楷体" panose="02010600040101010101" pitchFamily="2" charset="-122"/>
              </a:rPr>
              <a:t>作业</a:t>
            </a:r>
          </a:p>
        </p:txBody>
      </p:sp>
      <p:sp>
        <p:nvSpPr>
          <p:cNvPr id="171011" name="Rectangle 3">
            <a:extLst>
              <a:ext uri="{FF2B5EF4-FFF2-40B4-BE49-F238E27FC236}">
                <a16:creationId xmlns:a16="http://schemas.microsoft.com/office/drawing/2014/main" id="{05EB196D-4626-47D6-9FA5-A4AD9365BF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41438"/>
            <a:ext cx="8229600" cy="4784725"/>
          </a:xfrm>
        </p:spPr>
        <p:txBody>
          <a:bodyPr rtlCol="0">
            <a:noAutofit/>
          </a:bodyPr>
          <a:lstStyle/>
          <a:p>
            <a:pPr fontAlgn="auto"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en-US" altLang="zh-CN" sz="2800" dirty="0">
                <a:ea typeface="华文楷体" pitchFamily="2" charset="-122"/>
              </a:rPr>
              <a:t>P357</a:t>
            </a:r>
            <a:r>
              <a:rPr lang="zh-CN" altLang="en-US" sz="2800" dirty="0">
                <a:ea typeface="华文楷体" pitchFamily="2" charset="-122"/>
              </a:rPr>
              <a:t>：</a:t>
            </a:r>
            <a:r>
              <a:rPr lang="en-US" altLang="zh-CN" sz="2800">
                <a:ea typeface="华文楷体" pitchFamily="2" charset="-122"/>
              </a:rPr>
              <a:t>2, 3, 25</a:t>
            </a:r>
            <a:endParaRPr lang="en-US" altLang="zh-CN" sz="2800" dirty="0">
              <a:ea typeface="华文楷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863758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5737</TotalTime>
  <Words>2299</Words>
  <Application>Microsoft Office PowerPoint</Application>
  <PresentationFormat>全屏显示(4:3)</PresentationFormat>
  <Paragraphs>276</Paragraphs>
  <Slides>29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0" baseType="lpstr">
      <vt:lpstr>仿宋</vt:lpstr>
      <vt:lpstr>华文楷体</vt:lpstr>
      <vt:lpstr>楷体</vt:lpstr>
      <vt:lpstr>宋体</vt:lpstr>
      <vt:lpstr>Arial</vt:lpstr>
      <vt:lpstr>Calibri</vt:lpstr>
      <vt:lpstr>Cambria Math</vt:lpstr>
      <vt:lpstr>Symbol</vt:lpstr>
      <vt:lpstr>Verdana</vt:lpstr>
      <vt:lpstr>Wingdings</vt:lpstr>
      <vt:lpstr>Office 主题</vt:lpstr>
      <vt:lpstr>PowerPoint 演示文稿</vt:lpstr>
      <vt:lpstr>8 Discrete Probability 离散概率</vt:lpstr>
      <vt:lpstr>离散概率</vt:lpstr>
      <vt:lpstr>8.1 Definitions 概念与定义</vt:lpstr>
      <vt:lpstr>概率空间</vt:lpstr>
      <vt:lpstr>概率事件</vt:lpstr>
      <vt:lpstr>随机变量</vt:lpstr>
      <vt:lpstr>随机变量</vt:lpstr>
      <vt:lpstr>随机变量</vt:lpstr>
      <vt:lpstr>联合分布</vt:lpstr>
      <vt:lpstr>均值、中位数和众数</vt:lpstr>
      <vt:lpstr>均值、中位数和众数</vt:lpstr>
      <vt:lpstr>均值的几个法则</vt:lpstr>
      <vt:lpstr>8.2 Mean and Variance 均值与方差</vt:lpstr>
      <vt:lpstr>方差</vt:lpstr>
      <vt:lpstr>彩票方案</vt:lpstr>
      <vt:lpstr>彩票方案</vt:lpstr>
      <vt:lpstr>方差的计算</vt:lpstr>
      <vt:lpstr>方差的计算</vt:lpstr>
      <vt:lpstr>方差的作用</vt:lpstr>
      <vt:lpstr>切比雪夫不等式的证明</vt:lpstr>
      <vt:lpstr>方差的例子：n次双掷骰子</vt:lpstr>
      <vt:lpstr>方差的例子：足球胜利问题</vt:lpstr>
      <vt:lpstr>方差的例子：足球胜利问题</vt:lpstr>
      <vt:lpstr>方差的例子：足球胜利问题</vt:lpstr>
      <vt:lpstr>方差的例子：足球胜利问题</vt:lpstr>
      <vt:lpstr>n 个独立样本的平均值</vt:lpstr>
      <vt:lpstr>均值和方差的估计</vt:lpstr>
      <vt:lpstr>作业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zhaoqy</dc:creator>
  <cp:lastModifiedBy>Administrator</cp:lastModifiedBy>
  <cp:revision>313</cp:revision>
  <dcterms:created xsi:type="dcterms:W3CDTF">2011-08-23T12:16:39Z</dcterms:created>
  <dcterms:modified xsi:type="dcterms:W3CDTF">2022-04-09T08:26:41Z</dcterms:modified>
</cp:coreProperties>
</file>