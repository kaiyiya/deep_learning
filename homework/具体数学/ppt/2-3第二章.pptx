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sldIdLst>
    <p:sldId id="304" r:id="rId2"/>
    <p:sldId id="291" r:id="rId3"/>
    <p:sldId id="305" r:id="rId4"/>
    <p:sldId id="306" r:id="rId5"/>
    <p:sldId id="292" r:id="rId6"/>
    <p:sldId id="293" r:id="rId7"/>
    <p:sldId id="307" r:id="rId8"/>
    <p:sldId id="294" r:id="rId9"/>
    <p:sldId id="308" r:id="rId10"/>
    <p:sldId id="311" r:id="rId11"/>
    <p:sldId id="310" r:id="rId12"/>
    <p:sldId id="312" r:id="rId13"/>
    <p:sldId id="325" r:id="rId14"/>
    <p:sldId id="295" r:id="rId15"/>
    <p:sldId id="313" r:id="rId16"/>
    <p:sldId id="314" r:id="rId17"/>
    <p:sldId id="296" r:id="rId18"/>
    <p:sldId id="315" r:id="rId19"/>
    <p:sldId id="316" r:id="rId20"/>
    <p:sldId id="297" r:id="rId21"/>
    <p:sldId id="324" r:id="rId22"/>
    <p:sldId id="317" r:id="rId23"/>
    <p:sldId id="318" r:id="rId24"/>
    <p:sldId id="323" r:id="rId25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746" autoAdjust="0"/>
  </p:normalViewPr>
  <p:slideViewPr>
    <p:cSldViewPr>
      <p:cViewPr varScale="1">
        <p:scale>
          <a:sx n="61" d="100"/>
          <a:sy n="61" d="100"/>
        </p:scale>
        <p:origin x="1036" y="4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29022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AD031A5E-6054-4585-836B-6FE0BE2F4B1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3A54D35-866A-444F-8890-1BAFCA11C815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ea typeface="+mn-ea"/>
              </a:defRPr>
            </a:lvl1pPr>
          </a:lstStyle>
          <a:p>
            <a:pPr>
              <a:defRPr/>
            </a:pPr>
            <a:fld id="{F9211A99-F169-4C10-8718-045281CF1A68}" type="datetimeFigureOut">
              <a:rPr lang="zh-CN" altLang="en-US"/>
              <a:pPr>
                <a:defRPr/>
              </a:pPr>
              <a:t>2023/3/18</a:t>
            </a:fld>
            <a:endParaRPr lang="zh-CN" altLang="en-US"/>
          </a:p>
        </p:txBody>
      </p:sp>
      <p:sp>
        <p:nvSpPr>
          <p:cNvPr id="4" name="幻灯片图像占位符 3">
            <a:extLst>
              <a:ext uri="{FF2B5EF4-FFF2-40B4-BE49-F238E27FC236}">
                <a16:creationId xmlns:a16="http://schemas.microsoft.com/office/drawing/2014/main" id="{6C8DFF5B-68FC-4B08-A990-1014D937C0B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>
            <a:extLst>
              <a:ext uri="{FF2B5EF4-FFF2-40B4-BE49-F238E27FC236}">
                <a16:creationId xmlns:a16="http://schemas.microsoft.com/office/drawing/2014/main" id="{5714B575-E1CD-4499-8403-F5A2401E3C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DC0EA88-F099-4A91-B5DE-7B8757C9AA8B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A68ACA0-61A4-4B4A-98B9-D3A8B88A3F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anose="020F0502020204030204" pitchFamily="34" charset="0"/>
              </a:defRPr>
            </a:lvl1pPr>
          </a:lstStyle>
          <a:p>
            <a:fld id="{97B9A871-E98D-4C03-AC3D-C3DEEA2C7123}" type="slidenum">
              <a:rPr lang="zh-CN" altLang="en-US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>
            <a:extLst>
              <a:ext uri="{FF2B5EF4-FFF2-40B4-BE49-F238E27FC236}">
                <a16:creationId xmlns:a16="http://schemas.microsoft.com/office/drawing/2014/main" id="{3E223CB3-D7D1-42CC-A6E0-5CA45AA67D9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fld id="{52789D08-919D-4F96-98BD-29F33BBD5848}" type="slidenum">
              <a:rPr lang="en-US" altLang="zh-CN"/>
              <a:pPr/>
              <a:t>1</a:t>
            </a:fld>
            <a:endParaRPr lang="en-US" altLang="zh-CN"/>
          </a:p>
        </p:txBody>
      </p:sp>
      <p:sp>
        <p:nvSpPr>
          <p:cNvPr id="32771" name="Rectangle 2">
            <a:extLst>
              <a:ext uri="{FF2B5EF4-FFF2-40B4-BE49-F238E27FC236}">
                <a16:creationId xmlns:a16="http://schemas.microsoft.com/office/drawing/2014/main" id="{33D0BA90-264E-471E-A377-A9B49824FCD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2772" name="Rectangle 3">
            <a:extLst>
              <a:ext uri="{FF2B5EF4-FFF2-40B4-BE49-F238E27FC236}">
                <a16:creationId xmlns:a16="http://schemas.microsoft.com/office/drawing/2014/main" id="{349B14A6-CD58-4A5B-B415-628AD9E2A4F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zh-CN" altLang="zh-CN" sz="130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829324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>
            <a:extLst>
              <a:ext uri="{FF2B5EF4-FFF2-40B4-BE49-F238E27FC236}">
                <a16:creationId xmlns:a16="http://schemas.microsoft.com/office/drawing/2014/main" id="{B9ACA3EB-6694-44B8-BCB8-FAD765C776F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fld id="{E499A253-89A2-4248-B04D-0E308851094F}" type="slidenum">
              <a:rPr lang="en-US" altLang="zh-CN"/>
              <a:pPr/>
              <a:t>24</a:t>
            </a:fld>
            <a:endParaRPr lang="en-US" altLang="zh-CN"/>
          </a:p>
        </p:txBody>
      </p:sp>
      <p:sp>
        <p:nvSpPr>
          <p:cNvPr id="36867" name="Rectangle 2">
            <a:extLst>
              <a:ext uri="{FF2B5EF4-FFF2-40B4-BE49-F238E27FC236}">
                <a16:creationId xmlns:a16="http://schemas.microsoft.com/office/drawing/2014/main" id="{36526FF4-1781-473E-BD77-C108783144A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6868" name="Rectangle 3">
            <a:extLst>
              <a:ext uri="{FF2B5EF4-FFF2-40B4-BE49-F238E27FC236}">
                <a16:creationId xmlns:a16="http://schemas.microsoft.com/office/drawing/2014/main" id="{DC46B83E-E0B8-4B0A-8C93-D85F5625351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3102401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2E492A9-5E5E-43BC-B297-A88968C2E0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893BAE5-1281-40EC-929C-393219564B97}" type="datetimeFigureOut">
              <a:rPr lang="zh-CN" altLang="en-US"/>
              <a:pPr>
                <a:defRPr/>
              </a:pPr>
              <a:t>2023/3/18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38052A7-EED3-40A3-BDCA-B4756625C3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3E2F373-5E39-4BED-8955-CA6CA05A18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EFB552F-7371-4BE7-8ABD-2138CF79DDF8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2345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FEBBA9D-6128-4FC3-B700-5FCE61E981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52D0E19-2368-4265-A61D-06F47BAC43CE}" type="datetimeFigureOut">
              <a:rPr lang="zh-CN" altLang="en-US"/>
              <a:pPr>
                <a:defRPr/>
              </a:pPr>
              <a:t>2023/3/18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939FDD5-829F-43DC-85F3-039E464DA4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A3E6EF4-26E4-4E92-81C7-8FE8251FBD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CE17EFF-7FDB-4137-908E-241394280B99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025347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23F1888-E8F4-490D-BE94-5E49159509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DFCC2D9-C85F-4D01-B931-E1884BA9DEA9}" type="datetimeFigureOut">
              <a:rPr lang="zh-CN" altLang="en-US"/>
              <a:pPr>
                <a:defRPr/>
              </a:pPr>
              <a:t>2023/3/18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657ACF1-1E84-427D-B111-6F7BBC321A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4E3F631-471A-46A2-A31D-4F4EA2649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D3CCFED-E80E-47DE-8907-35ED7A813A59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90046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55A0DFCF-1677-4AC3-BA0B-B5CCD3358E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CCCA06E-2EA1-4148-8F7C-FD91DBAEF3A2}" type="datetimeFigureOut">
              <a:rPr lang="zh-CN" altLang="en-US"/>
              <a:pPr>
                <a:defRPr/>
              </a:pPr>
              <a:t>2023/3/18</a:t>
            </a:fld>
            <a:endParaRPr lang="zh-CN" altLang="en-US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21EEAD4C-62CF-437F-AE04-7958075BDA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1E731B13-3B05-4AFC-B0BA-AC261F2327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0C1A10F-A8A2-4055-892B-106CDA5334AD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32877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3">
            <a:extLst>
              <a:ext uri="{FF2B5EF4-FFF2-40B4-BE49-F238E27FC236}">
                <a16:creationId xmlns:a16="http://schemas.microsoft.com/office/drawing/2014/main" id="{A627E545-E97F-4885-8D3C-51ADCA7D3A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ADF9312-51A4-479A-84CB-F0428DD85183}" type="datetimeFigureOut">
              <a:rPr lang="zh-CN" altLang="en-US"/>
              <a:pPr>
                <a:defRPr/>
              </a:pPr>
              <a:t>2023/3/18</a:t>
            </a:fld>
            <a:endParaRPr lang="zh-CN" altLang="en-US"/>
          </a:p>
        </p:txBody>
      </p:sp>
      <p:sp>
        <p:nvSpPr>
          <p:cNvPr id="8" name="页脚占位符 4">
            <a:extLst>
              <a:ext uri="{FF2B5EF4-FFF2-40B4-BE49-F238E27FC236}">
                <a16:creationId xmlns:a16="http://schemas.microsoft.com/office/drawing/2014/main" id="{C7F377DF-1E32-4FBC-8872-52A0ACD5AD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5">
            <a:extLst>
              <a:ext uri="{FF2B5EF4-FFF2-40B4-BE49-F238E27FC236}">
                <a16:creationId xmlns:a16="http://schemas.microsoft.com/office/drawing/2014/main" id="{DE3A7447-D85F-4DD7-8FB4-3F96CA8C91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07E326-8190-48B8-99F6-FA03A2A4B494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389991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3">
            <a:extLst>
              <a:ext uri="{FF2B5EF4-FFF2-40B4-BE49-F238E27FC236}">
                <a16:creationId xmlns:a16="http://schemas.microsoft.com/office/drawing/2014/main" id="{5F61B45C-F25A-42DF-B435-63AF7BD81A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8D3826-19E0-41D0-BDFE-2D09A772E5B1}" type="datetimeFigureOut">
              <a:rPr lang="zh-CN" altLang="en-US"/>
              <a:pPr>
                <a:defRPr/>
              </a:pPr>
              <a:t>2023/3/18</a:t>
            </a:fld>
            <a:endParaRPr lang="zh-CN" altLang="en-US"/>
          </a:p>
        </p:txBody>
      </p:sp>
      <p:sp>
        <p:nvSpPr>
          <p:cNvPr id="4" name="页脚占位符 4">
            <a:extLst>
              <a:ext uri="{FF2B5EF4-FFF2-40B4-BE49-F238E27FC236}">
                <a16:creationId xmlns:a16="http://schemas.microsoft.com/office/drawing/2014/main" id="{BA78FE0E-353F-424E-98F9-647456C486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E4E64A8B-4D94-4D09-A278-FA886EEF84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1A3F2EE-0A1B-4D86-A49F-FCF3EC6A77A8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80090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>
            <a:extLst>
              <a:ext uri="{FF2B5EF4-FFF2-40B4-BE49-F238E27FC236}">
                <a16:creationId xmlns:a16="http://schemas.microsoft.com/office/drawing/2014/main" id="{C53A826A-7C87-4570-98B3-8B66FA8A24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E987D5C-77AA-4F03-825C-0B1772BF15A0}" type="datetimeFigureOut">
              <a:rPr lang="zh-CN" altLang="en-US"/>
              <a:pPr>
                <a:defRPr/>
              </a:pPr>
              <a:t>2023/3/18</a:t>
            </a:fld>
            <a:endParaRPr lang="zh-CN" altLang="en-US"/>
          </a:p>
        </p:txBody>
      </p:sp>
      <p:sp>
        <p:nvSpPr>
          <p:cNvPr id="3" name="页脚占位符 4">
            <a:extLst>
              <a:ext uri="{FF2B5EF4-FFF2-40B4-BE49-F238E27FC236}">
                <a16:creationId xmlns:a16="http://schemas.microsoft.com/office/drawing/2014/main" id="{FBCCEF45-A28C-4397-9806-021C34A23D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>
            <a:extLst>
              <a:ext uri="{FF2B5EF4-FFF2-40B4-BE49-F238E27FC236}">
                <a16:creationId xmlns:a16="http://schemas.microsoft.com/office/drawing/2014/main" id="{B0B3362A-0A37-4E24-A5A3-1A37BC9DEA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9FD28B9-8FEC-419D-A4C5-0186B193C794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94672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5B60924B-0D64-4D0F-B894-536E039CBB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EFBDDCB-B9EF-4184-8133-086752074631}" type="datetimeFigureOut">
              <a:rPr lang="zh-CN" altLang="en-US"/>
              <a:pPr>
                <a:defRPr/>
              </a:pPr>
              <a:t>2023/3/18</a:t>
            </a:fld>
            <a:endParaRPr lang="zh-CN" altLang="en-US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5EB056C1-37A2-413F-B4B2-012CECE490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DE704F11-3D08-45C4-8AB3-A41E65DB57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05E4557-FDD8-4F92-B29E-20D526FC9A5D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73373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F0A2C0E7-B82A-4161-B239-AC5A371055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260613A-8648-433E-840F-80197FF6E9C3}" type="datetimeFigureOut">
              <a:rPr lang="zh-CN" altLang="en-US"/>
              <a:pPr>
                <a:defRPr/>
              </a:pPr>
              <a:t>2023/3/18</a:t>
            </a:fld>
            <a:endParaRPr lang="zh-CN" altLang="en-US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A1580CC2-9E73-4F07-A2FE-9F49891880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0A064EC0-E36A-4C7C-B1B2-C047B9A6BC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A2A4D1E-3344-4419-927D-B7563E0D76D6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55720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8FB7AAB-5A71-49FD-AD26-FECE30D53E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D733F1E-56BB-439E-88CD-C43BBF423BB4}" type="datetimeFigureOut">
              <a:rPr lang="zh-CN" altLang="en-US"/>
              <a:pPr>
                <a:defRPr/>
              </a:pPr>
              <a:t>2023/3/18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317DBD5-593C-4489-9723-EED82323D0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12B895C-72FD-45E6-A8FF-1232007C27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C3BD6AA-F04F-4050-A066-75B50640109B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25814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9C53E4B-D231-49DD-B539-1F2754DBBE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F07253A-AF61-4FAD-8D95-C86F060C0D19}" type="datetimeFigureOut">
              <a:rPr lang="zh-CN" altLang="en-US"/>
              <a:pPr>
                <a:defRPr/>
              </a:pPr>
              <a:t>2023/3/18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A41EEC9-F7A9-4A61-89B0-1060A0A578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C311199-9273-4AEE-BDA7-57012FC43F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D9B7AB8-57D3-41F6-8B0C-AC7D499C11FB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10725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标题占位符 1">
            <a:extLst>
              <a:ext uri="{FF2B5EF4-FFF2-40B4-BE49-F238E27FC236}">
                <a16:creationId xmlns:a16="http://schemas.microsoft.com/office/drawing/2014/main" id="{38E7504B-AEB9-4D37-B2D1-81D8E275ADE2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23555" name="文本占位符 2">
            <a:extLst>
              <a:ext uri="{FF2B5EF4-FFF2-40B4-BE49-F238E27FC236}">
                <a16:creationId xmlns:a16="http://schemas.microsoft.com/office/drawing/2014/main" id="{5A3A3FFC-48C2-40EF-BF98-C479E4C06CA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DA97AEF-5AAF-49BD-8D41-619D2916AE9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7779E610-ADD9-4CF9-AE85-F7ABFFF80141}" type="datetimeFigureOut">
              <a:rPr lang="zh-CN" altLang="en-US"/>
              <a:pPr>
                <a:defRPr/>
              </a:pPr>
              <a:t>2023/3/18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8AF9BBC-B179-439A-A1C8-046B77D567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4317336-7213-4386-A3FA-D72E3ACA49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fld id="{CAAF722D-D55D-4B87-8C7F-E776902E9F1F}" type="slidenum">
              <a:rPr lang="zh-CN" altLang="en-US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3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5.png"/><Relationship Id="rId4" Type="http://schemas.openxmlformats.org/officeDocument/2006/relationships/image" Target="../media/image13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0.png"/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0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1.png"/><Relationship Id="rId5" Type="http://schemas.openxmlformats.org/officeDocument/2006/relationships/image" Target="../media/image24.png"/><Relationship Id="rId4" Type="http://schemas.openxmlformats.org/officeDocument/2006/relationships/image" Target="../media/image3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20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Relationship Id="rId4" Type="http://schemas.openxmlformats.org/officeDocument/2006/relationships/image" Target="../media/image21.emf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8" name="Rectangle 9">
            <a:extLst>
              <a:ext uri="{FF2B5EF4-FFF2-40B4-BE49-F238E27FC236}">
                <a16:creationId xmlns:a16="http://schemas.microsoft.com/office/drawing/2014/main" id="{08EC7692-13E1-4ED3-A236-A735E7380C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650" y="1844675"/>
            <a:ext cx="7772400" cy="2232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ctr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7200" dirty="0">
                <a:latin typeface="仿宋" pitchFamily="49" charset="-122"/>
                <a:ea typeface="仿宋" pitchFamily="49" charset="-122"/>
              </a:rPr>
              <a:t>具体数学</a:t>
            </a:r>
            <a:br>
              <a:rPr lang="zh-CN" altLang="en-US" sz="5400" dirty="0">
                <a:latin typeface="+mn-ea"/>
                <a:ea typeface="+mn-ea"/>
              </a:rPr>
            </a:br>
            <a:r>
              <a:rPr lang="en-US" altLang="zh-CN" sz="4800" dirty="0">
                <a:latin typeface="Verdana" pitchFamily="34" charset="0"/>
                <a:ea typeface="Verdana" pitchFamily="34" charset="0"/>
                <a:cs typeface="Verdana" pitchFamily="34" charset="0"/>
              </a:rPr>
              <a:t>Concrete Mathematics</a:t>
            </a:r>
            <a:r>
              <a:rPr lang="en-US" altLang="zh-CN" sz="400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</a:p>
        </p:txBody>
      </p:sp>
      <p:sp>
        <p:nvSpPr>
          <p:cNvPr id="24579" name="Rectangle 10">
            <a:extLst>
              <a:ext uri="{FF2B5EF4-FFF2-40B4-BE49-F238E27FC236}">
                <a16:creationId xmlns:a16="http://schemas.microsoft.com/office/drawing/2014/main" id="{4AFDBEC3-5725-4DAD-AAEF-F265414BD3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4425" y="4508500"/>
            <a:ext cx="7129463" cy="1368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endParaRPr lang="en-US" altLang="zh-CN" sz="1600" dirty="0">
              <a:solidFill>
                <a:srgbClr val="0070C0"/>
              </a:solidFill>
              <a:latin typeface="Verdana" panose="020B0604030504040204" pitchFamily="34" charset="0"/>
              <a:ea typeface="仿宋" panose="02010609060101010101" pitchFamily="49" charset="-122"/>
              <a:cs typeface="Verdana" panose="020B0604030504040204" pitchFamily="34" charset="0"/>
            </a:endParaRPr>
          </a:p>
          <a:p>
            <a:pPr algn="ctr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fld id="{00956913-66D0-43EF-8210-0F514E0E6878}" type="datetime3">
              <a:rPr lang="zh-CN" altLang="en-US" sz="2400">
                <a:latin typeface="Verdana" panose="020B0604030504040204" pitchFamily="34" charset="0"/>
                <a:ea typeface="仿宋" panose="02010609060101010101" pitchFamily="49" charset="-122"/>
                <a:cs typeface="Verdana" panose="020B0604030504040204" pitchFamily="34" charset="0"/>
              </a:rPr>
              <a:pPr algn="ctr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None/>
              </a:pPr>
              <a:t>2023年3月18日星期六</a:t>
            </a:fld>
            <a:endParaRPr lang="en-US" altLang="zh-CN" sz="2400" dirty="0">
              <a:latin typeface="Verdana" panose="020B0604030504040204" pitchFamily="34" charset="0"/>
            </a:endParaRPr>
          </a:p>
        </p:txBody>
      </p:sp>
      <p:sp>
        <p:nvSpPr>
          <p:cNvPr id="24580" name="Rectangle 11">
            <a:extLst>
              <a:ext uri="{FF2B5EF4-FFF2-40B4-BE49-F238E27FC236}">
                <a16:creationId xmlns:a16="http://schemas.microsoft.com/office/drawing/2014/main" id="{3444B2C7-474D-458A-8C9E-B4EFA481F0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533400"/>
            <a:ext cx="85693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sz="2800" dirty="0">
                <a:solidFill>
                  <a:srgbClr val="0070C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华东师范大学计算机学院</a:t>
            </a:r>
          </a:p>
        </p:txBody>
      </p: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8671DBE4-C4EF-4A33-882E-23A4AF975844}"/>
              </a:ext>
            </a:extLst>
          </p:cNvPr>
          <p:cNvCxnSpPr/>
          <p:nvPr/>
        </p:nvCxnSpPr>
        <p:spPr>
          <a:xfrm rot="10800000" flipH="1">
            <a:off x="755650" y="3141663"/>
            <a:ext cx="7772400" cy="0"/>
          </a:xfrm>
          <a:prstGeom prst="line">
            <a:avLst/>
          </a:prstGeom>
          <a:ln w="76200" cap="flat" cmpd="sng"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3">
            <a:extLst>
              <a:ext uri="{FF2B5EF4-FFF2-40B4-BE49-F238E27FC236}">
                <a16:creationId xmlns:a16="http://schemas.microsoft.com/office/drawing/2014/main" id="{12E38301-3EA8-478C-9C39-FB78CA2ECC95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3241D616-2517-4B1E-B181-9E094D5DBFCC}" type="datetime1">
              <a:rPr lang="zh-CN" altLang="en-US"/>
              <a:pPr>
                <a:defRPr/>
              </a:pPr>
              <a:t>2023/3/18</a:t>
            </a:fld>
            <a:endParaRPr lang="en-US" altLang="zh-CN"/>
          </a:p>
        </p:txBody>
      </p:sp>
      <p:sp>
        <p:nvSpPr>
          <p:cNvPr id="9" name="灯片编号占位符 4">
            <a:extLst>
              <a:ext uri="{FF2B5EF4-FFF2-40B4-BE49-F238E27FC236}">
                <a16:creationId xmlns:a16="http://schemas.microsoft.com/office/drawing/2014/main" id="{4D22AEC3-378A-4DCB-8A30-4B3E3D8B4B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124200" y="6356350"/>
            <a:ext cx="28956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fld id="{13C3339F-0F08-4447-9D35-264D32F803C9}" type="slidenum">
              <a:rPr lang="en-US" altLang="zh-CN">
                <a:solidFill>
                  <a:srgbClr val="898989"/>
                </a:solidFill>
              </a:rPr>
              <a:pPr algn="ctr"/>
              <a:t>2</a:t>
            </a:fld>
            <a:endParaRPr lang="en-US" altLang="zh-CN">
              <a:solidFill>
                <a:srgbClr val="898989"/>
              </a:solidFill>
            </a:endParaRPr>
          </a:p>
        </p:txBody>
      </p:sp>
      <p:sp>
        <p:nvSpPr>
          <p:cNvPr id="209922" name="Rectangle 2">
            <a:extLst>
              <a:ext uri="{FF2B5EF4-FFF2-40B4-BE49-F238E27FC236}">
                <a16:creationId xmlns:a16="http://schemas.microsoft.com/office/drawing/2014/main" id="{C97FD56E-284B-4AFB-A080-2AC8246E967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565400"/>
            <a:ext cx="8229600" cy="1430338"/>
          </a:xfrm>
        </p:spPr>
        <p:txBody>
          <a:bodyPr rtlCol="0"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altLang="zh-CN" dirty="0">
                <a:ea typeface="华文楷体" pitchFamily="2" charset="-122"/>
              </a:rPr>
              <a:t>2.6  Finite and Infinite Calculus</a:t>
            </a:r>
            <a:br>
              <a:rPr lang="en-US" altLang="zh-CN" dirty="0">
                <a:ea typeface="华文楷体" pitchFamily="2" charset="-122"/>
              </a:rPr>
            </a:br>
            <a:r>
              <a:rPr lang="zh-CN" altLang="en-US" dirty="0">
                <a:ea typeface="华文楷体" pitchFamily="2" charset="-122"/>
              </a:rPr>
              <a:t>有限与无限微积分</a:t>
            </a:r>
          </a:p>
        </p:txBody>
      </p:sp>
      <p:sp>
        <p:nvSpPr>
          <p:cNvPr id="25605" name="Rectangle 5">
            <a:extLst>
              <a:ext uri="{FF2B5EF4-FFF2-40B4-BE49-F238E27FC236}">
                <a16:creationId xmlns:a16="http://schemas.microsoft.com/office/drawing/2014/main" id="{B83DF33E-7211-4B04-B0C3-839DB59DE5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25606" name="Rectangle 7">
            <a:extLst>
              <a:ext uri="{FF2B5EF4-FFF2-40B4-BE49-F238E27FC236}">
                <a16:creationId xmlns:a16="http://schemas.microsoft.com/office/drawing/2014/main" id="{87FC5C95-B84E-4200-BE8B-0157C70434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289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3">
            <a:extLst>
              <a:ext uri="{FF2B5EF4-FFF2-40B4-BE49-F238E27FC236}">
                <a16:creationId xmlns:a16="http://schemas.microsoft.com/office/drawing/2014/main" id="{C4F88BEE-3553-4E9C-AA39-C97F45B7E591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3241D616-2517-4B1E-B181-9E094D5DBFCC}" type="datetime1">
              <a:rPr lang="zh-CN" altLang="en-US"/>
              <a:pPr>
                <a:defRPr/>
              </a:pPr>
              <a:t>2023/3/18</a:t>
            </a:fld>
            <a:endParaRPr lang="en-US" altLang="zh-CN"/>
          </a:p>
        </p:txBody>
      </p:sp>
      <p:sp>
        <p:nvSpPr>
          <p:cNvPr id="9" name="灯片编号占位符 4">
            <a:extLst>
              <a:ext uri="{FF2B5EF4-FFF2-40B4-BE49-F238E27FC236}">
                <a16:creationId xmlns:a16="http://schemas.microsoft.com/office/drawing/2014/main" id="{3DCC96AB-A217-41AF-9DE9-F7D330243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124200" y="6356350"/>
            <a:ext cx="28956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fld id="{303C0AFC-701D-4C30-8979-AA789F800C3A}" type="slidenum">
              <a:rPr lang="en-US" altLang="zh-CN">
                <a:solidFill>
                  <a:srgbClr val="898989"/>
                </a:solidFill>
              </a:rPr>
              <a:pPr algn="ctr"/>
              <a:t>3</a:t>
            </a:fld>
            <a:endParaRPr lang="en-US" altLang="zh-CN">
              <a:solidFill>
                <a:srgbClr val="898989"/>
              </a:solidFill>
            </a:endParaRPr>
          </a:p>
        </p:txBody>
      </p:sp>
      <p:sp>
        <p:nvSpPr>
          <p:cNvPr id="1030" name="Rectangle 2">
            <a:extLst>
              <a:ext uri="{FF2B5EF4-FFF2-40B4-BE49-F238E27FC236}">
                <a16:creationId xmlns:a16="http://schemas.microsoft.com/office/drawing/2014/main" id="{3B4A3D04-6E65-4059-904D-0BD4A06E3E1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ea typeface="华文楷体" panose="02010600040101010101" pitchFamily="2" charset="-122"/>
              </a:rPr>
              <a:t>差分算子与微分算子</a:t>
            </a:r>
          </a:p>
        </p:txBody>
      </p:sp>
      <p:sp>
        <p:nvSpPr>
          <p:cNvPr id="209923" name="Rectangle 3">
            <a:extLst>
              <a:ext uri="{FF2B5EF4-FFF2-40B4-BE49-F238E27FC236}">
                <a16:creationId xmlns:a16="http://schemas.microsoft.com/office/drawing/2014/main" id="{F29FCD59-424F-4CCD-8A8D-076AEFA1D98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 rtlCol="0">
            <a:normAutofit/>
          </a:bodyPr>
          <a:lstStyle/>
          <a:p>
            <a:pPr fontAlgn="auto">
              <a:lnSpc>
                <a:spcPct val="90000"/>
              </a:lnSpc>
              <a:spcAft>
                <a:spcPts val="0"/>
              </a:spcAft>
              <a:defRPr/>
            </a:pPr>
            <a:r>
              <a:rPr lang="zh-CN" altLang="en-US" dirty="0">
                <a:latin typeface="+mj-lt"/>
                <a:ea typeface="华文楷体" pitchFamily="2" charset="-122"/>
              </a:rPr>
              <a:t>通常意义上的</a:t>
            </a:r>
            <a:r>
              <a:rPr lang="zh-CN" altLang="en-US" dirty="0">
                <a:ea typeface="华文楷体" pitchFamily="2" charset="-122"/>
              </a:rPr>
              <a:t>（无限）</a:t>
            </a:r>
            <a:r>
              <a:rPr lang="zh-CN" altLang="en-US" dirty="0">
                <a:latin typeface="+mj-lt"/>
                <a:ea typeface="华文楷体" pitchFamily="2" charset="-122"/>
              </a:rPr>
              <a:t>微积分</a:t>
            </a:r>
            <a:r>
              <a:rPr lang="zh-CN" altLang="en-US" dirty="0">
                <a:ea typeface="华文楷体" pitchFamily="2" charset="-122"/>
              </a:rPr>
              <a:t>，其基础是</a:t>
            </a:r>
            <a:r>
              <a:rPr lang="zh-CN" altLang="en-US" dirty="0">
                <a:latin typeface="+mj-lt"/>
                <a:ea typeface="华文楷体" pitchFamily="2" charset="-122"/>
              </a:rPr>
              <a:t>微分算子</a:t>
            </a:r>
            <a:r>
              <a:rPr lang="en-US" altLang="zh-CN" dirty="0">
                <a:latin typeface="+mj-lt"/>
                <a:ea typeface="华文楷体" pitchFamily="2" charset="-122"/>
              </a:rPr>
              <a:t>D</a:t>
            </a:r>
            <a:r>
              <a:rPr lang="zh-CN" altLang="en-US" dirty="0">
                <a:solidFill>
                  <a:srgbClr val="FF0000"/>
                </a:solidFill>
                <a:latin typeface="+mj-lt"/>
                <a:ea typeface="华文楷体" pitchFamily="2" charset="-122"/>
              </a:rPr>
              <a:t>（</a:t>
            </a:r>
            <a:r>
              <a:rPr lang="en-US" altLang="zh-CN" dirty="0">
                <a:solidFill>
                  <a:srgbClr val="FF0000"/>
                </a:solidFill>
                <a:latin typeface="+mj-lt"/>
                <a:ea typeface="华文楷体" pitchFamily="2" charset="-122"/>
              </a:rPr>
              <a:t>derivative operator</a:t>
            </a:r>
            <a:r>
              <a:rPr lang="zh-CN" altLang="en-US" dirty="0">
                <a:solidFill>
                  <a:srgbClr val="FF0000"/>
                </a:solidFill>
                <a:latin typeface="+mj-lt"/>
                <a:ea typeface="华文楷体" pitchFamily="2" charset="-122"/>
              </a:rPr>
              <a:t>）</a:t>
            </a:r>
            <a:r>
              <a:rPr lang="zh-CN" altLang="en-US" dirty="0">
                <a:latin typeface="+mj-lt"/>
                <a:ea typeface="华文楷体" pitchFamily="2" charset="-122"/>
              </a:rPr>
              <a:t>：</a:t>
            </a:r>
          </a:p>
          <a:p>
            <a:pPr fontAlgn="auto">
              <a:lnSpc>
                <a:spcPct val="90000"/>
              </a:lnSpc>
              <a:spcAft>
                <a:spcPts val="0"/>
              </a:spcAft>
              <a:defRPr/>
            </a:pPr>
            <a:endParaRPr lang="zh-CN" altLang="en-US" dirty="0">
              <a:latin typeface="+mj-lt"/>
              <a:ea typeface="华文楷体" pitchFamily="2" charset="-122"/>
            </a:endParaRPr>
          </a:p>
          <a:p>
            <a:pPr fontAlgn="auto">
              <a:lnSpc>
                <a:spcPct val="90000"/>
              </a:lnSpc>
              <a:spcAft>
                <a:spcPts val="0"/>
              </a:spcAft>
              <a:defRPr/>
            </a:pPr>
            <a:endParaRPr lang="zh-CN" altLang="en-US" sz="1000" dirty="0">
              <a:latin typeface="+mj-lt"/>
              <a:ea typeface="华文楷体" pitchFamily="2" charset="-122"/>
            </a:endParaRPr>
          </a:p>
          <a:p>
            <a:pPr fontAlgn="auto">
              <a:lnSpc>
                <a:spcPct val="90000"/>
              </a:lnSpc>
              <a:spcAft>
                <a:spcPts val="0"/>
              </a:spcAft>
              <a:defRPr/>
            </a:pPr>
            <a:r>
              <a:rPr lang="zh-CN" altLang="en-US" dirty="0">
                <a:latin typeface="+mj-lt"/>
                <a:ea typeface="华文楷体" pitchFamily="2" charset="-122"/>
              </a:rPr>
              <a:t>离散求和时用到的差分，</a:t>
            </a:r>
            <a:r>
              <a:rPr lang="en-US" altLang="zh-CN" dirty="0">
                <a:latin typeface="+mj-lt"/>
                <a:ea typeface="华文楷体" pitchFamily="2" charset="-122"/>
              </a:rPr>
              <a:t>CM</a:t>
            </a:r>
            <a:r>
              <a:rPr lang="zh-CN" altLang="en-US" dirty="0">
                <a:latin typeface="+mj-lt"/>
                <a:ea typeface="华文楷体" pitchFamily="2" charset="-122"/>
              </a:rPr>
              <a:t>中称“有限”微积分，其基础是差分算子∆</a:t>
            </a:r>
            <a:r>
              <a:rPr lang="zh-CN" altLang="en-US" dirty="0">
                <a:solidFill>
                  <a:srgbClr val="FF0000"/>
                </a:solidFill>
                <a:latin typeface="+mj-lt"/>
                <a:ea typeface="华文楷体" pitchFamily="2" charset="-122"/>
              </a:rPr>
              <a:t>（</a:t>
            </a:r>
            <a:r>
              <a:rPr lang="en-US" altLang="zh-CN" dirty="0">
                <a:solidFill>
                  <a:srgbClr val="FF0000"/>
                </a:solidFill>
                <a:latin typeface="+mj-lt"/>
                <a:ea typeface="华文楷体" pitchFamily="2" charset="-122"/>
              </a:rPr>
              <a:t>difference operator</a:t>
            </a:r>
            <a:r>
              <a:rPr lang="zh-CN" altLang="en-US" dirty="0">
                <a:solidFill>
                  <a:srgbClr val="FF0000"/>
                </a:solidFill>
                <a:latin typeface="+mj-lt"/>
                <a:ea typeface="华文楷体" pitchFamily="2" charset="-122"/>
              </a:rPr>
              <a:t>）：</a:t>
            </a:r>
          </a:p>
          <a:p>
            <a:pPr fontAlgn="auto">
              <a:lnSpc>
                <a:spcPct val="90000"/>
              </a:lnSpc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zh-CN" altLang="en-US" dirty="0">
              <a:latin typeface="+mj-lt"/>
              <a:ea typeface="华文楷体" pitchFamily="2" charset="-122"/>
            </a:endParaRPr>
          </a:p>
        </p:txBody>
      </p:sp>
      <p:sp>
        <p:nvSpPr>
          <p:cNvPr id="1032" name="Rectangle 5">
            <a:extLst>
              <a:ext uri="{FF2B5EF4-FFF2-40B4-BE49-F238E27FC236}">
                <a16:creationId xmlns:a16="http://schemas.microsoft.com/office/drawing/2014/main" id="{83DFF414-58D1-4C08-8A05-B4A993A64A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1033" name="Rectangle 7">
            <a:extLst>
              <a:ext uri="{FF2B5EF4-FFF2-40B4-BE49-F238E27FC236}">
                <a16:creationId xmlns:a16="http://schemas.microsoft.com/office/drawing/2014/main" id="{A3D584BD-4B39-4631-9D46-F20E06BFE5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289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26" name="Object 4">
                <a:extLst>
                  <a:ext uri="{FF2B5EF4-FFF2-40B4-BE49-F238E27FC236}">
                    <a16:creationId xmlns:a16="http://schemas.microsoft.com/office/drawing/2014/main" id="{D838A68E-128B-4201-8C48-80069BEB082E}"/>
                  </a:ext>
                </a:extLst>
              </p:cNvPr>
              <p:cNvSpPr txBox="1"/>
              <p:nvPr/>
            </p:nvSpPr>
            <p:spPr bwMode="auto">
              <a:xfrm>
                <a:off x="3132138" y="2708275"/>
                <a:ext cx="4167187" cy="936625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𝐷𝑓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func>
                        <m:func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→0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)−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num>
                            <m:den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den>
                          </m:f>
                        </m:e>
                      </m:func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026" name="Object 4">
                <a:extLst>
                  <a:ext uri="{FF2B5EF4-FFF2-40B4-BE49-F238E27FC236}">
                    <a16:creationId xmlns:a16="http://schemas.microsoft.com/office/drawing/2014/main" id="{D838A68E-128B-4201-8C48-80069BEB08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132138" y="2708275"/>
                <a:ext cx="4167187" cy="93662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27" name="Object 5">
                <a:extLst>
                  <a:ext uri="{FF2B5EF4-FFF2-40B4-BE49-F238E27FC236}">
                    <a16:creationId xmlns:a16="http://schemas.microsoft.com/office/drawing/2014/main" id="{7040A756-6A1A-4719-A463-380A65E145E2}"/>
                  </a:ext>
                </a:extLst>
              </p:cNvPr>
              <p:cNvSpPr txBox="1"/>
              <p:nvPr/>
            </p:nvSpPr>
            <p:spPr bwMode="auto">
              <a:xfrm>
                <a:off x="3132138" y="5229225"/>
                <a:ext cx="3743325" cy="520700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+1)−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027" name="Object 5">
                <a:extLst>
                  <a:ext uri="{FF2B5EF4-FFF2-40B4-BE49-F238E27FC236}">
                    <a16:creationId xmlns:a16="http://schemas.microsoft.com/office/drawing/2014/main" id="{7040A756-6A1A-4719-A463-380A65E145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132138" y="5229225"/>
                <a:ext cx="3743325" cy="520700"/>
              </a:xfrm>
              <a:prstGeom prst="rect">
                <a:avLst/>
              </a:prstGeom>
              <a:blipFill>
                <a:blip r:embed="rId3"/>
                <a:stretch>
                  <a:fillRect l="-4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3">
            <a:extLst>
              <a:ext uri="{FF2B5EF4-FFF2-40B4-BE49-F238E27FC236}">
                <a16:creationId xmlns:a16="http://schemas.microsoft.com/office/drawing/2014/main" id="{32E7CA6F-4DD6-44E0-AF26-D2854121F277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3241D616-2517-4B1E-B181-9E094D5DBFCC}" type="datetime1">
              <a:rPr lang="zh-CN" altLang="en-US"/>
              <a:pPr>
                <a:defRPr/>
              </a:pPr>
              <a:t>2023/3/18</a:t>
            </a:fld>
            <a:endParaRPr lang="en-US" altLang="zh-CN"/>
          </a:p>
        </p:txBody>
      </p:sp>
      <p:sp>
        <p:nvSpPr>
          <p:cNvPr id="9" name="灯片编号占位符 4">
            <a:extLst>
              <a:ext uri="{FF2B5EF4-FFF2-40B4-BE49-F238E27FC236}">
                <a16:creationId xmlns:a16="http://schemas.microsoft.com/office/drawing/2014/main" id="{3F1A297A-0723-41DB-A3E2-CD5E5CD2C7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124200" y="6356350"/>
            <a:ext cx="28956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fld id="{1C48FBC1-2D2B-481C-A151-9B875AFDB3F3}" type="slidenum">
              <a:rPr lang="en-US" altLang="zh-CN">
                <a:solidFill>
                  <a:srgbClr val="898989"/>
                </a:solidFill>
              </a:rPr>
              <a:pPr algn="ctr"/>
              <a:t>4</a:t>
            </a:fld>
            <a:endParaRPr lang="en-US" altLang="zh-CN">
              <a:solidFill>
                <a:srgbClr val="898989"/>
              </a:solidFill>
            </a:endParaRPr>
          </a:p>
        </p:txBody>
      </p:sp>
      <p:sp>
        <p:nvSpPr>
          <p:cNvPr id="26628" name="Rectangle 2">
            <a:extLst>
              <a:ext uri="{FF2B5EF4-FFF2-40B4-BE49-F238E27FC236}">
                <a16:creationId xmlns:a16="http://schemas.microsoft.com/office/drawing/2014/main" id="{BB97B6C2-AB3C-4258-AEC5-E2159136917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ea typeface="华文楷体" panose="02010600040101010101" pitchFamily="2" charset="-122"/>
              </a:rPr>
              <a:t>差分算子与微分算子</a:t>
            </a:r>
          </a:p>
        </p:txBody>
      </p:sp>
      <p:sp>
        <p:nvSpPr>
          <p:cNvPr id="209923" name="Rectangle 3">
            <a:extLst>
              <a:ext uri="{FF2B5EF4-FFF2-40B4-BE49-F238E27FC236}">
                <a16:creationId xmlns:a16="http://schemas.microsoft.com/office/drawing/2014/main" id="{1CE28E86-9D26-44A3-B957-D84A421FB6A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 rtlCol="0">
            <a:normAutofit lnSpcReduction="10000"/>
          </a:bodyPr>
          <a:lstStyle/>
          <a:p>
            <a:pPr fontAlgn="auto">
              <a:lnSpc>
                <a:spcPct val="90000"/>
              </a:lnSpc>
              <a:spcAft>
                <a:spcPts val="0"/>
              </a:spcAft>
              <a:defRPr/>
            </a:pPr>
            <a:r>
              <a:rPr lang="zh-CN" altLang="en-US" dirty="0">
                <a:latin typeface="+mj-lt"/>
                <a:ea typeface="华文楷体" pitchFamily="2" charset="-122"/>
              </a:rPr>
              <a:t>差分算子是微分算子的“离散”相似（对应）物</a:t>
            </a:r>
            <a:endParaRPr lang="en-US" altLang="zh-CN" dirty="0">
              <a:latin typeface="+mj-lt"/>
              <a:ea typeface="华文楷体" pitchFamily="2" charset="-122"/>
            </a:endParaRPr>
          </a:p>
          <a:p>
            <a:pPr fontAlgn="auto">
              <a:lnSpc>
                <a:spcPct val="90000"/>
              </a:lnSpc>
              <a:spcAft>
                <a:spcPts val="0"/>
              </a:spcAft>
              <a:defRPr/>
            </a:pPr>
            <a:endParaRPr lang="en-US" altLang="zh-CN" dirty="0">
              <a:latin typeface="+mj-lt"/>
              <a:ea typeface="华文楷体" pitchFamily="2" charset="-122"/>
            </a:endParaRPr>
          </a:p>
          <a:p>
            <a:pPr fontAlgn="auto">
              <a:lnSpc>
                <a:spcPct val="90000"/>
              </a:lnSpc>
              <a:spcAft>
                <a:spcPts val="0"/>
              </a:spcAft>
              <a:defRPr/>
            </a:pPr>
            <a:r>
              <a:rPr lang="en-US" altLang="zh-CN" dirty="0">
                <a:latin typeface="+mj-lt"/>
                <a:ea typeface="华文楷体" pitchFamily="2" charset="-122"/>
              </a:rPr>
              <a:t>D</a:t>
            </a:r>
            <a:r>
              <a:rPr lang="zh-CN" altLang="en-US" dirty="0">
                <a:latin typeface="+mj-lt"/>
                <a:ea typeface="华文楷体" pitchFamily="2" charset="-122"/>
              </a:rPr>
              <a:t>、∆定义在函数上，得到的结果是新的函数，因此可称为</a:t>
            </a:r>
            <a:r>
              <a:rPr lang="zh-CN" altLang="en-US" dirty="0">
                <a:solidFill>
                  <a:srgbClr val="0000FF"/>
                </a:solidFill>
                <a:latin typeface="+mj-lt"/>
                <a:ea typeface="华文楷体" pitchFamily="2" charset="-122"/>
              </a:rPr>
              <a:t>“函数的函数”</a:t>
            </a:r>
            <a:r>
              <a:rPr lang="en-US" altLang="zh-CN" dirty="0">
                <a:solidFill>
                  <a:srgbClr val="0000FF"/>
                </a:solidFill>
                <a:latin typeface="+mj-lt"/>
                <a:ea typeface="华文楷体" pitchFamily="2" charset="-122"/>
              </a:rPr>
              <a:t>——</a:t>
            </a:r>
            <a:r>
              <a:rPr lang="zh-CN" altLang="en-US" dirty="0">
                <a:solidFill>
                  <a:srgbClr val="0000FF"/>
                </a:solidFill>
                <a:latin typeface="+mj-lt"/>
                <a:ea typeface="华文楷体" pitchFamily="2" charset="-122"/>
              </a:rPr>
              <a:t>算子</a:t>
            </a:r>
            <a:endParaRPr lang="en-US" altLang="zh-CN" dirty="0">
              <a:latin typeface="+mj-lt"/>
              <a:ea typeface="华文楷体" pitchFamily="2" charset="-122"/>
            </a:endParaRPr>
          </a:p>
          <a:p>
            <a:pPr fontAlgn="auto">
              <a:lnSpc>
                <a:spcPct val="90000"/>
              </a:lnSpc>
              <a:spcAft>
                <a:spcPts val="0"/>
              </a:spcAft>
              <a:defRPr/>
            </a:pPr>
            <a:endParaRPr lang="en-US" altLang="zh-CN" dirty="0">
              <a:latin typeface="+mj-lt"/>
              <a:ea typeface="华文楷体" pitchFamily="2" charset="-122"/>
            </a:endParaRPr>
          </a:p>
          <a:p>
            <a:pPr fontAlgn="auto">
              <a:lnSpc>
                <a:spcPct val="90000"/>
              </a:lnSpc>
              <a:spcAft>
                <a:spcPts val="0"/>
              </a:spcAft>
              <a:defRPr/>
            </a:pPr>
            <a:r>
              <a:rPr lang="zh-CN" altLang="en-US" dirty="0">
                <a:latin typeface="+mj-lt"/>
                <a:ea typeface="华文楷体" pitchFamily="2" charset="-122"/>
              </a:rPr>
              <a:t>若</a:t>
            </a:r>
            <a:r>
              <a:rPr lang="en-US" altLang="zh-CN" dirty="0">
                <a:latin typeface="+mj-lt"/>
                <a:ea typeface="华文楷体" pitchFamily="2" charset="-122"/>
              </a:rPr>
              <a:t>f</a:t>
            </a:r>
            <a:r>
              <a:rPr lang="zh-CN" altLang="en-US" dirty="0">
                <a:latin typeface="+mj-lt"/>
                <a:ea typeface="华文楷体" pitchFamily="2" charset="-122"/>
              </a:rPr>
              <a:t>是从实数到实数的光滑函数，则</a:t>
            </a:r>
            <a:r>
              <a:rPr lang="en-US" altLang="zh-CN" dirty="0" err="1">
                <a:latin typeface="+mj-lt"/>
                <a:ea typeface="华文楷体" pitchFamily="2" charset="-122"/>
              </a:rPr>
              <a:t>Df</a:t>
            </a:r>
            <a:r>
              <a:rPr lang="zh-CN" altLang="en-US" dirty="0">
                <a:latin typeface="+mj-lt"/>
                <a:ea typeface="华文楷体" pitchFamily="2" charset="-122"/>
              </a:rPr>
              <a:t>也是从实数到实数的函数</a:t>
            </a:r>
            <a:endParaRPr lang="en-US" altLang="zh-CN" dirty="0">
              <a:latin typeface="+mj-lt"/>
              <a:ea typeface="华文楷体" pitchFamily="2" charset="-122"/>
            </a:endParaRPr>
          </a:p>
          <a:p>
            <a:pPr fontAlgn="auto">
              <a:lnSpc>
                <a:spcPct val="90000"/>
              </a:lnSpc>
              <a:spcAft>
                <a:spcPts val="0"/>
              </a:spcAft>
              <a:defRPr/>
            </a:pPr>
            <a:r>
              <a:rPr lang="zh-CN" altLang="en-US" dirty="0">
                <a:latin typeface="+mj-lt"/>
                <a:ea typeface="华文楷体" pitchFamily="2" charset="-122"/>
              </a:rPr>
              <a:t>∆</a:t>
            </a:r>
            <a:r>
              <a:rPr lang="en-US" altLang="zh-CN" dirty="0">
                <a:latin typeface="+mj-lt"/>
                <a:ea typeface="华文楷体" pitchFamily="2" charset="-122"/>
              </a:rPr>
              <a:t>f</a:t>
            </a:r>
            <a:r>
              <a:rPr lang="zh-CN" altLang="en-US" dirty="0">
                <a:latin typeface="+mj-lt"/>
                <a:ea typeface="华文楷体" pitchFamily="2" charset="-122"/>
              </a:rPr>
              <a:t>类似</a:t>
            </a:r>
            <a:endParaRPr lang="zh-CN" altLang="en-US" sz="2800" dirty="0">
              <a:latin typeface="+mj-lt"/>
              <a:ea typeface="华文楷体" pitchFamily="2" charset="-122"/>
            </a:endParaRPr>
          </a:p>
        </p:txBody>
      </p:sp>
      <p:sp>
        <p:nvSpPr>
          <p:cNvPr id="26630" name="Rectangle 5">
            <a:extLst>
              <a:ext uri="{FF2B5EF4-FFF2-40B4-BE49-F238E27FC236}">
                <a16:creationId xmlns:a16="http://schemas.microsoft.com/office/drawing/2014/main" id="{913326C5-AA67-4470-B265-727A167ECE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26631" name="Rectangle 7">
            <a:extLst>
              <a:ext uri="{FF2B5EF4-FFF2-40B4-BE49-F238E27FC236}">
                <a16:creationId xmlns:a16="http://schemas.microsoft.com/office/drawing/2014/main" id="{AE92E0D8-9B7C-47D1-8A35-F269CF9788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289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3">
            <a:extLst>
              <a:ext uri="{FF2B5EF4-FFF2-40B4-BE49-F238E27FC236}">
                <a16:creationId xmlns:a16="http://schemas.microsoft.com/office/drawing/2014/main" id="{EF0A63F7-F3F1-42F5-9968-1B928D7B5F6B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053E1B18-12C3-4F4D-9844-2C24FC588836}" type="datetime1">
              <a:rPr lang="zh-CN" altLang="en-US"/>
              <a:pPr>
                <a:defRPr/>
              </a:pPr>
              <a:t>2023/3/18</a:t>
            </a:fld>
            <a:endParaRPr lang="en-US" altLang="zh-CN"/>
          </a:p>
        </p:txBody>
      </p:sp>
      <p:sp>
        <p:nvSpPr>
          <p:cNvPr id="9" name="灯片编号占位符 4">
            <a:extLst>
              <a:ext uri="{FF2B5EF4-FFF2-40B4-BE49-F238E27FC236}">
                <a16:creationId xmlns:a16="http://schemas.microsoft.com/office/drawing/2014/main" id="{A9254312-B6A5-43B0-81F3-34C25606EE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124200" y="6356350"/>
            <a:ext cx="28956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fld id="{67D7F98E-E642-453E-906A-2F6A19CA2567}" type="slidenum">
              <a:rPr lang="en-US" altLang="zh-CN">
                <a:solidFill>
                  <a:srgbClr val="898989"/>
                </a:solidFill>
              </a:rPr>
              <a:pPr algn="ctr"/>
              <a:t>5</a:t>
            </a:fld>
            <a:endParaRPr lang="en-US" altLang="zh-CN">
              <a:solidFill>
                <a:srgbClr val="898989"/>
              </a:solidFill>
            </a:endParaRPr>
          </a:p>
        </p:txBody>
      </p:sp>
      <p:sp>
        <p:nvSpPr>
          <p:cNvPr id="2053" name="Rectangle 2">
            <a:extLst>
              <a:ext uri="{FF2B5EF4-FFF2-40B4-BE49-F238E27FC236}">
                <a16:creationId xmlns:a16="http://schemas.microsoft.com/office/drawing/2014/main" id="{0B54CEC8-015F-46C2-9863-C018B5BE0A6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ea typeface="华文楷体" panose="02010600040101010101" pitchFamily="2" charset="-122"/>
              </a:rPr>
              <a:t>差分中的“幂”</a:t>
            </a:r>
            <a:r>
              <a:rPr lang="en-US" altLang="zh-CN" dirty="0">
                <a:ea typeface="华文楷体" panose="02010600040101010101" pitchFamily="2" charset="-122"/>
              </a:rPr>
              <a:t>----</a:t>
            </a:r>
            <a:r>
              <a:rPr lang="zh-CN" altLang="en-US" dirty="0">
                <a:ea typeface="华文楷体" panose="02010600040101010101" pitchFamily="2" charset="-122"/>
              </a:rPr>
              <a:t>阶乘幂</a:t>
            </a:r>
          </a:p>
        </p:txBody>
      </p:sp>
      <p:sp>
        <p:nvSpPr>
          <p:cNvPr id="210947" name="Rectangle 3">
            <a:extLst>
              <a:ext uri="{FF2B5EF4-FFF2-40B4-BE49-F238E27FC236}">
                <a16:creationId xmlns:a16="http://schemas.microsoft.com/office/drawing/2014/main" id="{30B2796E-3C24-434C-982C-003910F273A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 rtlCol="0"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zh-CN" altLang="en-US">
                <a:latin typeface="+mj-lt"/>
                <a:ea typeface="华文楷体" pitchFamily="2" charset="-122"/>
              </a:rPr>
              <a:t>在微分算子下，幂具有很友好的计算方面的性质。在差分算子下，对应有一类“</a:t>
            </a:r>
            <a:r>
              <a:rPr lang="en-US" altLang="zh-CN" i="1">
                <a:latin typeface="+mj-lt"/>
                <a:ea typeface="华文楷体" pitchFamily="2" charset="-122"/>
              </a:rPr>
              <a:t>m</a:t>
            </a:r>
            <a:r>
              <a:rPr lang="zh-CN" altLang="en-US">
                <a:latin typeface="+mj-lt"/>
                <a:ea typeface="华文楷体" pitchFamily="2" charset="-122"/>
              </a:rPr>
              <a:t>次</a:t>
            </a:r>
            <a:r>
              <a:rPr lang="zh-CN" altLang="en-US">
                <a:ea typeface="华文楷体" pitchFamily="2" charset="-122"/>
              </a:rPr>
              <a:t>阶乘</a:t>
            </a:r>
            <a:r>
              <a:rPr lang="zh-CN" altLang="en-US">
                <a:latin typeface="+mj-lt"/>
                <a:ea typeface="华文楷体" pitchFamily="2" charset="-122"/>
              </a:rPr>
              <a:t>幂”，在∆下具有很优美的变换性质：</a:t>
            </a:r>
          </a:p>
          <a:p>
            <a:pPr fontAlgn="auto">
              <a:spcAft>
                <a:spcPts val="0"/>
              </a:spcAft>
              <a:defRPr/>
            </a:pPr>
            <a:endParaRPr lang="zh-CN" altLang="en-US">
              <a:latin typeface="+mj-lt"/>
              <a:ea typeface="华文楷体" pitchFamily="2" charset="-122"/>
            </a:endParaRPr>
          </a:p>
          <a:p>
            <a:pPr fontAlgn="auto">
              <a:spcAft>
                <a:spcPts val="0"/>
              </a:spcAft>
              <a:defRPr/>
            </a:pPr>
            <a:endParaRPr lang="zh-CN" altLang="en-US">
              <a:latin typeface="+mj-lt"/>
              <a:ea typeface="华文楷体" pitchFamily="2" charset="-122"/>
            </a:endParaRPr>
          </a:p>
          <a:p>
            <a:pPr fontAlgn="auto">
              <a:spcAft>
                <a:spcPts val="0"/>
              </a:spcAft>
              <a:defRPr/>
            </a:pPr>
            <a:endParaRPr lang="zh-CN" altLang="en-US">
              <a:latin typeface="+mj-lt"/>
              <a:ea typeface="华文楷体" pitchFamily="2" charset="-122"/>
            </a:endParaRPr>
          </a:p>
          <a:p>
            <a:pPr fontAlgn="auto">
              <a:spcAft>
                <a:spcPts val="0"/>
              </a:spcAft>
              <a:defRPr/>
            </a:pPr>
            <a:r>
              <a:rPr lang="zh-CN" altLang="en-US">
                <a:latin typeface="+mj-lt"/>
                <a:ea typeface="华文楷体" pitchFamily="2" charset="-122"/>
              </a:rPr>
              <a:t>由于在形式上与阶乘函数</a:t>
            </a:r>
            <a:r>
              <a:rPr lang="en-US" altLang="zh-CN" i="1">
                <a:latin typeface="+mj-lt"/>
                <a:ea typeface="华文楷体" pitchFamily="2" charset="-122"/>
              </a:rPr>
              <a:t>n</a:t>
            </a:r>
            <a:r>
              <a:rPr lang="en-US" altLang="zh-CN">
                <a:latin typeface="+mj-lt"/>
                <a:ea typeface="华文楷体" pitchFamily="2" charset="-122"/>
              </a:rPr>
              <a:t>!=</a:t>
            </a:r>
            <a:r>
              <a:rPr lang="en-US" altLang="zh-CN" i="1">
                <a:latin typeface="+mj-lt"/>
                <a:ea typeface="华文楷体" pitchFamily="2" charset="-122"/>
              </a:rPr>
              <a:t>n</a:t>
            </a:r>
            <a:r>
              <a:rPr lang="en-US" altLang="zh-CN">
                <a:latin typeface="+mj-lt"/>
                <a:ea typeface="华文楷体" pitchFamily="2" charset="-122"/>
              </a:rPr>
              <a:t>(</a:t>
            </a:r>
            <a:r>
              <a:rPr lang="en-US" altLang="zh-CN" i="1">
                <a:latin typeface="+mj-lt"/>
                <a:ea typeface="华文楷体" pitchFamily="2" charset="-122"/>
              </a:rPr>
              <a:t>n</a:t>
            </a:r>
            <a:r>
              <a:rPr lang="en-US" altLang="zh-CN">
                <a:latin typeface="+mj-lt"/>
                <a:ea typeface="华文楷体" pitchFamily="2" charset="-122"/>
              </a:rPr>
              <a:t>–1)…1</a:t>
            </a:r>
            <a:r>
              <a:rPr lang="zh-CN" altLang="en-US">
                <a:latin typeface="+mj-lt"/>
                <a:ea typeface="华文楷体" pitchFamily="2" charset="-122"/>
              </a:rPr>
              <a:t>很相近，因此</a:t>
            </a:r>
            <a:r>
              <a:rPr lang="zh-CN" altLang="en-US">
                <a:ea typeface="华文楷体" pitchFamily="2" charset="-122"/>
              </a:rPr>
              <a:t>称为</a:t>
            </a:r>
            <a:r>
              <a:rPr lang="zh-CN" altLang="en-US">
                <a:solidFill>
                  <a:srgbClr val="0000FF"/>
                </a:solidFill>
                <a:ea typeface="华文楷体" pitchFamily="2" charset="-122"/>
              </a:rPr>
              <a:t>下降阶乘幂</a:t>
            </a:r>
            <a:r>
              <a:rPr lang="zh-CN" altLang="en-US">
                <a:ea typeface="华文楷体" pitchFamily="2" charset="-122"/>
              </a:rPr>
              <a:t>和</a:t>
            </a:r>
            <a:r>
              <a:rPr lang="zh-CN" altLang="en-US">
                <a:solidFill>
                  <a:srgbClr val="0000FF"/>
                </a:solidFill>
                <a:ea typeface="华文楷体" pitchFamily="2" charset="-122"/>
              </a:rPr>
              <a:t>上升阶乘幂</a:t>
            </a:r>
            <a:r>
              <a:rPr lang="zh-CN" altLang="en-US">
                <a:latin typeface="+mj-lt"/>
                <a:ea typeface="华文楷体" pitchFamily="2" charset="-122"/>
              </a:rPr>
              <a:t>。</a:t>
            </a:r>
          </a:p>
        </p:txBody>
      </p:sp>
      <p:sp>
        <p:nvSpPr>
          <p:cNvPr id="2055" name="Rectangle 5">
            <a:extLst>
              <a:ext uri="{FF2B5EF4-FFF2-40B4-BE49-F238E27FC236}">
                <a16:creationId xmlns:a16="http://schemas.microsoft.com/office/drawing/2014/main" id="{EAE62BA8-3498-4554-9B7A-319A66B27A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2056" name="Rectangle 7">
            <a:extLst>
              <a:ext uri="{FF2B5EF4-FFF2-40B4-BE49-F238E27FC236}">
                <a16:creationId xmlns:a16="http://schemas.microsoft.com/office/drawing/2014/main" id="{9D0589D8-1DB2-4D34-B7CC-A7F58B55F8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385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50" name="Object 4">
                <a:extLst>
                  <a:ext uri="{FF2B5EF4-FFF2-40B4-BE49-F238E27FC236}">
                    <a16:creationId xmlns:a16="http://schemas.microsoft.com/office/drawing/2014/main" id="{A2A64707-7432-4798-9ABA-495F2825B254}"/>
                  </a:ext>
                </a:extLst>
              </p:cNvPr>
              <p:cNvSpPr txBox="1"/>
              <p:nvPr/>
            </p:nvSpPr>
            <p:spPr bwMode="auto">
              <a:xfrm>
                <a:off x="2916238" y="3141663"/>
                <a:ext cx="3429000" cy="1703387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bar>
                            <m:bar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</m:bar>
                        </m:sup>
                      </m:sSup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limUpp>
                        <m:limUp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limUppPr>
                        <m:e>
                          <m:groupChr>
                            <m:groupChrPr>
                              <m:chr m:val="⏞"/>
                              <m:pos m:val="top"/>
                              <m:vertJc m:val="bot"/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−1)⋯(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+1)</m:t>
                              </m:r>
                            </m:e>
                          </m:groupChr>
                        </m:e>
                        <m:lim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个数</m:t>
                          </m:r>
                        </m:lim>
                      </m:limUpp>
                    </m:oMath>
                    <m:oMath xmlns:m="http://schemas.openxmlformats.org/officeDocument/2006/math"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bar>
                            <m:barPr>
                              <m:pos m:val="top"/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</m:bar>
                        </m:sup>
                      </m:sSup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limUpp>
                        <m:limUp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limUppPr>
                        <m:e>
                          <m:groupChr>
                            <m:groupChrPr>
                              <m:chr m:val="⏞"/>
                              <m:pos m:val="top"/>
                              <m:vertJc m:val="bot"/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+1)⋯(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−1)</m:t>
                              </m:r>
                            </m:e>
                          </m:groupChr>
                        </m:e>
                        <m:lim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个数</m:t>
                          </m:r>
                        </m:lim>
                      </m:limUpp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050" name="Object 4">
                <a:extLst>
                  <a:ext uri="{FF2B5EF4-FFF2-40B4-BE49-F238E27FC236}">
                    <a16:creationId xmlns:a16="http://schemas.microsoft.com/office/drawing/2014/main" id="{A2A64707-7432-4798-9ABA-495F2825B2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916238" y="3141663"/>
                <a:ext cx="3429000" cy="170338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日期占位符 3">
            <a:extLst>
              <a:ext uri="{FF2B5EF4-FFF2-40B4-BE49-F238E27FC236}">
                <a16:creationId xmlns:a16="http://schemas.microsoft.com/office/drawing/2014/main" id="{25A371BB-2749-4ED4-B05F-6D10039E3C67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24414A83-8FB3-4A9B-B47C-5838A6EFDDF6}" type="datetime1">
              <a:rPr lang="zh-CN" altLang="en-US"/>
              <a:pPr>
                <a:defRPr/>
              </a:pPr>
              <a:t>2023/3/18</a:t>
            </a:fld>
            <a:endParaRPr lang="en-US" altLang="zh-CN"/>
          </a:p>
        </p:txBody>
      </p:sp>
      <p:sp>
        <p:nvSpPr>
          <p:cNvPr id="11" name="灯片编号占位符 4">
            <a:extLst>
              <a:ext uri="{FF2B5EF4-FFF2-40B4-BE49-F238E27FC236}">
                <a16:creationId xmlns:a16="http://schemas.microsoft.com/office/drawing/2014/main" id="{70E8B9E7-2669-4AE7-A588-232319EE2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124200" y="6356350"/>
            <a:ext cx="28956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fld id="{EACE65B4-ABF2-467D-95AA-3C9BE5459D06}" type="slidenum">
              <a:rPr lang="en-US" altLang="zh-CN">
                <a:solidFill>
                  <a:srgbClr val="898989"/>
                </a:solidFill>
              </a:rPr>
              <a:pPr algn="ctr"/>
              <a:t>6</a:t>
            </a:fld>
            <a:endParaRPr lang="en-US" altLang="zh-CN">
              <a:solidFill>
                <a:srgbClr val="898989"/>
              </a:solidFill>
            </a:endParaRPr>
          </a:p>
        </p:txBody>
      </p:sp>
      <p:sp>
        <p:nvSpPr>
          <p:cNvPr id="3077" name="Rectangle 2">
            <a:extLst>
              <a:ext uri="{FF2B5EF4-FFF2-40B4-BE49-F238E27FC236}">
                <a16:creationId xmlns:a16="http://schemas.microsoft.com/office/drawing/2014/main" id="{4E426FFE-44E2-4179-8F48-6B3218B301B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000">
                <a:ea typeface="华文楷体" panose="02010600040101010101" pitchFamily="2" charset="-122"/>
              </a:rPr>
              <a:t>下降阶乘幂和上升阶乘幂</a:t>
            </a:r>
          </a:p>
        </p:txBody>
      </p:sp>
      <p:sp>
        <p:nvSpPr>
          <p:cNvPr id="211971" name="Rectangle 3">
            <a:extLst>
              <a:ext uri="{FF2B5EF4-FFF2-40B4-BE49-F238E27FC236}">
                <a16:creationId xmlns:a16="http://schemas.microsoft.com/office/drawing/2014/main" id="{ADB8FC31-38FF-45CA-895B-214B3FD61D1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 rtlCol="0"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zh-CN" altLang="en-US" dirty="0">
                <a:solidFill>
                  <a:srgbClr val="0000FF"/>
                </a:solidFill>
                <a:latin typeface="+mj-lt"/>
                <a:ea typeface="华文楷体" pitchFamily="2" charset="-122"/>
              </a:rPr>
              <a:t>幂函数</a:t>
            </a:r>
            <a:r>
              <a:rPr lang="zh-CN" altLang="en-US" dirty="0">
                <a:latin typeface="+mj-lt"/>
                <a:ea typeface="华文楷体" pitchFamily="2" charset="-122"/>
              </a:rPr>
              <a:t>在微分算子下的计算：</a:t>
            </a:r>
            <a:endParaRPr lang="en-US" altLang="zh-CN" dirty="0">
              <a:latin typeface="+mj-lt"/>
              <a:ea typeface="华文楷体" pitchFamily="2" charset="-122"/>
            </a:endParaRPr>
          </a:p>
          <a:p>
            <a:pPr algn="ctr"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altLang="zh-CN" dirty="0">
                <a:latin typeface="+mj-lt"/>
                <a:ea typeface="华文楷体" pitchFamily="2" charset="-122"/>
              </a:rPr>
              <a:t>D(</a:t>
            </a:r>
            <a:r>
              <a:rPr lang="en-US" altLang="zh-CN" dirty="0" err="1">
                <a:latin typeface="+mj-lt"/>
                <a:ea typeface="华文楷体" pitchFamily="2" charset="-122"/>
              </a:rPr>
              <a:t>x</a:t>
            </a:r>
            <a:r>
              <a:rPr lang="en-US" altLang="zh-CN" baseline="30000" dirty="0" err="1">
                <a:latin typeface="+mj-lt"/>
                <a:ea typeface="华文楷体" pitchFamily="2" charset="-122"/>
              </a:rPr>
              <a:t>m</a:t>
            </a:r>
            <a:r>
              <a:rPr lang="en-US" altLang="zh-CN" dirty="0">
                <a:latin typeface="+mj-lt"/>
                <a:ea typeface="华文楷体" pitchFamily="2" charset="-122"/>
              </a:rPr>
              <a:t>) = mx</a:t>
            </a:r>
            <a:r>
              <a:rPr lang="en-US" altLang="zh-CN" baseline="30000" dirty="0">
                <a:latin typeface="+mj-lt"/>
                <a:ea typeface="华文楷体" pitchFamily="2" charset="-122"/>
              </a:rPr>
              <a:t>m-1</a:t>
            </a:r>
          </a:p>
          <a:p>
            <a:pPr algn="ctr"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altLang="zh-CN" baseline="30000" dirty="0">
              <a:latin typeface="+mj-lt"/>
              <a:ea typeface="华文楷体" pitchFamily="2" charset="-122"/>
            </a:endParaRPr>
          </a:p>
          <a:p>
            <a:pPr fontAlgn="auto">
              <a:spcAft>
                <a:spcPts val="0"/>
              </a:spcAft>
              <a:defRPr/>
            </a:pPr>
            <a:r>
              <a:rPr lang="zh-CN" altLang="en-US" dirty="0">
                <a:solidFill>
                  <a:srgbClr val="0000FF"/>
                </a:solidFill>
                <a:latin typeface="+mj-lt"/>
                <a:ea typeface="华文楷体" pitchFamily="2" charset="-122"/>
              </a:rPr>
              <a:t>下降阶乘幂</a:t>
            </a:r>
            <a:r>
              <a:rPr lang="zh-CN" altLang="en-US" dirty="0">
                <a:latin typeface="+mj-lt"/>
                <a:ea typeface="华文楷体" pitchFamily="2" charset="-122"/>
              </a:rPr>
              <a:t>在差分算子∆下的计算：</a:t>
            </a:r>
          </a:p>
          <a:p>
            <a:pPr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zh-CN" altLang="en-US" sz="2800" dirty="0">
              <a:latin typeface="+mj-lt"/>
              <a:ea typeface="华文楷体" pitchFamily="2" charset="-122"/>
            </a:endParaRPr>
          </a:p>
          <a:p>
            <a:pPr fontAlgn="auto">
              <a:spcAft>
                <a:spcPts val="0"/>
              </a:spcAft>
              <a:defRPr/>
            </a:pPr>
            <a:endParaRPr lang="zh-CN" altLang="en-US" sz="2800" dirty="0">
              <a:latin typeface="+mj-lt"/>
              <a:ea typeface="华文楷体" pitchFamily="2" charset="-122"/>
            </a:endParaRPr>
          </a:p>
          <a:p>
            <a:pPr fontAlgn="auto">
              <a:spcAft>
                <a:spcPts val="0"/>
              </a:spcAft>
              <a:defRPr/>
            </a:pPr>
            <a:endParaRPr lang="en-US" altLang="zh-CN" sz="2800" dirty="0">
              <a:latin typeface="+mj-lt"/>
              <a:ea typeface="华文楷体" pitchFamily="2" charset="-122"/>
            </a:endParaRPr>
          </a:p>
          <a:p>
            <a:pPr fontAlgn="auto">
              <a:spcAft>
                <a:spcPts val="0"/>
              </a:spcAft>
              <a:defRPr/>
            </a:pPr>
            <a:endParaRPr lang="en-US" altLang="zh-CN" sz="2800" dirty="0">
              <a:latin typeface="+mj-lt"/>
              <a:ea typeface="华文楷体" pitchFamily="2" charset="-122"/>
            </a:endParaRPr>
          </a:p>
          <a:p>
            <a:pPr fontAlgn="auto">
              <a:spcAft>
                <a:spcPts val="0"/>
              </a:spcAft>
              <a:defRPr/>
            </a:pPr>
            <a:endParaRPr lang="en-US" altLang="zh-CN" sz="2800" dirty="0">
              <a:latin typeface="+mj-lt"/>
              <a:ea typeface="华文楷体" pitchFamily="2" charset="-122"/>
            </a:endParaRPr>
          </a:p>
        </p:txBody>
      </p:sp>
      <p:sp>
        <p:nvSpPr>
          <p:cNvPr id="3079" name="Rectangle 5">
            <a:extLst>
              <a:ext uri="{FF2B5EF4-FFF2-40B4-BE49-F238E27FC236}">
                <a16:creationId xmlns:a16="http://schemas.microsoft.com/office/drawing/2014/main" id="{7C69129A-4F8F-424E-8F1A-63F8F994D3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0861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3080" name="Rectangle 7">
            <a:extLst>
              <a:ext uri="{FF2B5EF4-FFF2-40B4-BE49-F238E27FC236}">
                <a16:creationId xmlns:a16="http://schemas.microsoft.com/office/drawing/2014/main" id="{59E9D940-20AC-45E9-AF2B-226160C0A6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289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3081" name="Rectangle 9">
            <a:extLst>
              <a:ext uri="{FF2B5EF4-FFF2-40B4-BE49-F238E27FC236}">
                <a16:creationId xmlns:a16="http://schemas.microsoft.com/office/drawing/2014/main" id="{52DA82CF-C30F-4C14-A3F4-08C7A19219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004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74" name="Object 6">
                <a:extLst>
                  <a:ext uri="{FF2B5EF4-FFF2-40B4-BE49-F238E27FC236}">
                    <a16:creationId xmlns:a16="http://schemas.microsoft.com/office/drawing/2014/main" id="{067E7B43-76DA-4C84-BC09-866067BCA490}"/>
                  </a:ext>
                </a:extLst>
              </p:cNvPr>
              <p:cNvSpPr txBox="1"/>
              <p:nvPr/>
            </p:nvSpPr>
            <p:spPr bwMode="auto">
              <a:xfrm>
                <a:off x="1908796" y="3791216"/>
                <a:ext cx="6768752" cy="2589213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bar>
                            <m:bar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</m:bar>
                        </m:sup>
                      </m:sSup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m:rPr>
                          <m:aln/>
                        </m:rP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+1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bar>
                            <m:bar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</m:bar>
                        </m:sup>
                      </m:sSup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bar>
                            <m:bar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</m:bar>
                        </m:sup>
                      </m:sSup>
                    </m:oMath>
                    <m:oMath xmlns:m="http://schemas.openxmlformats.org/officeDocument/2006/math">
                      <m:r>
                        <m:rPr>
                          <m:aln/>
                        </m:rP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+1)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⋯(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+2)</m:t>
                          </m:r>
                        </m:e>
                      </m:d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begChr m:val="["/>
                          <m:endChr m:val="]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−1)⋯(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+1)</m:t>
                          </m:r>
                        </m:e>
                      </m:d>
                    </m:oMath>
                    <m:oMath xmlns:m="http://schemas.openxmlformats.org/officeDocument/2006/math">
                      <m:r>
                        <m:rPr>
                          <m:aln/>
                        </m:rP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+1)−(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+1)</m:t>
                          </m:r>
                        </m:e>
                      </m:d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d>
                        <m:dPr>
                          <m:begChr m:val="["/>
                          <m:endChr m:val="]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−1)⋯(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+2)</m:t>
                          </m:r>
                        </m:e>
                      </m:d>
                    </m:oMath>
                    <m:oMath xmlns:m="http://schemas.openxmlformats.org/officeDocument/2006/math">
                      <m:r>
                        <m:rPr>
                          <m:aln/>
                        </m:rP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d>
                        <m:dPr>
                          <m:begChr m:val="["/>
                          <m:endChr m:val="]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−1)⋯(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+2)</m:t>
                          </m:r>
                        </m:e>
                      </m:d>
                    </m:oMath>
                    <m:oMath xmlns:m="http://schemas.openxmlformats.org/officeDocument/2006/math">
                      <m:r>
                        <m:rPr>
                          <m:aln/>
                        </m:rP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bar>
                            <m:bar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bar>
                        </m:sup>
                      </m:sSup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074" name="Object 6">
                <a:extLst>
                  <a:ext uri="{FF2B5EF4-FFF2-40B4-BE49-F238E27FC236}">
                    <a16:creationId xmlns:a16="http://schemas.microsoft.com/office/drawing/2014/main" id="{067E7B43-76DA-4C84-BC09-866067BCA4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908796" y="3791216"/>
                <a:ext cx="6768752" cy="258921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日期占位符 3">
            <a:extLst>
              <a:ext uri="{FF2B5EF4-FFF2-40B4-BE49-F238E27FC236}">
                <a16:creationId xmlns:a16="http://schemas.microsoft.com/office/drawing/2014/main" id="{EFE53DF1-6A46-4D72-95E9-2B07DE0C9D2E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24414A83-8FB3-4A9B-B47C-5838A6EFDDF6}" type="datetime1">
              <a:rPr lang="zh-CN" altLang="en-US"/>
              <a:pPr>
                <a:defRPr/>
              </a:pPr>
              <a:t>2023/3/18</a:t>
            </a:fld>
            <a:endParaRPr lang="en-US" altLang="zh-CN"/>
          </a:p>
        </p:txBody>
      </p:sp>
      <p:sp>
        <p:nvSpPr>
          <p:cNvPr id="11" name="灯片编号占位符 4">
            <a:extLst>
              <a:ext uri="{FF2B5EF4-FFF2-40B4-BE49-F238E27FC236}">
                <a16:creationId xmlns:a16="http://schemas.microsoft.com/office/drawing/2014/main" id="{83147FEE-649E-4531-83EB-F2B3B34960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124200" y="6356350"/>
            <a:ext cx="28956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fld id="{85E6F24E-3436-4B2E-93E6-91FE13C31E4C}" type="slidenum">
              <a:rPr lang="en-US" altLang="zh-CN">
                <a:solidFill>
                  <a:srgbClr val="898989"/>
                </a:solidFill>
              </a:rPr>
              <a:pPr algn="ctr"/>
              <a:t>7</a:t>
            </a:fld>
            <a:endParaRPr lang="en-US" altLang="zh-CN">
              <a:solidFill>
                <a:srgbClr val="898989"/>
              </a:solidFill>
            </a:endParaRPr>
          </a:p>
        </p:txBody>
      </p:sp>
      <p:sp>
        <p:nvSpPr>
          <p:cNvPr id="27652" name="Rectangle 2">
            <a:extLst>
              <a:ext uri="{FF2B5EF4-FFF2-40B4-BE49-F238E27FC236}">
                <a16:creationId xmlns:a16="http://schemas.microsoft.com/office/drawing/2014/main" id="{F60DFF31-8B9F-48B1-A66B-AAB1C32FE53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000">
                <a:ea typeface="华文楷体" panose="02010600040101010101" pitchFamily="2" charset="-122"/>
              </a:rPr>
              <a:t>差和分基本定理</a:t>
            </a:r>
          </a:p>
        </p:txBody>
      </p:sp>
      <p:sp>
        <p:nvSpPr>
          <p:cNvPr id="211971" name="Rectangle 3">
            <a:extLst>
              <a:ext uri="{FF2B5EF4-FFF2-40B4-BE49-F238E27FC236}">
                <a16:creationId xmlns:a16="http://schemas.microsoft.com/office/drawing/2014/main" id="{56874D23-8E0E-4142-A595-A45FDB88B3A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268413"/>
            <a:ext cx="8229600" cy="4857750"/>
          </a:xfrm>
        </p:spPr>
        <p:txBody>
          <a:bodyPr rtlCol="0">
            <a:normAutofit fontScale="77500" lnSpcReduction="2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zh-CN" altLang="en-US" dirty="0">
                <a:latin typeface="+mj-lt"/>
                <a:ea typeface="华文楷体" pitchFamily="2" charset="-122"/>
              </a:rPr>
              <a:t>在微积分中，在微分算子</a:t>
            </a:r>
            <a:r>
              <a:rPr lang="en-US" altLang="zh-CN" dirty="0">
                <a:latin typeface="+mj-lt"/>
                <a:ea typeface="华文楷体" pitchFamily="2" charset="-122"/>
              </a:rPr>
              <a:t>D</a:t>
            </a:r>
            <a:r>
              <a:rPr lang="zh-CN" altLang="en-US" dirty="0">
                <a:latin typeface="+mj-lt"/>
                <a:ea typeface="华文楷体" pitchFamily="2" charset="-122"/>
              </a:rPr>
              <a:t>和积分记号</a:t>
            </a:r>
            <a:r>
              <a:rPr lang="zh-CN" altLang="en-US" dirty="0">
                <a:ea typeface="华文楷体" pitchFamily="2" charset="-122"/>
              </a:rPr>
              <a:t>∫ 下</a:t>
            </a:r>
            <a:r>
              <a:rPr lang="zh-CN" altLang="en-US" dirty="0">
                <a:latin typeface="+mj-lt"/>
                <a:ea typeface="华文楷体" pitchFamily="2" charset="-122"/>
              </a:rPr>
              <a:t>，</a:t>
            </a:r>
            <a:r>
              <a:rPr lang="zh-CN" altLang="en-US" dirty="0">
                <a:ea typeface="华文楷体" pitchFamily="2" charset="-122"/>
              </a:rPr>
              <a:t>函数及其</a:t>
            </a:r>
            <a:r>
              <a:rPr lang="zh-CN" altLang="en-US" dirty="0">
                <a:latin typeface="+mj-lt"/>
                <a:ea typeface="华文楷体" pitchFamily="2" charset="-122"/>
              </a:rPr>
              <a:t>导函数之间有如下</a:t>
            </a:r>
            <a:r>
              <a:rPr lang="zh-CN" altLang="en-US" dirty="0">
                <a:solidFill>
                  <a:srgbClr val="FF0000"/>
                </a:solidFill>
                <a:latin typeface="+mj-lt"/>
                <a:ea typeface="华文楷体" pitchFamily="2" charset="-122"/>
              </a:rPr>
              <a:t>基本定理：</a:t>
            </a:r>
            <a:endParaRPr lang="en-US" altLang="zh-CN" dirty="0">
              <a:solidFill>
                <a:srgbClr val="FF0000"/>
              </a:solidFill>
              <a:latin typeface="+mj-lt"/>
              <a:ea typeface="华文楷体" pitchFamily="2" charset="-122"/>
            </a:endParaRPr>
          </a:p>
          <a:p>
            <a:pPr algn="ctr"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altLang="zh-CN" sz="900" dirty="0">
              <a:latin typeface="+mj-lt"/>
              <a:ea typeface="华文楷体" pitchFamily="2" charset="-122"/>
            </a:endParaRPr>
          </a:p>
          <a:p>
            <a:pPr algn="ctr" fontAlgn="auto">
              <a:spcAft>
                <a:spcPts val="0"/>
              </a:spcAft>
              <a:buNone/>
              <a:defRPr/>
            </a:pPr>
            <a:r>
              <a:rPr lang="en-US" altLang="zh-CN" sz="3500" dirty="0">
                <a:latin typeface="+mj-lt"/>
                <a:ea typeface="华文楷体" pitchFamily="2" charset="-122"/>
              </a:rPr>
              <a:t>g(x) = </a:t>
            </a:r>
            <a:r>
              <a:rPr lang="en-US" altLang="zh-CN" sz="3500" dirty="0" err="1">
                <a:latin typeface="+mj-lt"/>
                <a:ea typeface="华文楷体" pitchFamily="2" charset="-122"/>
              </a:rPr>
              <a:t>Df</a:t>
            </a:r>
            <a:r>
              <a:rPr lang="en-US" altLang="zh-CN" sz="3500" dirty="0">
                <a:latin typeface="+mj-lt"/>
                <a:ea typeface="华文楷体" pitchFamily="2" charset="-122"/>
              </a:rPr>
              <a:t>(x)</a:t>
            </a:r>
            <a:r>
              <a:rPr lang="zh-CN" altLang="en-US" sz="3500" dirty="0">
                <a:latin typeface="+mj-lt"/>
                <a:ea typeface="华文楷体" pitchFamily="2" charset="-122"/>
              </a:rPr>
              <a:t> </a:t>
            </a:r>
            <a:r>
              <a:rPr lang="en-US" altLang="zh-CN" sz="3500" dirty="0" err="1">
                <a:solidFill>
                  <a:srgbClr val="0000FF"/>
                </a:solidFill>
                <a:latin typeface="+mj-lt"/>
                <a:ea typeface="华文楷体" pitchFamily="2" charset="-122"/>
              </a:rPr>
              <a:t>iff</a:t>
            </a:r>
            <a:r>
              <a:rPr lang="en-US" altLang="zh-CN" sz="3500" dirty="0">
                <a:solidFill>
                  <a:srgbClr val="0000FF"/>
                </a:solidFill>
                <a:latin typeface="+mj-lt"/>
                <a:ea typeface="华文楷体" pitchFamily="2" charset="-122"/>
              </a:rPr>
              <a:t>.</a:t>
            </a:r>
            <a:r>
              <a:rPr lang="en-US" altLang="zh-CN" sz="3500" dirty="0">
                <a:latin typeface="+mj-lt"/>
                <a:ea typeface="华文楷体" pitchFamily="2" charset="-122"/>
              </a:rPr>
              <a:t> </a:t>
            </a:r>
            <a:r>
              <a:rPr lang="zh-CN" altLang="en-US" sz="3500" dirty="0">
                <a:ea typeface="华文楷体" pitchFamily="2" charset="-122"/>
              </a:rPr>
              <a:t>∫</a:t>
            </a:r>
            <a:r>
              <a:rPr lang="en-US" altLang="zh-CN" sz="3500" dirty="0">
                <a:ea typeface="华文楷体" pitchFamily="2" charset="-122"/>
              </a:rPr>
              <a:t>g(x)dx = f(x) + C</a:t>
            </a:r>
          </a:p>
          <a:p>
            <a:pPr fontAlgn="auto">
              <a:spcAft>
                <a:spcPts val="0"/>
              </a:spcAft>
              <a:buNone/>
              <a:defRPr/>
            </a:pPr>
            <a:r>
              <a:rPr lang="en-US" altLang="zh-CN" sz="3500" dirty="0">
                <a:solidFill>
                  <a:srgbClr val="0000FF"/>
                </a:solidFill>
                <a:ea typeface="华文楷体" pitchFamily="2" charset="-122"/>
              </a:rPr>
              <a:t>C</a:t>
            </a:r>
            <a:r>
              <a:rPr lang="zh-CN" altLang="en-US" sz="3500" dirty="0">
                <a:solidFill>
                  <a:srgbClr val="0000FF"/>
                </a:solidFill>
                <a:ea typeface="华文楷体" pitchFamily="2" charset="-122"/>
              </a:rPr>
              <a:t>是常数，即满足条件的所有</a:t>
            </a:r>
            <a:r>
              <a:rPr lang="zh-CN" altLang="en-US" sz="3500" dirty="0">
                <a:ea typeface="华文楷体" pitchFamily="2" charset="-122"/>
              </a:rPr>
              <a:t>函数</a:t>
            </a:r>
            <a:r>
              <a:rPr lang="en-US" altLang="zh-CN" sz="3500" dirty="0">
                <a:ea typeface="华文楷体" pitchFamily="2" charset="-122"/>
              </a:rPr>
              <a:t>f(x)</a:t>
            </a:r>
            <a:r>
              <a:rPr lang="zh-CN" altLang="en-US" sz="3500" dirty="0">
                <a:solidFill>
                  <a:srgbClr val="0000FF"/>
                </a:solidFill>
                <a:ea typeface="华文楷体" pitchFamily="2" charset="-122"/>
              </a:rPr>
              <a:t>仅差一个常量</a:t>
            </a:r>
            <a:endParaRPr lang="en-US" altLang="zh-CN" sz="3500" dirty="0">
              <a:ea typeface="华文楷体" pitchFamily="2" charset="-122"/>
            </a:endParaRPr>
          </a:p>
          <a:p>
            <a:pPr algn="ctr"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altLang="zh-CN" sz="1700" dirty="0">
              <a:latin typeface="+mj-lt"/>
              <a:ea typeface="华文楷体" pitchFamily="2" charset="-122"/>
            </a:endParaRPr>
          </a:p>
          <a:p>
            <a:pPr fontAlgn="auto">
              <a:spcAft>
                <a:spcPts val="0"/>
              </a:spcAft>
              <a:defRPr/>
            </a:pPr>
            <a:r>
              <a:rPr lang="zh-CN" altLang="en-US" dirty="0">
                <a:latin typeface="+mj-lt"/>
                <a:ea typeface="华文楷体" pitchFamily="2" charset="-122"/>
              </a:rPr>
              <a:t>与</a:t>
            </a:r>
            <a:r>
              <a:rPr lang="zh-CN" altLang="en-US" dirty="0">
                <a:ea typeface="华文楷体" pitchFamily="2" charset="-122"/>
              </a:rPr>
              <a:t>∫</a:t>
            </a:r>
            <a:r>
              <a:rPr lang="en-US" altLang="zh-CN" dirty="0">
                <a:ea typeface="华文楷体" pitchFamily="2" charset="-122"/>
              </a:rPr>
              <a:t>dx</a:t>
            </a:r>
            <a:r>
              <a:rPr lang="zh-CN" altLang="en-US" dirty="0">
                <a:ea typeface="华文楷体" pitchFamily="2" charset="-122"/>
              </a:rPr>
              <a:t>相对应，和分</a:t>
            </a:r>
            <a:r>
              <a:rPr lang="zh-CN" altLang="en-US" dirty="0">
                <a:latin typeface="+mj-lt"/>
                <a:ea typeface="华文楷体" pitchFamily="2" charset="-122"/>
              </a:rPr>
              <a:t>中的记号是∑</a:t>
            </a:r>
            <a:r>
              <a:rPr lang="el-GR" altLang="zh-CN" dirty="0">
                <a:latin typeface="+mj-lt"/>
                <a:ea typeface="华文楷体" pitchFamily="2" charset="-122"/>
              </a:rPr>
              <a:t>δ</a:t>
            </a:r>
            <a:r>
              <a:rPr lang="en-US" altLang="zh-CN" dirty="0">
                <a:latin typeface="+mj-lt"/>
                <a:ea typeface="华文楷体" pitchFamily="2" charset="-122"/>
              </a:rPr>
              <a:t>x</a:t>
            </a:r>
            <a:r>
              <a:rPr lang="zh-CN" altLang="en-US" dirty="0">
                <a:latin typeface="+mj-lt"/>
                <a:ea typeface="华文楷体" pitchFamily="2" charset="-122"/>
              </a:rPr>
              <a:t>。函数及其差分函数之间有如下</a:t>
            </a:r>
            <a:r>
              <a:rPr lang="zh-CN" altLang="en-US" dirty="0">
                <a:solidFill>
                  <a:srgbClr val="FF0000"/>
                </a:solidFill>
                <a:latin typeface="+mj-lt"/>
                <a:ea typeface="华文楷体" pitchFamily="2" charset="-122"/>
              </a:rPr>
              <a:t>基本定理：</a:t>
            </a:r>
            <a:endParaRPr lang="en-US" altLang="zh-CN" dirty="0">
              <a:solidFill>
                <a:srgbClr val="FF0000"/>
              </a:solidFill>
              <a:latin typeface="+mj-lt"/>
              <a:ea typeface="华文楷体" pitchFamily="2" charset="-122"/>
            </a:endParaRPr>
          </a:p>
          <a:p>
            <a:pPr algn="ctr"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altLang="zh-CN" sz="1500" dirty="0">
              <a:latin typeface="+mj-lt"/>
              <a:ea typeface="华文楷体" pitchFamily="2" charset="-122"/>
            </a:endParaRPr>
          </a:p>
          <a:p>
            <a:pPr algn="ctr"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altLang="zh-CN" sz="3500" dirty="0">
                <a:latin typeface="+mj-lt"/>
                <a:ea typeface="华文楷体" pitchFamily="2" charset="-122"/>
              </a:rPr>
              <a:t>g(x) = </a:t>
            </a:r>
            <a:r>
              <a:rPr lang="zh-CN" altLang="en-US" sz="3500" dirty="0">
                <a:ea typeface="华文楷体" pitchFamily="2" charset="-122"/>
              </a:rPr>
              <a:t>∆</a:t>
            </a:r>
            <a:r>
              <a:rPr lang="en-US" altLang="zh-CN" sz="3500" dirty="0">
                <a:ea typeface="华文楷体" pitchFamily="2" charset="-122"/>
              </a:rPr>
              <a:t>f(x)</a:t>
            </a:r>
            <a:r>
              <a:rPr lang="zh-CN" altLang="en-US" sz="3500" dirty="0">
                <a:ea typeface="华文楷体" pitchFamily="2" charset="-122"/>
              </a:rPr>
              <a:t> </a:t>
            </a:r>
            <a:r>
              <a:rPr lang="en-US" altLang="zh-CN" sz="3500" dirty="0" err="1">
                <a:solidFill>
                  <a:srgbClr val="0000FF"/>
                </a:solidFill>
                <a:ea typeface="华文楷体" pitchFamily="2" charset="-122"/>
              </a:rPr>
              <a:t>iff</a:t>
            </a:r>
            <a:r>
              <a:rPr lang="en-US" altLang="zh-CN" sz="3500" dirty="0">
                <a:solidFill>
                  <a:srgbClr val="0000FF"/>
                </a:solidFill>
                <a:ea typeface="华文楷体" pitchFamily="2" charset="-122"/>
              </a:rPr>
              <a:t>.</a:t>
            </a:r>
            <a:r>
              <a:rPr lang="zh-CN" altLang="en-US" sz="3500" dirty="0">
                <a:ea typeface="华文楷体" pitchFamily="2" charset="-122"/>
              </a:rPr>
              <a:t> ∑</a:t>
            </a:r>
            <a:r>
              <a:rPr lang="en-US" altLang="zh-CN" sz="3500" dirty="0">
                <a:ea typeface="华文楷体" pitchFamily="2" charset="-122"/>
              </a:rPr>
              <a:t>g(x)</a:t>
            </a:r>
            <a:r>
              <a:rPr lang="el-GR" altLang="zh-CN" sz="3500" dirty="0">
                <a:ea typeface="华文楷体" pitchFamily="2" charset="-122"/>
              </a:rPr>
              <a:t>δ</a:t>
            </a:r>
            <a:r>
              <a:rPr lang="en-US" altLang="zh-CN" sz="3500" dirty="0">
                <a:ea typeface="华文楷体" pitchFamily="2" charset="-122"/>
              </a:rPr>
              <a:t>x = f(x) + C</a:t>
            </a:r>
          </a:p>
          <a:p>
            <a:pPr fontAlgn="auto">
              <a:spcAft>
                <a:spcPts val="0"/>
              </a:spcAft>
              <a:defRPr/>
            </a:pPr>
            <a:endParaRPr lang="en-US" altLang="zh-CN" sz="1500" dirty="0">
              <a:solidFill>
                <a:srgbClr val="0000FF"/>
              </a:solidFill>
              <a:latin typeface="+mj-lt"/>
              <a:ea typeface="华文楷体" pitchFamily="2" charset="-122"/>
            </a:endParaRPr>
          </a:p>
          <a:p>
            <a:pPr fontAlgn="auto">
              <a:spcAft>
                <a:spcPts val="0"/>
              </a:spcAft>
              <a:defRPr/>
            </a:pPr>
            <a:r>
              <a:rPr lang="zh-CN" altLang="en-US" sz="2800" dirty="0">
                <a:solidFill>
                  <a:srgbClr val="0000FF"/>
                </a:solidFill>
                <a:latin typeface="+mj-lt"/>
                <a:ea typeface="华文楷体" pitchFamily="2" charset="-122"/>
              </a:rPr>
              <a:t>注</a:t>
            </a:r>
            <a:r>
              <a:rPr lang="en-US" altLang="zh-CN" sz="2800" dirty="0">
                <a:solidFill>
                  <a:srgbClr val="0000FF"/>
                </a:solidFill>
                <a:latin typeface="+mj-lt"/>
                <a:ea typeface="华文楷体" pitchFamily="2" charset="-122"/>
              </a:rPr>
              <a:t>1</a:t>
            </a:r>
            <a:r>
              <a:rPr lang="zh-CN" altLang="en-US" sz="2800" dirty="0">
                <a:solidFill>
                  <a:srgbClr val="0000FF"/>
                </a:solidFill>
                <a:latin typeface="+mj-lt"/>
                <a:ea typeface="华文楷体" pitchFamily="2" charset="-122"/>
              </a:rPr>
              <a:t>：</a:t>
            </a:r>
            <a:r>
              <a:rPr lang="zh-CN" altLang="en-US" sz="2800" dirty="0">
                <a:latin typeface="+mj-lt"/>
                <a:ea typeface="华文楷体" pitchFamily="2" charset="-122"/>
              </a:rPr>
              <a:t>这里的</a:t>
            </a:r>
            <a:r>
              <a:rPr lang="en-US" altLang="zh-CN" sz="2800" dirty="0">
                <a:solidFill>
                  <a:srgbClr val="0000FF"/>
                </a:solidFill>
                <a:latin typeface="+mj-lt"/>
                <a:ea typeface="华文楷体" pitchFamily="2" charset="-122"/>
              </a:rPr>
              <a:t>C</a:t>
            </a:r>
            <a:r>
              <a:rPr lang="zh-CN" altLang="en-US" sz="2800" dirty="0">
                <a:solidFill>
                  <a:srgbClr val="0000FF"/>
                </a:solidFill>
                <a:latin typeface="+mj-lt"/>
                <a:ea typeface="华文楷体" pitchFamily="2" charset="-122"/>
              </a:rPr>
              <a:t>是任意周期为</a:t>
            </a:r>
            <a:r>
              <a:rPr lang="en-US" altLang="zh-CN" sz="2800" dirty="0">
                <a:solidFill>
                  <a:srgbClr val="0000FF"/>
                </a:solidFill>
                <a:latin typeface="+mj-lt"/>
                <a:ea typeface="华文楷体" pitchFamily="2" charset="-122"/>
              </a:rPr>
              <a:t>1</a:t>
            </a:r>
            <a:r>
              <a:rPr lang="zh-CN" altLang="en-US" sz="2800" dirty="0">
                <a:solidFill>
                  <a:srgbClr val="0000FF"/>
                </a:solidFill>
                <a:latin typeface="+mj-lt"/>
                <a:ea typeface="华文楷体" pitchFamily="2" charset="-122"/>
              </a:rPr>
              <a:t>的函数</a:t>
            </a:r>
            <a:r>
              <a:rPr lang="zh-CN" altLang="en-US" sz="2800" dirty="0">
                <a:latin typeface="+mj-lt"/>
                <a:ea typeface="华文楷体" pitchFamily="2" charset="-122"/>
              </a:rPr>
              <a:t>，显然</a:t>
            </a:r>
            <a:r>
              <a:rPr lang="en-US" altLang="zh-CN" sz="2800" dirty="0">
                <a:solidFill>
                  <a:srgbClr val="00B050"/>
                </a:solidFill>
                <a:latin typeface="+mj-lt"/>
                <a:ea typeface="华文楷体" pitchFamily="2" charset="-122"/>
              </a:rPr>
              <a:t>C</a:t>
            </a:r>
            <a:r>
              <a:rPr lang="zh-CN" altLang="en-US" sz="2800" dirty="0">
                <a:solidFill>
                  <a:srgbClr val="00B050"/>
                </a:solidFill>
                <a:latin typeface="+mj-lt"/>
                <a:ea typeface="华文楷体" pitchFamily="2" charset="-122"/>
              </a:rPr>
              <a:t>在所有整数上是常数。</a:t>
            </a:r>
            <a:endParaRPr lang="en-US" altLang="zh-CN" sz="2800" dirty="0">
              <a:solidFill>
                <a:srgbClr val="00B050"/>
              </a:solidFill>
              <a:latin typeface="+mj-lt"/>
              <a:ea typeface="华文楷体" pitchFamily="2" charset="-122"/>
            </a:endParaRPr>
          </a:p>
          <a:p>
            <a:pPr fontAlgn="auto">
              <a:spcAft>
                <a:spcPts val="0"/>
              </a:spcAft>
              <a:defRPr/>
            </a:pPr>
            <a:r>
              <a:rPr lang="zh-CN" altLang="en-US" sz="2800" dirty="0">
                <a:solidFill>
                  <a:srgbClr val="0000FF"/>
                </a:solidFill>
                <a:latin typeface="+mj-lt"/>
                <a:ea typeface="华文楷体" pitchFamily="2" charset="-122"/>
              </a:rPr>
              <a:t>注</a:t>
            </a:r>
            <a:r>
              <a:rPr lang="en-US" altLang="zh-CN" sz="2800" dirty="0">
                <a:solidFill>
                  <a:srgbClr val="0000FF"/>
                </a:solidFill>
                <a:latin typeface="+mj-lt"/>
                <a:ea typeface="华文楷体" pitchFamily="2" charset="-122"/>
              </a:rPr>
              <a:t>2</a:t>
            </a:r>
            <a:r>
              <a:rPr lang="zh-CN" altLang="en-US" sz="2800" dirty="0">
                <a:solidFill>
                  <a:srgbClr val="0000FF"/>
                </a:solidFill>
                <a:latin typeface="+mj-lt"/>
                <a:ea typeface="华文楷体" pitchFamily="2" charset="-122"/>
              </a:rPr>
              <a:t>：</a:t>
            </a:r>
            <a:r>
              <a:rPr lang="zh-CN" altLang="en-US" sz="2800" dirty="0">
                <a:ea typeface="华文楷体" pitchFamily="2" charset="-122"/>
              </a:rPr>
              <a:t>∑</a:t>
            </a:r>
            <a:r>
              <a:rPr lang="en-US" altLang="zh-CN" sz="2800" dirty="0">
                <a:ea typeface="华文楷体" pitchFamily="2" charset="-122"/>
              </a:rPr>
              <a:t>g(x)</a:t>
            </a:r>
            <a:r>
              <a:rPr lang="el-GR" altLang="zh-CN" sz="2800" dirty="0">
                <a:ea typeface="华文楷体" pitchFamily="2" charset="-122"/>
              </a:rPr>
              <a:t>δ</a:t>
            </a:r>
            <a:r>
              <a:rPr lang="en-US" altLang="zh-CN" sz="2800" dirty="0">
                <a:ea typeface="华文楷体" pitchFamily="2" charset="-122"/>
              </a:rPr>
              <a:t>x </a:t>
            </a:r>
            <a:r>
              <a:rPr lang="zh-CN" altLang="en-US" sz="2800" dirty="0">
                <a:ea typeface="华文楷体" pitchFamily="2" charset="-122"/>
              </a:rPr>
              <a:t>并不是先验存在的，</a:t>
            </a:r>
            <a:r>
              <a:rPr lang="en-US" altLang="zh-CN" sz="2800" dirty="0">
                <a:ea typeface="华文楷体" pitchFamily="2" charset="-122"/>
              </a:rPr>
              <a:t>CM</a:t>
            </a:r>
            <a:r>
              <a:rPr lang="zh-CN" altLang="en-US" sz="2800" dirty="0">
                <a:ea typeface="华文楷体" pitchFamily="2" charset="-122"/>
              </a:rPr>
              <a:t>用以表示所有差分函数为</a:t>
            </a:r>
            <a:r>
              <a:rPr lang="en-US" altLang="zh-CN" sz="2800" dirty="0">
                <a:ea typeface="华文楷体" pitchFamily="2" charset="-122"/>
              </a:rPr>
              <a:t>g(x)</a:t>
            </a:r>
            <a:r>
              <a:rPr lang="zh-CN" altLang="en-US" sz="2800" dirty="0">
                <a:ea typeface="华文楷体" pitchFamily="2" charset="-122"/>
              </a:rPr>
              <a:t>的函数，是一种定义。</a:t>
            </a:r>
            <a:endParaRPr lang="en-US" altLang="zh-CN" sz="2800" dirty="0">
              <a:solidFill>
                <a:srgbClr val="0000FF"/>
              </a:solidFill>
              <a:latin typeface="+mj-lt"/>
              <a:ea typeface="华文楷体" pitchFamily="2" charset="-122"/>
            </a:endParaRPr>
          </a:p>
        </p:txBody>
      </p:sp>
      <p:sp>
        <p:nvSpPr>
          <p:cNvPr id="27654" name="Rectangle 5">
            <a:extLst>
              <a:ext uri="{FF2B5EF4-FFF2-40B4-BE49-F238E27FC236}">
                <a16:creationId xmlns:a16="http://schemas.microsoft.com/office/drawing/2014/main" id="{E152E193-7FDC-4974-9D95-9BAE114A9F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0861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27655" name="Rectangle 7">
            <a:extLst>
              <a:ext uri="{FF2B5EF4-FFF2-40B4-BE49-F238E27FC236}">
                <a16:creationId xmlns:a16="http://schemas.microsoft.com/office/drawing/2014/main" id="{F28ABB82-025B-43F2-ABBE-2C2D433FEF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289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27656" name="Rectangle 9">
            <a:extLst>
              <a:ext uri="{FF2B5EF4-FFF2-40B4-BE49-F238E27FC236}">
                <a16:creationId xmlns:a16="http://schemas.microsoft.com/office/drawing/2014/main" id="{E852B6AA-385A-440B-81EB-074317FFDB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004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日期占位符 3">
            <a:extLst>
              <a:ext uri="{FF2B5EF4-FFF2-40B4-BE49-F238E27FC236}">
                <a16:creationId xmlns:a16="http://schemas.microsoft.com/office/drawing/2014/main" id="{656E2E9A-B6E8-460A-807C-78A949D28A29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A343B32E-CB35-4423-A95B-1C5227E9D28E}" type="datetime1">
              <a:rPr lang="zh-CN" altLang="en-US"/>
              <a:pPr>
                <a:defRPr/>
              </a:pPr>
              <a:t>2023/3/18</a:t>
            </a:fld>
            <a:endParaRPr lang="en-US" altLang="zh-CN"/>
          </a:p>
        </p:txBody>
      </p:sp>
      <p:sp>
        <p:nvSpPr>
          <p:cNvPr id="17" name="灯片编号占位符 4">
            <a:extLst>
              <a:ext uri="{FF2B5EF4-FFF2-40B4-BE49-F238E27FC236}">
                <a16:creationId xmlns:a16="http://schemas.microsoft.com/office/drawing/2014/main" id="{3A229434-C424-4FD8-BCD4-115E78921D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124200" y="6356350"/>
            <a:ext cx="28956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fld id="{A9C3C676-C364-40AB-8407-D83D126BAE6B}" type="slidenum">
              <a:rPr lang="en-US" altLang="zh-CN">
                <a:solidFill>
                  <a:srgbClr val="898989"/>
                </a:solidFill>
              </a:rPr>
              <a:pPr algn="ctr"/>
              <a:t>8</a:t>
            </a:fld>
            <a:endParaRPr lang="en-US" altLang="zh-CN">
              <a:solidFill>
                <a:srgbClr val="898989"/>
              </a:solidFill>
            </a:endParaRPr>
          </a:p>
        </p:txBody>
      </p:sp>
      <p:sp>
        <p:nvSpPr>
          <p:cNvPr id="4102" name="Rectangle 2">
            <a:extLst>
              <a:ext uri="{FF2B5EF4-FFF2-40B4-BE49-F238E27FC236}">
                <a16:creationId xmlns:a16="http://schemas.microsoft.com/office/drawing/2014/main" id="{97F6280C-B91D-437C-9F09-8BB08AD62AC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ea typeface="华文楷体" panose="02010600040101010101" pitchFamily="2" charset="-122"/>
              </a:rPr>
              <a:t>定和分</a:t>
            </a:r>
          </a:p>
        </p:txBody>
      </p:sp>
      <p:sp>
        <p:nvSpPr>
          <p:cNvPr id="212995" name="Rectangle 3">
            <a:extLst>
              <a:ext uri="{FF2B5EF4-FFF2-40B4-BE49-F238E27FC236}">
                <a16:creationId xmlns:a16="http://schemas.microsoft.com/office/drawing/2014/main" id="{7C3350F8-9087-4F51-9BEB-5D17ABBAC43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 rtlCol="0"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zh-CN" altLang="en-US" dirty="0">
                <a:latin typeface="+mj-lt"/>
                <a:ea typeface="华文楷体" pitchFamily="2" charset="-122"/>
              </a:rPr>
              <a:t>在微积分的</a:t>
            </a:r>
            <a:r>
              <a:rPr lang="zh-CN" altLang="en-US" dirty="0">
                <a:solidFill>
                  <a:srgbClr val="0000FF"/>
                </a:solidFill>
                <a:latin typeface="+mj-lt"/>
                <a:ea typeface="华文楷体" pitchFamily="2" charset="-122"/>
              </a:rPr>
              <a:t>定积分</a:t>
            </a:r>
            <a:r>
              <a:rPr lang="zh-CN" altLang="en-US" dirty="0">
                <a:ea typeface="华文楷体" pitchFamily="2" charset="-122"/>
              </a:rPr>
              <a:t>中</a:t>
            </a:r>
            <a:r>
              <a:rPr lang="zh-CN" altLang="en-US" dirty="0">
                <a:latin typeface="+mj-lt"/>
                <a:ea typeface="华文楷体" pitchFamily="2" charset="-122"/>
              </a:rPr>
              <a:t>：若</a:t>
            </a:r>
            <a:r>
              <a:rPr lang="en-US" altLang="zh-CN" i="1" dirty="0">
                <a:latin typeface="+mj-lt"/>
                <a:ea typeface="华文楷体" pitchFamily="2" charset="-122"/>
              </a:rPr>
              <a:t>g</a:t>
            </a:r>
            <a:r>
              <a:rPr lang="en-US" altLang="zh-CN" dirty="0">
                <a:latin typeface="+mj-lt"/>
                <a:ea typeface="华文楷体" pitchFamily="2" charset="-122"/>
              </a:rPr>
              <a:t>(</a:t>
            </a:r>
            <a:r>
              <a:rPr lang="en-US" altLang="zh-CN" i="1" dirty="0">
                <a:latin typeface="+mj-lt"/>
                <a:ea typeface="华文楷体" pitchFamily="2" charset="-122"/>
              </a:rPr>
              <a:t>x</a:t>
            </a:r>
            <a:r>
              <a:rPr lang="en-US" altLang="zh-CN" dirty="0">
                <a:latin typeface="+mj-lt"/>
                <a:ea typeface="华文楷体" pitchFamily="2" charset="-122"/>
              </a:rPr>
              <a:t>)=</a:t>
            </a:r>
            <a:r>
              <a:rPr lang="en-US" altLang="zh-CN" dirty="0" err="1">
                <a:latin typeface="+mj-lt"/>
                <a:ea typeface="华文楷体" pitchFamily="2" charset="-122"/>
              </a:rPr>
              <a:t>D</a:t>
            </a:r>
            <a:r>
              <a:rPr lang="en-US" altLang="zh-CN" i="1" dirty="0" err="1">
                <a:latin typeface="+mj-lt"/>
                <a:ea typeface="华文楷体" pitchFamily="2" charset="-122"/>
              </a:rPr>
              <a:t>f</a:t>
            </a:r>
            <a:r>
              <a:rPr lang="en-US" altLang="zh-CN" dirty="0">
                <a:latin typeface="+mj-lt"/>
                <a:ea typeface="华文楷体" pitchFamily="2" charset="-122"/>
              </a:rPr>
              <a:t>(</a:t>
            </a:r>
            <a:r>
              <a:rPr lang="en-US" altLang="zh-CN" i="1" dirty="0">
                <a:latin typeface="+mj-lt"/>
                <a:ea typeface="华文楷体" pitchFamily="2" charset="-122"/>
              </a:rPr>
              <a:t>x</a:t>
            </a:r>
            <a:r>
              <a:rPr lang="en-US" altLang="zh-CN" dirty="0">
                <a:latin typeface="+mj-lt"/>
                <a:ea typeface="华文楷体" pitchFamily="2" charset="-122"/>
              </a:rPr>
              <a:t>)</a:t>
            </a:r>
            <a:r>
              <a:rPr lang="zh-CN" altLang="en-US" dirty="0">
                <a:latin typeface="+mj-lt"/>
                <a:ea typeface="华文楷体" pitchFamily="2" charset="-122"/>
              </a:rPr>
              <a:t>，则有</a:t>
            </a:r>
            <a:endParaRPr lang="en-US" altLang="zh-CN" dirty="0">
              <a:latin typeface="+mj-lt"/>
              <a:ea typeface="华文楷体" pitchFamily="2" charset="-122"/>
            </a:endParaRPr>
          </a:p>
          <a:p>
            <a:pPr fontAlgn="auto">
              <a:spcAft>
                <a:spcPts val="0"/>
              </a:spcAft>
              <a:defRPr/>
            </a:pPr>
            <a:endParaRPr lang="zh-CN" altLang="en-US" dirty="0">
              <a:latin typeface="+mj-lt"/>
              <a:ea typeface="华文楷体" pitchFamily="2" charset="-122"/>
            </a:endParaRPr>
          </a:p>
          <a:p>
            <a:pPr fontAlgn="auto">
              <a:spcAft>
                <a:spcPts val="0"/>
              </a:spcAft>
              <a:defRPr/>
            </a:pPr>
            <a:r>
              <a:rPr lang="zh-CN" altLang="en-US" dirty="0">
                <a:latin typeface="+mj-lt"/>
                <a:ea typeface="华文楷体" pitchFamily="2" charset="-122"/>
              </a:rPr>
              <a:t>在</a:t>
            </a:r>
            <a:r>
              <a:rPr lang="zh-CN" altLang="en-US" dirty="0">
                <a:solidFill>
                  <a:srgbClr val="0000FF"/>
                </a:solidFill>
                <a:latin typeface="+mj-lt"/>
                <a:ea typeface="华文楷体" pitchFamily="2" charset="-122"/>
              </a:rPr>
              <a:t>定和分</a:t>
            </a:r>
            <a:r>
              <a:rPr lang="zh-CN" altLang="en-US" dirty="0">
                <a:latin typeface="+mj-lt"/>
                <a:ea typeface="华文楷体" pitchFamily="2" charset="-122"/>
              </a:rPr>
              <a:t>中：若</a:t>
            </a:r>
            <a:r>
              <a:rPr lang="en-US" altLang="zh-CN" i="1" dirty="0">
                <a:latin typeface="+mj-lt"/>
                <a:ea typeface="华文楷体" pitchFamily="2" charset="-122"/>
              </a:rPr>
              <a:t>g</a:t>
            </a:r>
            <a:r>
              <a:rPr lang="en-US" altLang="zh-CN" dirty="0">
                <a:latin typeface="+mj-lt"/>
                <a:ea typeface="华文楷体" pitchFamily="2" charset="-122"/>
              </a:rPr>
              <a:t>(</a:t>
            </a:r>
            <a:r>
              <a:rPr lang="en-US" altLang="zh-CN" i="1" dirty="0">
                <a:latin typeface="+mj-lt"/>
                <a:ea typeface="华文楷体" pitchFamily="2" charset="-122"/>
              </a:rPr>
              <a:t>x</a:t>
            </a:r>
            <a:r>
              <a:rPr lang="en-US" altLang="zh-CN" dirty="0">
                <a:latin typeface="+mj-lt"/>
                <a:ea typeface="华文楷体" pitchFamily="2" charset="-122"/>
              </a:rPr>
              <a:t>)=∆</a:t>
            </a:r>
            <a:r>
              <a:rPr lang="en-US" altLang="zh-CN" i="1" dirty="0">
                <a:latin typeface="+mj-lt"/>
                <a:ea typeface="华文楷体" pitchFamily="2" charset="-122"/>
              </a:rPr>
              <a:t>f</a:t>
            </a:r>
            <a:r>
              <a:rPr lang="en-US" altLang="zh-CN" dirty="0">
                <a:latin typeface="+mj-lt"/>
                <a:ea typeface="华文楷体" pitchFamily="2" charset="-122"/>
              </a:rPr>
              <a:t>(</a:t>
            </a:r>
            <a:r>
              <a:rPr lang="en-US" altLang="zh-CN" i="1" dirty="0">
                <a:latin typeface="+mj-lt"/>
                <a:ea typeface="华文楷体" pitchFamily="2" charset="-122"/>
              </a:rPr>
              <a:t>x</a:t>
            </a:r>
            <a:r>
              <a:rPr lang="en-US" altLang="zh-CN" dirty="0">
                <a:latin typeface="+mj-lt"/>
                <a:ea typeface="华文楷体" pitchFamily="2" charset="-122"/>
              </a:rPr>
              <a:t>)</a:t>
            </a:r>
            <a:r>
              <a:rPr lang="zh-CN" altLang="en-US" dirty="0">
                <a:latin typeface="+mj-lt"/>
                <a:ea typeface="华文楷体" pitchFamily="2" charset="-122"/>
              </a:rPr>
              <a:t>，则有</a:t>
            </a:r>
          </a:p>
          <a:p>
            <a:pPr fontAlgn="auto">
              <a:spcAft>
                <a:spcPts val="0"/>
              </a:spcAft>
              <a:defRPr/>
            </a:pPr>
            <a:endParaRPr lang="en-US" altLang="zh-CN" dirty="0">
              <a:latin typeface="+mj-lt"/>
              <a:ea typeface="华文楷体" pitchFamily="2" charset="-122"/>
            </a:endParaRPr>
          </a:p>
          <a:p>
            <a:pPr fontAlgn="auto">
              <a:spcAft>
                <a:spcPts val="0"/>
              </a:spcAft>
              <a:defRPr/>
            </a:pPr>
            <a:r>
              <a:rPr lang="zh-CN" altLang="en-US" dirty="0">
                <a:latin typeface="+mj-lt"/>
                <a:ea typeface="华文楷体" pitchFamily="2" charset="-122"/>
              </a:rPr>
              <a:t>同样地，记号也不是先验存在的，</a:t>
            </a:r>
            <a:r>
              <a:rPr lang="en-US" altLang="zh-CN" dirty="0">
                <a:latin typeface="+mj-lt"/>
                <a:ea typeface="华文楷体" pitchFamily="2" charset="-122"/>
              </a:rPr>
              <a:t>CM</a:t>
            </a:r>
            <a:r>
              <a:rPr lang="zh-CN" altLang="en-US" dirty="0">
                <a:latin typeface="+mj-lt"/>
                <a:ea typeface="华文楷体" pitchFamily="2" charset="-122"/>
              </a:rPr>
              <a:t>用以表示差分函数为</a:t>
            </a:r>
            <a:r>
              <a:rPr lang="en-US" altLang="zh-CN" dirty="0">
                <a:latin typeface="+mj-lt"/>
                <a:ea typeface="华文楷体" pitchFamily="2" charset="-122"/>
              </a:rPr>
              <a:t>g(x)</a:t>
            </a:r>
            <a:r>
              <a:rPr lang="zh-CN" altLang="en-US" dirty="0">
                <a:latin typeface="+mj-lt"/>
                <a:ea typeface="华文楷体" pitchFamily="2" charset="-122"/>
              </a:rPr>
              <a:t>的函数在数值</a:t>
            </a:r>
            <a:r>
              <a:rPr lang="en-US" altLang="zh-CN" dirty="0">
                <a:latin typeface="+mj-lt"/>
                <a:ea typeface="华文楷体" pitchFamily="2" charset="-122"/>
              </a:rPr>
              <a:t>a</a:t>
            </a:r>
            <a:r>
              <a:rPr lang="zh-CN" altLang="en-US" dirty="0">
                <a:latin typeface="+mj-lt"/>
                <a:ea typeface="华文楷体" pitchFamily="2" charset="-122"/>
              </a:rPr>
              <a:t>、</a:t>
            </a:r>
            <a:r>
              <a:rPr lang="en-US" altLang="zh-CN" dirty="0">
                <a:latin typeface="+mj-lt"/>
                <a:ea typeface="华文楷体" pitchFamily="2" charset="-122"/>
              </a:rPr>
              <a:t>b</a:t>
            </a:r>
            <a:r>
              <a:rPr lang="zh-CN" altLang="en-US" dirty="0">
                <a:latin typeface="+mj-lt"/>
                <a:ea typeface="华文楷体" pitchFamily="2" charset="-122"/>
              </a:rPr>
              <a:t>上的函数值之差，对于整数</a:t>
            </a:r>
            <a:r>
              <a:rPr lang="en-US" altLang="zh-CN" dirty="0">
                <a:latin typeface="+mj-lt"/>
                <a:ea typeface="华文楷体" pitchFamily="2" charset="-122"/>
              </a:rPr>
              <a:t>a</a:t>
            </a:r>
            <a:r>
              <a:rPr lang="zh-CN" altLang="en-US" dirty="0">
                <a:latin typeface="+mj-lt"/>
                <a:ea typeface="华文楷体" pitchFamily="2" charset="-122"/>
              </a:rPr>
              <a:t>、</a:t>
            </a:r>
            <a:r>
              <a:rPr lang="en-US" altLang="zh-CN" dirty="0">
                <a:latin typeface="+mj-lt"/>
                <a:ea typeface="华文楷体" pitchFamily="2" charset="-122"/>
              </a:rPr>
              <a:t>b</a:t>
            </a:r>
            <a:r>
              <a:rPr lang="zh-CN" altLang="en-US" dirty="0">
                <a:latin typeface="+mj-lt"/>
                <a:ea typeface="华文楷体" pitchFamily="2" charset="-122"/>
              </a:rPr>
              <a:t>，这样定义是</a:t>
            </a:r>
            <a:r>
              <a:rPr lang="zh-CN" altLang="en-US" dirty="0">
                <a:solidFill>
                  <a:srgbClr val="FF0000"/>
                </a:solidFill>
                <a:latin typeface="+mj-lt"/>
                <a:ea typeface="华文楷体" pitchFamily="2" charset="-122"/>
              </a:rPr>
              <a:t>合理的</a:t>
            </a:r>
            <a:r>
              <a:rPr lang="zh-CN" altLang="en-US" dirty="0">
                <a:latin typeface="+mj-lt"/>
                <a:ea typeface="华文楷体" pitchFamily="2" charset="-122"/>
              </a:rPr>
              <a:t>（为什么？）</a:t>
            </a:r>
            <a:endParaRPr lang="en-US" altLang="zh-CN" dirty="0">
              <a:latin typeface="+mj-lt"/>
              <a:ea typeface="华文楷体" pitchFamily="2" charset="-122"/>
            </a:endParaRPr>
          </a:p>
          <a:p>
            <a:pPr fontAlgn="auto">
              <a:spcAft>
                <a:spcPts val="0"/>
              </a:spcAft>
              <a:defRPr/>
            </a:pPr>
            <a:endParaRPr lang="zh-CN" altLang="en-US" dirty="0">
              <a:latin typeface="+mj-lt"/>
              <a:ea typeface="华文楷体" pitchFamily="2" charset="-122"/>
            </a:endParaRPr>
          </a:p>
        </p:txBody>
      </p:sp>
      <p:sp>
        <p:nvSpPr>
          <p:cNvPr id="4104" name="Rectangle 5">
            <a:extLst>
              <a:ext uri="{FF2B5EF4-FFF2-40B4-BE49-F238E27FC236}">
                <a16:creationId xmlns:a16="http://schemas.microsoft.com/office/drawing/2014/main" id="{F692843C-173C-4612-8F8A-B20F28F897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4105" name="Rectangle 7">
            <a:extLst>
              <a:ext uri="{FF2B5EF4-FFF2-40B4-BE49-F238E27FC236}">
                <a16:creationId xmlns:a16="http://schemas.microsoft.com/office/drawing/2014/main" id="{A26C2CAF-DD23-4EFD-996C-FE4CE87079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4106" name="Rectangle 9">
            <a:extLst>
              <a:ext uri="{FF2B5EF4-FFF2-40B4-BE49-F238E27FC236}">
                <a16:creationId xmlns:a16="http://schemas.microsoft.com/office/drawing/2014/main" id="{7A3882F3-6F6E-49DC-802D-4D6036AA79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813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4107" name="Rectangle 11">
            <a:extLst>
              <a:ext uri="{FF2B5EF4-FFF2-40B4-BE49-F238E27FC236}">
                <a16:creationId xmlns:a16="http://schemas.microsoft.com/office/drawing/2014/main" id="{2F4E8AEF-945B-43FE-8B66-A771ADAC3D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146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4108" name="Rectangle 13">
            <a:extLst>
              <a:ext uri="{FF2B5EF4-FFF2-40B4-BE49-F238E27FC236}">
                <a16:creationId xmlns:a16="http://schemas.microsoft.com/office/drawing/2014/main" id="{15D0B80F-A6C5-49A1-830F-D5766C5CA3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4109" name="Rectangle 15">
            <a:extLst>
              <a:ext uri="{FF2B5EF4-FFF2-40B4-BE49-F238E27FC236}">
                <a16:creationId xmlns:a16="http://schemas.microsoft.com/office/drawing/2014/main" id="{939AD50A-C4FB-424A-9068-55A1045265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98" name="Object 9">
                <a:extLst>
                  <a:ext uri="{FF2B5EF4-FFF2-40B4-BE49-F238E27FC236}">
                    <a16:creationId xmlns:a16="http://schemas.microsoft.com/office/drawing/2014/main" id="{553C8891-DB3E-49F1-A65A-A91FCFDBBF5E}"/>
                  </a:ext>
                </a:extLst>
              </p:cNvPr>
              <p:cNvSpPr txBox="1"/>
              <p:nvPr/>
            </p:nvSpPr>
            <p:spPr bwMode="auto">
              <a:xfrm>
                <a:off x="2411413" y="2060575"/>
                <a:ext cx="4537075" cy="792362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sup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sSubSup>
                        <m:sSub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sup>
                      </m:sSubSup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)−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4098" name="Object 9">
                <a:extLst>
                  <a:ext uri="{FF2B5EF4-FFF2-40B4-BE49-F238E27FC236}">
                    <a16:creationId xmlns:a16="http://schemas.microsoft.com/office/drawing/2014/main" id="{553C8891-DB3E-49F1-A65A-A91FCFDBBF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411413" y="2060575"/>
                <a:ext cx="4537075" cy="79236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99" name="Object 10">
                <a:extLst>
                  <a:ext uri="{FF2B5EF4-FFF2-40B4-BE49-F238E27FC236}">
                    <a16:creationId xmlns:a16="http://schemas.microsoft.com/office/drawing/2014/main" id="{8D01F931-AA68-4AC3-84B1-DAA950BD7746}"/>
                  </a:ext>
                </a:extLst>
              </p:cNvPr>
              <p:cNvSpPr txBox="1"/>
              <p:nvPr/>
            </p:nvSpPr>
            <p:spPr bwMode="auto">
              <a:xfrm>
                <a:off x="2355056" y="3214688"/>
                <a:ext cx="4649788" cy="1058863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sup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nary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sSubSup>
                        <m:sSub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sup>
                      </m:sSubSup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)−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4099" name="Object 10">
                <a:extLst>
                  <a:ext uri="{FF2B5EF4-FFF2-40B4-BE49-F238E27FC236}">
                    <a16:creationId xmlns:a16="http://schemas.microsoft.com/office/drawing/2014/main" id="{8D01F931-AA68-4AC3-84B1-DAA950BD77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355056" y="3214688"/>
                <a:ext cx="4649788" cy="105886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日期占位符 3">
            <a:extLst>
              <a:ext uri="{FF2B5EF4-FFF2-40B4-BE49-F238E27FC236}">
                <a16:creationId xmlns:a16="http://schemas.microsoft.com/office/drawing/2014/main" id="{1680B6E7-E635-4E68-945D-ECB0D7A27236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A343B32E-CB35-4423-A95B-1C5227E9D28E}" type="datetime1">
              <a:rPr lang="zh-CN" altLang="en-US"/>
              <a:pPr>
                <a:defRPr/>
              </a:pPr>
              <a:t>2023/3/18</a:t>
            </a:fld>
            <a:endParaRPr lang="en-US" altLang="zh-CN"/>
          </a:p>
        </p:txBody>
      </p:sp>
      <p:sp>
        <p:nvSpPr>
          <p:cNvPr id="17" name="灯片编号占位符 4">
            <a:extLst>
              <a:ext uri="{FF2B5EF4-FFF2-40B4-BE49-F238E27FC236}">
                <a16:creationId xmlns:a16="http://schemas.microsoft.com/office/drawing/2014/main" id="{BC2D3A40-1092-49A6-BC3E-94272DD1A2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124200" y="6356350"/>
            <a:ext cx="28956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fld id="{C08F51A1-5AA0-4C08-9550-A6DC8EA49D41}" type="slidenum">
              <a:rPr lang="en-US" altLang="zh-CN">
                <a:solidFill>
                  <a:srgbClr val="898989"/>
                </a:solidFill>
              </a:rPr>
              <a:pPr algn="ctr"/>
              <a:t>9</a:t>
            </a:fld>
            <a:endParaRPr lang="en-US" altLang="zh-CN">
              <a:solidFill>
                <a:srgbClr val="898989"/>
              </a:solidFill>
            </a:endParaRPr>
          </a:p>
        </p:txBody>
      </p:sp>
      <p:sp>
        <p:nvSpPr>
          <p:cNvPr id="5127" name="Rectangle 2">
            <a:extLst>
              <a:ext uri="{FF2B5EF4-FFF2-40B4-BE49-F238E27FC236}">
                <a16:creationId xmlns:a16="http://schemas.microsoft.com/office/drawing/2014/main" id="{6446CCE0-D1E2-4F76-8F47-346294B0D0C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ea typeface="华文楷体" panose="02010600040101010101" pitchFamily="2" charset="-122"/>
              </a:rPr>
              <a:t>定和分的性质</a:t>
            </a:r>
          </a:p>
        </p:txBody>
      </p:sp>
      <p:sp>
        <p:nvSpPr>
          <p:cNvPr id="212995" name="Rectangle 3">
            <a:extLst>
              <a:ext uri="{FF2B5EF4-FFF2-40B4-BE49-F238E27FC236}">
                <a16:creationId xmlns:a16="http://schemas.microsoft.com/office/drawing/2014/main" id="{CE63E308-C940-4E73-A4A2-5155D938F58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 rtlCol="0"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zh-CN" altLang="en-US" dirty="0">
                <a:latin typeface="+mj-lt"/>
                <a:ea typeface="华文楷体" pitchFamily="2" charset="-122"/>
              </a:rPr>
              <a:t>定和分具有如下性质：</a:t>
            </a:r>
            <a:endParaRPr lang="en-US" altLang="zh-CN" dirty="0">
              <a:latin typeface="+mj-lt"/>
              <a:ea typeface="华文楷体" pitchFamily="2" charset="-122"/>
            </a:endParaRPr>
          </a:p>
          <a:p>
            <a:pPr fontAlgn="auto">
              <a:spcAft>
                <a:spcPts val="0"/>
              </a:spcAft>
              <a:defRPr/>
            </a:pPr>
            <a:r>
              <a:rPr lang="en-US" altLang="zh-CN" dirty="0">
                <a:latin typeface="+mj-lt"/>
                <a:ea typeface="华文楷体" pitchFamily="2" charset="-122"/>
              </a:rPr>
              <a:t>1</a:t>
            </a:r>
            <a:r>
              <a:rPr lang="zh-CN" altLang="en-US" dirty="0">
                <a:latin typeface="+mj-lt"/>
                <a:ea typeface="华文楷体" pitchFamily="2" charset="-122"/>
              </a:rPr>
              <a:t>、</a:t>
            </a:r>
            <a:r>
              <a:rPr lang="en-US" altLang="zh-CN" dirty="0">
                <a:latin typeface="+mj-lt"/>
                <a:ea typeface="华文楷体" pitchFamily="2" charset="-122"/>
              </a:rPr>
              <a:t>b = a</a:t>
            </a:r>
            <a:r>
              <a:rPr lang="zh-CN" altLang="en-US" dirty="0">
                <a:latin typeface="+mj-lt"/>
                <a:ea typeface="华文楷体" pitchFamily="2" charset="-122"/>
              </a:rPr>
              <a:t>时，</a:t>
            </a:r>
            <a:endParaRPr lang="en-US" altLang="zh-CN" dirty="0">
              <a:latin typeface="+mj-lt"/>
              <a:ea typeface="华文楷体" pitchFamily="2" charset="-122"/>
            </a:endParaRPr>
          </a:p>
          <a:p>
            <a:pPr fontAlgn="auto">
              <a:spcAft>
                <a:spcPts val="0"/>
              </a:spcAft>
              <a:defRPr/>
            </a:pPr>
            <a:r>
              <a:rPr lang="en-US" altLang="zh-CN" dirty="0">
                <a:latin typeface="+mj-lt"/>
                <a:ea typeface="华文楷体" pitchFamily="2" charset="-122"/>
              </a:rPr>
              <a:t>2</a:t>
            </a:r>
            <a:r>
              <a:rPr lang="zh-CN" altLang="en-US" dirty="0">
                <a:latin typeface="+mj-lt"/>
                <a:ea typeface="华文楷体" pitchFamily="2" charset="-122"/>
              </a:rPr>
              <a:t>、</a:t>
            </a:r>
            <a:r>
              <a:rPr lang="en-US" altLang="zh-CN" dirty="0">
                <a:latin typeface="+mj-lt"/>
                <a:ea typeface="华文楷体" pitchFamily="2" charset="-122"/>
              </a:rPr>
              <a:t>b = a + 1</a:t>
            </a:r>
            <a:r>
              <a:rPr lang="zh-CN" altLang="en-US" dirty="0">
                <a:latin typeface="+mj-lt"/>
                <a:ea typeface="华文楷体" pitchFamily="2" charset="-122"/>
              </a:rPr>
              <a:t>时，</a:t>
            </a:r>
            <a:endParaRPr lang="en-US" altLang="zh-CN" dirty="0">
              <a:latin typeface="+mj-lt"/>
              <a:ea typeface="华文楷体" pitchFamily="2" charset="-122"/>
            </a:endParaRPr>
          </a:p>
          <a:p>
            <a:pPr fontAlgn="auto">
              <a:spcAft>
                <a:spcPts val="0"/>
              </a:spcAft>
              <a:defRPr/>
            </a:pPr>
            <a:r>
              <a:rPr lang="en-US" altLang="zh-CN" dirty="0">
                <a:latin typeface="+mj-lt"/>
                <a:ea typeface="华文楷体" pitchFamily="2" charset="-122"/>
              </a:rPr>
              <a:t>3</a:t>
            </a:r>
            <a:r>
              <a:rPr lang="zh-CN" altLang="en-US" dirty="0">
                <a:latin typeface="+mj-lt"/>
                <a:ea typeface="华文楷体" pitchFamily="2" charset="-122"/>
              </a:rPr>
              <a:t>、对于</a:t>
            </a:r>
            <a:r>
              <a:rPr lang="en-US" altLang="zh-CN" dirty="0">
                <a:latin typeface="+mj-lt"/>
                <a:ea typeface="华文楷体" pitchFamily="2" charset="-122"/>
              </a:rPr>
              <a:t>(a, b)</a:t>
            </a:r>
            <a:r>
              <a:rPr lang="zh-CN" altLang="en-US" dirty="0">
                <a:latin typeface="+mj-lt"/>
                <a:ea typeface="华文楷体" pitchFamily="2" charset="-122"/>
              </a:rPr>
              <a:t>和</a:t>
            </a:r>
            <a:r>
              <a:rPr lang="en-US" altLang="zh-CN" dirty="0">
                <a:latin typeface="+mj-lt"/>
                <a:ea typeface="华文楷体" pitchFamily="2" charset="-122"/>
              </a:rPr>
              <a:t>(a, b + 1)</a:t>
            </a:r>
            <a:r>
              <a:rPr lang="zh-CN" altLang="en-US" dirty="0">
                <a:latin typeface="+mj-lt"/>
                <a:ea typeface="华文楷体" pitchFamily="2" charset="-122"/>
              </a:rPr>
              <a:t>上的定和分，</a:t>
            </a:r>
            <a:endParaRPr lang="en-US" altLang="zh-CN" dirty="0">
              <a:latin typeface="+mj-lt"/>
              <a:ea typeface="华文楷体" pitchFamily="2" charset="-122"/>
            </a:endParaRPr>
          </a:p>
          <a:p>
            <a:pPr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altLang="zh-CN" dirty="0">
              <a:latin typeface="+mj-lt"/>
              <a:ea typeface="华文楷体" pitchFamily="2" charset="-122"/>
            </a:endParaRPr>
          </a:p>
        </p:txBody>
      </p:sp>
      <p:sp>
        <p:nvSpPr>
          <p:cNvPr id="5129" name="Rectangle 5">
            <a:extLst>
              <a:ext uri="{FF2B5EF4-FFF2-40B4-BE49-F238E27FC236}">
                <a16:creationId xmlns:a16="http://schemas.microsoft.com/office/drawing/2014/main" id="{5445A4D7-455A-4FE7-B632-F82FA3820D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5130" name="Rectangle 7">
            <a:extLst>
              <a:ext uri="{FF2B5EF4-FFF2-40B4-BE49-F238E27FC236}">
                <a16:creationId xmlns:a16="http://schemas.microsoft.com/office/drawing/2014/main" id="{0FE216B8-BDE5-49FD-B983-08A8CFD13D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5131" name="Rectangle 9">
            <a:extLst>
              <a:ext uri="{FF2B5EF4-FFF2-40B4-BE49-F238E27FC236}">
                <a16:creationId xmlns:a16="http://schemas.microsoft.com/office/drawing/2014/main" id="{69FF260A-AC36-4410-BDAB-6B82F83671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813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5132" name="Rectangle 11">
            <a:extLst>
              <a:ext uri="{FF2B5EF4-FFF2-40B4-BE49-F238E27FC236}">
                <a16:creationId xmlns:a16="http://schemas.microsoft.com/office/drawing/2014/main" id="{9512883D-EB05-448B-BB78-8B69FA347A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146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5133" name="Rectangle 13">
            <a:extLst>
              <a:ext uri="{FF2B5EF4-FFF2-40B4-BE49-F238E27FC236}">
                <a16:creationId xmlns:a16="http://schemas.microsoft.com/office/drawing/2014/main" id="{1ED40001-07EB-483F-992A-7717F4066C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5134" name="Rectangle 15">
            <a:extLst>
              <a:ext uri="{FF2B5EF4-FFF2-40B4-BE49-F238E27FC236}">
                <a16:creationId xmlns:a16="http://schemas.microsoft.com/office/drawing/2014/main" id="{927EF6EB-6127-4FE1-AB58-CF995EF2A6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122" name="Object 9">
                <a:extLst>
                  <a:ext uri="{FF2B5EF4-FFF2-40B4-BE49-F238E27FC236}">
                    <a16:creationId xmlns:a16="http://schemas.microsoft.com/office/drawing/2014/main" id="{E56F4D13-28E0-4714-803F-B88AE198FBB3}"/>
                  </a:ext>
                </a:extLst>
              </p:cNvPr>
              <p:cNvSpPr txBox="1"/>
              <p:nvPr/>
            </p:nvSpPr>
            <p:spPr bwMode="auto">
              <a:xfrm>
                <a:off x="2955131" y="2065337"/>
                <a:ext cx="3129037" cy="917575"/>
              </a:xfrm>
              <a:prstGeom prst="rect">
                <a:avLst/>
              </a:prstGeom>
              <a:noFill/>
            </p:spPr>
            <p:txBody>
              <a:bodyPr>
                <a:normAutofit fontScale="925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sup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nary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)−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)=0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5122" name="Object 9">
                <a:extLst>
                  <a:ext uri="{FF2B5EF4-FFF2-40B4-BE49-F238E27FC236}">
                    <a16:creationId xmlns:a16="http://schemas.microsoft.com/office/drawing/2014/main" id="{E56F4D13-28E0-4714-803F-B88AE198FB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955131" y="2065337"/>
                <a:ext cx="3129037" cy="91757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23" name="Object 10">
                <a:extLst>
                  <a:ext uri="{FF2B5EF4-FFF2-40B4-BE49-F238E27FC236}">
                    <a16:creationId xmlns:a16="http://schemas.microsoft.com/office/drawing/2014/main" id="{B7C53BF4-7F1F-488F-9213-906D012001AE}"/>
                  </a:ext>
                </a:extLst>
              </p:cNvPr>
              <p:cNvSpPr txBox="1"/>
              <p:nvPr/>
            </p:nvSpPr>
            <p:spPr bwMode="auto">
              <a:xfrm>
                <a:off x="3582193" y="2684423"/>
                <a:ext cx="4875213" cy="763625"/>
              </a:xfrm>
              <a:prstGeom prst="rect">
                <a:avLst/>
              </a:prstGeom>
              <a:noFill/>
            </p:spPr>
            <p:txBody>
              <a:bodyPr>
                <a:normAutofit fontScale="85000" lnSpcReduction="1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sup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nary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+1)−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5123" name="Object 10">
                <a:extLst>
                  <a:ext uri="{FF2B5EF4-FFF2-40B4-BE49-F238E27FC236}">
                    <a16:creationId xmlns:a16="http://schemas.microsoft.com/office/drawing/2014/main" id="{B7C53BF4-7F1F-488F-9213-906D012001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582193" y="2684423"/>
                <a:ext cx="4875213" cy="76362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24" name="Object 11">
                <a:extLst>
                  <a:ext uri="{FF2B5EF4-FFF2-40B4-BE49-F238E27FC236}">
                    <a16:creationId xmlns:a16="http://schemas.microsoft.com/office/drawing/2014/main" id="{ABA4919C-C453-49C2-919E-99944F113B8E}"/>
                  </a:ext>
                </a:extLst>
              </p:cNvPr>
              <p:cNvSpPr txBox="1"/>
              <p:nvPr/>
            </p:nvSpPr>
            <p:spPr bwMode="auto">
              <a:xfrm>
                <a:off x="251520" y="3994340"/>
                <a:ext cx="5400600" cy="2314382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  <m:sup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p>
                        <m:e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nary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nary>
                        <m:naryPr>
                          <m:chr m:val="∑"/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  <m:sup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sup>
                        <m:e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nary>
                    </m:oMath>
                    <m:oMath xmlns:m="http://schemas.openxmlformats.org/officeDocument/2006/math"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+1)−</m:t>
                          </m:r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begChr m:val="["/>
                          <m:endChr m:val="]"/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)−</m:t>
                          </m:r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</m:oMath>
                    <m:oMath xmlns:m="http://schemas.openxmlformats.org/officeDocument/2006/math"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+1)−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5124" name="Object 11">
                <a:extLst>
                  <a:ext uri="{FF2B5EF4-FFF2-40B4-BE49-F238E27FC236}">
                    <a16:creationId xmlns:a16="http://schemas.microsoft.com/office/drawing/2014/main" id="{ABA4919C-C453-49C2-919E-99944F113B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1520" y="3994340"/>
                <a:ext cx="5400600" cy="231438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Object 11">
                <a:extLst>
                  <a:ext uri="{FF2B5EF4-FFF2-40B4-BE49-F238E27FC236}">
                    <a16:creationId xmlns:a16="http://schemas.microsoft.com/office/drawing/2014/main" id="{2947B3FB-507E-4653-B18E-1FAA7BD2F275}"/>
                  </a:ext>
                </a:extLst>
              </p:cNvPr>
              <p:cNvSpPr txBox="1"/>
              <p:nvPr/>
            </p:nvSpPr>
            <p:spPr bwMode="auto">
              <a:xfrm>
                <a:off x="6270898" y="4725144"/>
                <a:ext cx="2949302" cy="2314382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zh-CN" altLang="en-US" sz="24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  <m:sup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p>
                        <m:e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nary>
                      <m:r>
                        <a:rPr lang="en-US" altLang="zh-CN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  <m:sup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sup>
                        <m:e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nary>
                      <m:r>
                        <a:rPr lang="en-US" altLang="zh-CN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5" name="Object 11">
                <a:extLst>
                  <a:ext uri="{FF2B5EF4-FFF2-40B4-BE49-F238E27FC236}">
                    <a16:creationId xmlns:a16="http://schemas.microsoft.com/office/drawing/2014/main" id="{2947B3FB-507E-4653-B18E-1FAA7BD2F2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270898" y="4725144"/>
                <a:ext cx="2949302" cy="231438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日期占位符 3">
            <a:extLst>
              <a:ext uri="{FF2B5EF4-FFF2-40B4-BE49-F238E27FC236}">
                <a16:creationId xmlns:a16="http://schemas.microsoft.com/office/drawing/2014/main" id="{98BD2C8F-8CC9-4775-9C81-DA478FF18F26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A343B32E-CB35-4423-A95B-1C5227E9D28E}" type="datetime1">
              <a:rPr lang="zh-CN" altLang="en-US"/>
              <a:pPr>
                <a:defRPr/>
              </a:pPr>
              <a:t>2023/3/18</a:t>
            </a:fld>
            <a:endParaRPr lang="en-US" altLang="zh-CN"/>
          </a:p>
        </p:txBody>
      </p:sp>
      <p:sp>
        <p:nvSpPr>
          <p:cNvPr id="17" name="灯片编号占位符 4">
            <a:extLst>
              <a:ext uri="{FF2B5EF4-FFF2-40B4-BE49-F238E27FC236}">
                <a16:creationId xmlns:a16="http://schemas.microsoft.com/office/drawing/2014/main" id="{3A3B250A-40A9-46BC-AD6D-F93FA053F5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124200" y="6356350"/>
            <a:ext cx="28956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fld id="{3E85D501-4D6A-4629-9FEA-F6D44BCD8EDC}" type="slidenum">
              <a:rPr lang="en-US" altLang="zh-CN">
                <a:solidFill>
                  <a:srgbClr val="898989"/>
                </a:solidFill>
              </a:rPr>
              <a:pPr algn="ctr"/>
              <a:t>10</a:t>
            </a:fld>
            <a:endParaRPr lang="en-US" altLang="zh-CN">
              <a:solidFill>
                <a:srgbClr val="898989"/>
              </a:solidFill>
            </a:endParaRPr>
          </a:p>
        </p:txBody>
      </p:sp>
      <p:sp>
        <p:nvSpPr>
          <p:cNvPr id="6150" name="Rectangle 2">
            <a:extLst>
              <a:ext uri="{FF2B5EF4-FFF2-40B4-BE49-F238E27FC236}">
                <a16:creationId xmlns:a16="http://schemas.microsoft.com/office/drawing/2014/main" id="{AF032C1B-4BCB-46F1-BE7F-8B92C482B4F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ea typeface="华文楷体" panose="02010600040101010101" pitchFamily="2" charset="-122"/>
              </a:rPr>
              <a:t>定和分的性质</a:t>
            </a:r>
          </a:p>
        </p:txBody>
      </p:sp>
      <p:sp>
        <p:nvSpPr>
          <p:cNvPr id="212995" name="Rectangle 3">
            <a:extLst>
              <a:ext uri="{FF2B5EF4-FFF2-40B4-BE49-F238E27FC236}">
                <a16:creationId xmlns:a16="http://schemas.microsoft.com/office/drawing/2014/main" id="{6B258218-C5F4-404D-9E23-ABA34F360F7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 rtlCol="0"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zh-CN" altLang="en-US" dirty="0">
                <a:latin typeface="+mj-lt"/>
                <a:ea typeface="华文楷体" pitchFamily="2" charset="-122"/>
              </a:rPr>
              <a:t>综合以上观察，可以得到定和分             在整数</a:t>
            </a:r>
            <a:r>
              <a:rPr lang="en-US" altLang="zh-CN" dirty="0">
                <a:latin typeface="+mj-lt"/>
                <a:ea typeface="华文楷体" pitchFamily="2" charset="-122"/>
              </a:rPr>
              <a:t>a</a:t>
            </a:r>
            <a:r>
              <a:rPr lang="zh-CN" altLang="en-US" dirty="0">
                <a:latin typeface="+mj-lt"/>
                <a:ea typeface="华文楷体" pitchFamily="2" charset="-122"/>
              </a:rPr>
              <a:t>和</a:t>
            </a:r>
            <a:r>
              <a:rPr lang="en-US" altLang="zh-CN" dirty="0">
                <a:latin typeface="+mj-lt"/>
                <a:ea typeface="华文楷体" pitchFamily="2" charset="-122"/>
              </a:rPr>
              <a:t>b</a:t>
            </a:r>
            <a:r>
              <a:rPr lang="zh-CN" altLang="en-US" dirty="0">
                <a:latin typeface="+mj-lt"/>
                <a:ea typeface="华文楷体" pitchFamily="2" charset="-122"/>
              </a:rPr>
              <a:t>上的含义：</a:t>
            </a:r>
            <a:endParaRPr lang="en-US" altLang="zh-CN" dirty="0">
              <a:latin typeface="+mj-lt"/>
              <a:ea typeface="华文楷体" pitchFamily="2" charset="-122"/>
            </a:endParaRPr>
          </a:p>
          <a:p>
            <a:pPr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altLang="zh-CN" dirty="0">
              <a:latin typeface="+mj-lt"/>
              <a:ea typeface="华文楷体" pitchFamily="2" charset="-122"/>
            </a:endParaRPr>
          </a:p>
          <a:p>
            <a:pPr fontAlgn="auto">
              <a:spcAft>
                <a:spcPts val="0"/>
              </a:spcAft>
              <a:defRPr/>
            </a:pPr>
            <a:endParaRPr lang="en-US" altLang="zh-CN" dirty="0">
              <a:latin typeface="+mj-lt"/>
              <a:ea typeface="华文楷体" pitchFamily="2" charset="-122"/>
            </a:endParaRPr>
          </a:p>
          <a:p>
            <a:pPr fontAlgn="auto">
              <a:spcAft>
                <a:spcPts val="0"/>
              </a:spcAft>
              <a:defRPr/>
            </a:pPr>
            <a:r>
              <a:rPr lang="zh-CN" altLang="en-US" dirty="0">
                <a:latin typeface="+mj-lt"/>
                <a:ea typeface="华文楷体" pitchFamily="2" charset="-122"/>
              </a:rPr>
              <a:t>换句话说，除了不包括上限</a:t>
            </a:r>
            <a:r>
              <a:rPr lang="zh-CN" altLang="en-US" dirty="0">
                <a:ea typeface="华文楷体" pitchFamily="2" charset="-122"/>
              </a:rPr>
              <a:t>下标</a:t>
            </a:r>
            <a:r>
              <a:rPr lang="zh-CN" altLang="en-US" dirty="0">
                <a:latin typeface="+mj-lt"/>
                <a:ea typeface="华文楷体" pitchFamily="2" charset="-122"/>
              </a:rPr>
              <a:t>上的被加项之外，定和分可以被看做是具有上下界的求和。</a:t>
            </a:r>
            <a:endParaRPr lang="en-US" altLang="zh-CN" dirty="0">
              <a:latin typeface="+mj-lt"/>
              <a:ea typeface="华文楷体" pitchFamily="2" charset="-122"/>
            </a:endParaRPr>
          </a:p>
          <a:p>
            <a:pPr fontAlgn="auto">
              <a:spcAft>
                <a:spcPts val="0"/>
              </a:spcAft>
              <a:defRPr/>
            </a:pPr>
            <a:r>
              <a:rPr lang="zh-CN" altLang="en-US" dirty="0">
                <a:solidFill>
                  <a:srgbClr val="FF0000"/>
                </a:solidFill>
                <a:latin typeface="+mj-lt"/>
                <a:ea typeface="华文楷体" pitchFamily="2" charset="-122"/>
              </a:rPr>
              <a:t>注意：目前仅推导了</a:t>
            </a:r>
            <a:r>
              <a:rPr lang="en-US" altLang="zh-CN" dirty="0">
                <a:solidFill>
                  <a:srgbClr val="FF0000"/>
                </a:solidFill>
                <a:latin typeface="+mj-lt"/>
                <a:ea typeface="华文楷体" pitchFamily="2" charset="-122"/>
              </a:rPr>
              <a:t>b ≥ a</a:t>
            </a:r>
            <a:r>
              <a:rPr lang="zh-CN" altLang="en-US" dirty="0">
                <a:solidFill>
                  <a:srgbClr val="FF0000"/>
                </a:solidFill>
                <a:latin typeface="+mj-lt"/>
                <a:ea typeface="华文楷体" pitchFamily="2" charset="-122"/>
              </a:rPr>
              <a:t>情形的定和分。</a:t>
            </a:r>
            <a:endParaRPr lang="en-US" altLang="zh-CN" dirty="0">
              <a:solidFill>
                <a:srgbClr val="FF0000"/>
              </a:solidFill>
              <a:latin typeface="+mj-lt"/>
              <a:ea typeface="华文楷体" pitchFamily="2" charset="-122"/>
            </a:endParaRPr>
          </a:p>
        </p:txBody>
      </p:sp>
      <p:sp>
        <p:nvSpPr>
          <p:cNvPr id="6152" name="Rectangle 5">
            <a:extLst>
              <a:ext uri="{FF2B5EF4-FFF2-40B4-BE49-F238E27FC236}">
                <a16:creationId xmlns:a16="http://schemas.microsoft.com/office/drawing/2014/main" id="{56997FC0-ADB3-4F7A-8FC5-65D1CC24D2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6153" name="Rectangle 7">
            <a:extLst>
              <a:ext uri="{FF2B5EF4-FFF2-40B4-BE49-F238E27FC236}">
                <a16:creationId xmlns:a16="http://schemas.microsoft.com/office/drawing/2014/main" id="{27FE550A-2110-4557-A8DA-6CBF47A1FB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6154" name="Rectangle 9">
            <a:extLst>
              <a:ext uri="{FF2B5EF4-FFF2-40B4-BE49-F238E27FC236}">
                <a16:creationId xmlns:a16="http://schemas.microsoft.com/office/drawing/2014/main" id="{102B2AB7-D453-4CEB-ADE0-B0F521D085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813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6155" name="Rectangle 11">
            <a:extLst>
              <a:ext uri="{FF2B5EF4-FFF2-40B4-BE49-F238E27FC236}">
                <a16:creationId xmlns:a16="http://schemas.microsoft.com/office/drawing/2014/main" id="{8BD9D352-D691-4AC9-A685-320C3E91A2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146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6156" name="Rectangle 13">
            <a:extLst>
              <a:ext uri="{FF2B5EF4-FFF2-40B4-BE49-F238E27FC236}">
                <a16:creationId xmlns:a16="http://schemas.microsoft.com/office/drawing/2014/main" id="{74D55567-F413-4AB4-A474-99E568685D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6157" name="Rectangle 15">
            <a:extLst>
              <a:ext uri="{FF2B5EF4-FFF2-40B4-BE49-F238E27FC236}">
                <a16:creationId xmlns:a16="http://schemas.microsoft.com/office/drawing/2014/main" id="{0DFE2B5F-68A7-40F0-A73E-FCD3E552B1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46" name="Object 4">
                <a:extLst>
                  <a:ext uri="{FF2B5EF4-FFF2-40B4-BE49-F238E27FC236}">
                    <a16:creationId xmlns:a16="http://schemas.microsoft.com/office/drawing/2014/main" id="{B1016DD7-8EB4-4B2C-A65F-D627DE4AE265}"/>
                  </a:ext>
                </a:extLst>
              </p:cNvPr>
              <p:cNvSpPr txBox="1"/>
              <p:nvPr/>
            </p:nvSpPr>
            <p:spPr bwMode="auto">
              <a:xfrm>
                <a:off x="6551613" y="1557338"/>
                <a:ext cx="1188739" cy="971550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sup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nary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6146" name="Object 4">
                <a:extLst>
                  <a:ext uri="{FF2B5EF4-FFF2-40B4-BE49-F238E27FC236}">
                    <a16:creationId xmlns:a16="http://schemas.microsoft.com/office/drawing/2014/main" id="{B1016DD7-8EB4-4B2C-A65F-D627DE4AE2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551613" y="1557338"/>
                <a:ext cx="1188739" cy="97155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47" name="Object 5">
                <a:extLst>
                  <a:ext uri="{FF2B5EF4-FFF2-40B4-BE49-F238E27FC236}">
                    <a16:creationId xmlns:a16="http://schemas.microsoft.com/office/drawing/2014/main" id="{E71AB771-DBD9-4419-BFD6-9433E4C0AB27}"/>
                  </a:ext>
                </a:extLst>
              </p:cNvPr>
              <p:cNvSpPr txBox="1"/>
              <p:nvPr/>
            </p:nvSpPr>
            <p:spPr bwMode="auto">
              <a:xfrm>
                <a:off x="2339975" y="2759075"/>
                <a:ext cx="4394200" cy="957263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sup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nary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  <m:sup/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6147" name="Object 5">
                <a:extLst>
                  <a:ext uri="{FF2B5EF4-FFF2-40B4-BE49-F238E27FC236}">
                    <a16:creationId xmlns:a16="http://schemas.microsoft.com/office/drawing/2014/main" id="{E71AB771-DBD9-4419-BFD6-9433E4C0AB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339975" y="2759075"/>
                <a:ext cx="4394200" cy="95726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Object 11">
                <a:extLst>
                  <a:ext uri="{FF2B5EF4-FFF2-40B4-BE49-F238E27FC236}">
                    <a16:creationId xmlns:a16="http://schemas.microsoft.com/office/drawing/2014/main" id="{91ADAB4E-F84B-4584-8A82-D34069747E30}"/>
                  </a:ext>
                </a:extLst>
              </p:cNvPr>
              <p:cNvSpPr txBox="1"/>
              <p:nvPr/>
            </p:nvSpPr>
            <p:spPr bwMode="auto">
              <a:xfrm>
                <a:off x="6235825" y="2480348"/>
                <a:ext cx="2800671" cy="660620"/>
              </a:xfrm>
              <a:prstGeom prst="rect">
                <a:avLst/>
              </a:prstGeom>
              <a:solidFill>
                <a:srgbClr val="FFFF00"/>
              </a:solidFill>
            </p:spPr>
            <p:txBody>
              <a:bodyPr>
                <a:normAutofit fontScale="550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zh-CN" altLang="en-US" sz="24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  <m:sup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p>
                        <m:e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nary>
                      <m:r>
                        <a:rPr lang="en-US" altLang="zh-CN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  <m:sup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sup>
                        <m:e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nary>
                      <m:r>
                        <a:rPr lang="en-US" altLang="zh-CN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4" name="Object 11">
                <a:extLst>
                  <a:ext uri="{FF2B5EF4-FFF2-40B4-BE49-F238E27FC236}">
                    <a16:creationId xmlns:a16="http://schemas.microsoft.com/office/drawing/2014/main" id="{91ADAB4E-F84B-4584-8A82-D34069747E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235825" y="2480348"/>
                <a:ext cx="2800671" cy="6606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日期占位符 3">
            <a:extLst>
              <a:ext uri="{FF2B5EF4-FFF2-40B4-BE49-F238E27FC236}">
                <a16:creationId xmlns:a16="http://schemas.microsoft.com/office/drawing/2014/main" id="{D5183E63-D7D6-4E78-8946-72AFCECAAC6A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A343B32E-CB35-4423-A95B-1C5227E9D28E}" type="datetime1">
              <a:rPr lang="zh-CN" altLang="en-US"/>
              <a:pPr>
                <a:defRPr/>
              </a:pPr>
              <a:t>2023/3/18</a:t>
            </a:fld>
            <a:endParaRPr lang="en-US" altLang="zh-CN"/>
          </a:p>
        </p:txBody>
      </p:sp>
      <p:sp>
        <p:nvSpPr>
          <p:cNvPr id="17" name="灯片编号占位符 4">
            <a:extLst>
              <a:ext uri="{FF2B5EF4-FFF2-40B4-BE49-F238E27FC236}">
                <a16:creationId xmlns:a16="http://schemas.microsoft.com/office/drawing/2014/main" id="{19AFD9E8-2C2B-48D2-9139-BE4B02F44D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124200" y="6356350"/>
            <a:ext cx="28956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fld id="{152EC7A8-FC4D-4612-87B3-4A5FB379ED7C}" type="slidenum">
              <a:rPr lang="en-US" altLang="zh-CN">
                <a:solidFill>
                  <a:srgbClr val="898989"/>
                </a:solidFill>
              </a:rPr>
              <a:pPr algn="ctr"/>
              <a:t>11</a:t>
            </a:fld>
            <a:endParaRPr lang="en-US" altLang="zh-CN">
              <a:solidFill>
                <a:srgbClr val="898989"/>
              </a:solidFill>
            </a:endParaRPr>
          </a:p>
        </p:txBody>
      </p:sp>
      <p:sp>
        <p:nvSpPr>
          <p:cNvPr id="7175" name="Rectangle 2">
            <a:extLst>
              <a:ext uri="{FF2B5EF4-FFF2-40B4-BE49-F238E27FC236}">
                <a16:creationId xmlns:a16="http://schemas.microsoft.com/office/drawing/2014/main" id="{EAD2AC2E-061D-4FF3-BE0B-06F136407E1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ea typeface="华文楷体" panose="02010600040101010101" pitchFamily="2" charset="-122"/>
              </a:rPr>
              <a:t>定和分的性质</a:t>
            </a:r>
          </a:p>
        </p:txBody>
      </p:sp>
      <p:sp>
        <p:nvSpPr>
          <p:cNvPr id="212995" name="Rectangle 3">
            <a:extLst>
              <a:ext uri="{FF2B5EF4-FFF2-40B4-BE49-F238E27FC236}">
                <a16:creationId xmlns:a16="http://schemas.microsoft.com/office/drawing/2014/main" id="{F2BF260C-679B-46DF-875F-F061E2581C6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341438"/>
            <a:ext cx="8229600" cy="5040312"/>
          </a:xfrm>
        </p:spPr>
        <p:txBody>
          <a:bodyPr rtlCol="0">
            <a:normAutofit fontScale="92500" lnSpcReduction="1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zh-CN" altLang="en-US">
                <a:latin typeface="+mj-lt"/>
                <a:ea typeface="华文楷体" pitchFamily="2" charset="-122"/>
              </a:rPr>
              <a:t>回想定积分中，积分上下限顺序的变化会带来符号的变化：</a:t>
            </a:r>
            <a:endParaRPr lang="en-US" altLang="zh-CN">
              <a:latin typeface="+mj-lt"/>
              <a:ea typeface="华文楷体" pitchFamily="2" charset="-122"/>
            </a:endParaRPr>
          </a:p>
          <a:p>
            <a:pPr fontAlgn="auto">
              <a:spcAft>
                <a:spcPts val="0"/>
              </a:spcAft>
              <a:defRPr/>
            </a:pPr>
            <a:endParaRPr lang="en-US" altLang="zh-CN">
              <a:latin typeface="+mj-lt"/>
              <a:ea typeface="华文楷体" pitchFamily="2" charset="-122"/>
            </a:endParaRPr>
          </a:p>
          <a:p>
            <a:pPr fontAlgn="auto">
              <a:spcAft>
                <a:spcPts val="0"/>
              </a:spcAft>
              <a:defRPr/>
            </a:pPr>
            <a:r>
              <a:rPr lang="zh-CN" altLang="en-US">
                <a:latin typeface="+mj-lt"/>
                <a:ea typeface="华文楷体" pitchFamily="2" charset="-122"/>
              </a:rPr>
              <a:t>同样在定和分中，若</a:t>
            </a:r>
            <a:r>
              <a:rPr lang="en-US" altLang="zh-CN">
                <a:latin typeface="+mj-lt"/>
                <a:ea typeface="华文楷体" pitchFamily="2" charset="-122"/>
              </a:rPr>
              <a:t>b ≤ a</a:t>
            </a:r>
            <a:r>
              <a:rPr lang="zh-CN" altLang="en-US">
                <a:latin typeface="+mj-lt"/>
                <a:ea typeface="华文楷体" pitchFamily="2" charset="-122"/>
              </a:rPr>
              <a:t>会有什么结果？</a:t>
            </a:r>
            <a:endParaRPr lang="en-US" altLang="zh-CN">
              <a:latin typeface="+mj-lt"/>
              <a:ea typeface="华文楷体" pitchFamily="2" charset="-122"/>
            </a:endParaRPr>
          </a:p>
          <a:p>
            <a:pPr fontAlgn="auto">
              <a:spcAft>
                <a:spcPts val="0"/>
              </a:spcAft>
              <a:defRPr/>
            </a:pPr>
            <a:endParaRPr lang="en-US" altLang="zh-CN">
              <a:latin typeface="+mj-lt"/>
              <a:ea typeface="华文楷体" pitchFamily="2" charset="-122"/>
            </a:endParaRPr>
          </a:p>
          <a:p>
            <a:pPr fontAlgn="auto">
              <a:spcAft>
                <a:spcPts val="0"/>
              </a:spcAft>
              <a:defRPr/>
            </a:pPr>
            <a:r>
              <a:rPr lang="zh-CN" altLang="en-US">
                <a:latin typeface="+mj-lt"/>
                <a:ea typeface="华文楷体" pitchFamily="2" charset="-122"/>
              </a:rPr>
              <a:t>此外还容易得到</a:t>
            </a:r>
            <a:endParaRPr lang="en-US" altLang="zh-CN">
              <a:latin typeface="+mj-lt"/>
              <a:ea typeface="华文楷体" pitchFamily="2" charset="-122"/>
            </a:endParaRPr>
          </a:p>
          <a:p>
            <a:pPr fontAlgn="auto">
              <a:spcAft>
                <a:spcPts val="0"/>
              </a:spcAft>
              <a:defRPr/>
            </a:pPr>
            <a:endParaRPr lang="en-US" altLang="zh-CN">
              <a:latin typeface="+mj-lt"/>
              <a:ea typeface="华文楷体" pitchFamily="2" charset="-122"/>
            </a:endParaRPr>
          </a:p>
          <a:p>
            <a:pPr fontAlgn="auto">
              <a:spcAft>
                <a:spcPts val="0"/>
              </a:spcAft>
              <a:defRPr/>
            </a:pPr>
            <a:r>
              <a:rPr lang="zh-CN" altLang="en-US">
                <a:latin typeface="+mj-lt"/>
                <a:ea typeface="华文楷体" pitchFamily="2" charset="-122"/>
              </a:rPr>
              <a:t>至此，我们在不同的计算上看到了“定和分”与“定积分”之间的相似性。下面来看上述性质的应用。</a:t>
            </a:r>
            <a:endParaRPr lang="en-US" altLang="zh-CN">
              <a:latin typeface="+mj-lt"/>
              <a:ea typeface="华文楷体" pitchFamily="2" charset="-122"/>
            </a:endParaRPr>
          </a:p>
        </p:txBody>
      </p:sp>
      <p:sp>
        <p:nvSpPr>
          <p:cNvPr id="7177" name="Rectangle 5">
            <a:extLst>
              <a:ext uri="{FF2B5EF4-FFF2-40B4-BE49-F238E27FC236}">
                <a16:creationId xmlns:a16="http://schemas.microsoft.com/office/drawing/2014/main" id="{9262DA40-7029-41C6-9C7D-7E32648DC0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7178" name="Rectangle 7">
            <a:extLst>
              <a:ext uri="{FF2B5EF4-FFF2-40B4-BE49-F238E27FC236}">
                <a16:creationId xmlns:a16="http://schemas.microsoft.com/office/drawing/2014/main" id="{6125E32B-8A2F-450F-BEAB-B85730E271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7179" name="Rectangle 9">
            <a:extLst>
              <a:ext uri="{FF2B5EF4-FFF2-40B4-BE49-F238E27FC236}">
                <a16:creationId xmlns:a16="http://schemas.microsoft.com/office/drawing/2014/main" id="{351B10A0-2B55-4BCA-8FB9-2F17A51D34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813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7180" name="Rectangle 11">
            <a:extLst>
              <a:ext uri="{FF2B5EF4-FFF2-40B4-BE49-F238E27FC236}">
                <a16:creationId xmlns:a16="http://schemas.microsoft.com/office/drawing/2014/main" id="{8F068DBB-FCB6-462C-B4FD-20E202C34A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146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7181" name="Rectangle 13">
            <a:extLst>
              <a:ext uri="{FF2B5EF4-FFF2-40B4-BE49-F238E27FC236}">
                <a16:creationId xmlns:a16="http://schemas.microsoft.com/office/drawing/2014/main" id="{A2973874-6739-4C4B-BF39-CAC7DA742D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7182" name="Rectangle 15">
            <a:extLst>
              <a:ext uri="{FF2B5EF4-FFF2-40B4-BE49-F238E27FC236}">
                <a16:creationId xmlns:a16="http://schemas.microsoft.com/office/drawing/2014/main" id="{7FC25808-15C7-40D2-B847-C47FFA446E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170" name="Object 5">
                <a:extLst>
                  <a:ext uri="{FF2B5EF4-FFF2-40B4-BE49-F238E27FC236}">
                    <a16:creationId xmlns:a16="http://schemas.microsoft.com/office/drawing/2014/main" id="{CF3B64F7-DDC2-45FC-87AB-044F4B21F034}"/>
                  </a:ext>
                </a:extLst>
              </p:cNvPr>
              <p:cNvSpPr txBox="1"/>
              <p:nvPr/>
            </p:nvSpPr>
            <p:spPr bwMode="auto">
              <a:xfrm>
                <a:off x="900113" y="3069456"/>
                <a:ext cx="7802562" cy="863600"/>
              </a:xfrm>
              <a:prstGeom prst="rect">
                <a:avLst/>
              </a:prstGeom>
              <a:noFill/>
            </p:spPr>
            <p:txBody>
              <a:bodyPr>
                <a:normAutofit fontScale="925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sup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nary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)−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)=−(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)−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))=−</m:t>
                      </m:r>
                      <m:nary>
                        <m:naryPr>
                          <m:chr m:val="∑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sup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nary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7170" name="Object 5">
                <a:extLst>
                  <a:ext uri="{FF2B5EF4-FFF2-40B4-BE49-F238E27FC236}">
                    <a16:creationId xmlns:a16="http://schemas.microsoft.com/office/drawing/2014/main" id="{CF3B64F7-DDC2-45FC-87AB-044F4B21F0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00113" y="3069456"/>
                <a:ext cx="7802562" cy="8636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71" name="Object 6">
                <a:extLst>
                  <a:ext uri="{FF2B5EF4-FFF2-40B4-BE49-F238E27FC236}">
                    <a16:creationId xmlns:a16="http://schemas.microsoft.com/office/drawing/2014/main" id="{02B63007-674C-4DDA-AD48-9203C2AC59AD}"/>
                  </a:ext>
                </a:extLst>
              </p:cNvPr>
              <p:cNvSpPr txBox="1"/>
              <p:nvPr/>
            </p:nvSpPr>
            <p:spPr bwMode="auto">
              <a:xfrm>
                <a:off x="971550" y="2060575"/>
                <a:ext cx="7532688" cy="741363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sup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)−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)=−(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)−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))=−</m:t>
                      </m:r>
                      <m:nary>
                        <m:nary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sup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7171" name="Object 6">
                <a:extLst>
                  <a:ext uri="{FF2B5EF4-FFF2-40B4-BE49-F238E27FC236}">
                    <a16:creationId xmlns:a16="http://schemas.microsoft.com/office/drawing/2014/main" id="{02B63007-674C-4DDA-AD48-9203C2AC59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71550" y="2060575"/>
                <a:ext cx="7532688" cy="74136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72" name="Object 7">
                <a:extLst>
                  <a:ext uri="{FF2B5EF4-FFF2-40B4-BE49-F238E27FC236}">
                    <a16:creationId xmlns:a16="http://schemas.microsoft.com/office/drawing/2014/main" id="{DB852896-4A09-4C9D-8186-37D665247FB7}"/>
                  </a:ext>
                </a:extLst>
              </p:cNvPr>
              <p:cNvSpPr txBox="1"/>
              <p:nvPr/>
            </p:nvSpPr>
            <p:spPr bwMode="auto">
              <a:xfrm>
                <a:off x="3433763" y="3992178"/>
                <a:ext cx="5070475" cy="923156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sup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nary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p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nary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p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nary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7172" name="Object 7">
                <a:extLst>
                  <a:ext uri="{FF2B5EF4-FFF2-40B4-BE49-F238E27FC236}">
                    <a16:creationId xmlns:a16="http://schemas.microsoft.com/office/drawing/2014/main" id="{DB852896-4A09-4C9D-8186-37D665247F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433763" y="3992178"/>
                <a:ext cx="5070475" cy="92315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日期占位符 3">
            <a:extLst>
              <a:ext uri="{FF2B5EF4-FFF2-40B4-BE49-F238E27FC236}">
                <a16:creationId xmlns:a16="http://schemas.microsoft.com/office/drawing/2014/main" id="{0C56F344-F4FE-491E-956C-26155182FF03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A343B32E-CB35-4423-A95B-1C5227E9D28E}" type="datetime1">
              <a:rPr lang="zh-CN" altLang="en-US"/>
              <a:pPr>
                <a:defRPr/>
              </a:pPr>
              <a:t>2023/3/18</a:t>
            </a:fld>
            <a:endParaRPr lang="en-US" altLang="zh-CN"/>
          </a:p>
        </p:txBody>
      </p:sp>
      <p:sp>
        <p:nvSpPr>
          <p:cNvPr id="17" name="灯片编号占位符 4">
            <a:extLst>
              <a:ext uri="{FF2B5EF4-FFF2-40B4-BE49-F238E27FC236}">
                <a16:creationId xmlns:a16="http://schemas.microsoft.com/office/drawing/2014/main" id="{7D8EE473-89F2-4272-BF5E-F10B6602F5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124200" y="6356350"/>
            <a:ext cx="28956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fld id="{C97C33F8-EA01-4B81-BD77-1FB895F82D00}" type="slidenum">
              <a:rPr lang="en-US" altLang="zh-CN">
                <a:solidFill>
                  <a:srgbClr val="898989"/>
                </a:solidFill>
              </a:rPr>
              <a:pPr algn="ctr"/>
              <a:t>12</a:t>
            </a:fld>
            <a:endParaRPr lang="en-US" altLang="zh-CN" dirty="0">
              <a:solidFill>
                <a:srgbClr val="898989"/>
              </a:solidFill>
            </a:endParaRPr>
          </a:p>
        </p:txBody>
      </p:sp>
      <p:sp>
        <p:nvSpPr>
          <p:cNvPr id="8199" name="Rectangle 2">
            <a:extLst>
              <a:ext uri="{FF2B5EF4-FFF2-40B4-BE49-F238E27FC236}">
                <a16:creationId xmlns:a16="http://schemas.microsoft.com/office/drawing/2014/main" id="{A133F428-D21D-418E-B8C0-12EF0EA892B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ea typeface="华文楷体" panose="02010600040101010101" pitchFamily="2" charset="-122"/>
              </a:rPr>
              <a:t>定和分性质的应用</a:t>
            </a:r>
          </a:p>
        </p:txBody>
      </p:sp>
      <p:sp>
        <p:nvSpPr>
          <p:cNvPr id="212995" name="Rectangle 3">
            <a:extLst>
              <a:ext uri="{FF2B5EF4-FFF2-40B4-BE49-F238E27FC236}">
                <a16:creationId xmlns:a16="http://schemas.microsoft.com/office/drawing/2014/main" id="{AB169E29-1F87-4915-95CF-925430E1560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576" y="1670790"/>
            <a:ext cx="8229600" cy="5040312"/>
          </a:xfrm>
        </p:spPr>
        <p:txBody>
          <a:bodyPr rtlCol="0"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zh-CN" altLang="en-US" dirty="0">
                <a:latin typeface="+mj-lt"/>
                <a:ea typeface="华文楷体" pitchFamily="2" charset="-122"/>
              </a:rPr>
              <a:t>下降阶乘幂的求和：</a:t>
            </a:r>
            <a:endParaRPr lang="en-US" altLang="zh-CN" dirty="0">
              <a:latin typeface="+mj-lt"/>
              <a:ea typeface="华文楷体" pitchFamily="2" charset="-122"/>
            </a:endParaRPr>
          </a:p>
          <a:p>
            <a:pPr fontAlgn="auto">
              <a:spcAft>
                <a:spcPts val="0"/>
              </a:spcAft>
              <a:defRPr/>
            </a:pPr>
            <a:endParaRPr lang="en-US" altLang="zh-CN" dirty="0">
              <a:latin typeface="+mj-lt"/>
              <a:ea typeface="华文楷体" pitchFamily="2" charset="-122"/>
            </a:endParaRPr>
          </a:p>
          <a:p>
            <a:pPr fontAlgn="auto">
              <a:spcAft>
                <a:spcPts val="0"/>
              </a:spcAft>
              <a:defRPr/>
            </a:pPr>
            <a:endParaRPr lang="en-US" altLang="zh-CN" dirty="0">
              <a:latin typeface="+mj-lt"/>
              <a:ea typeface="华文楷体" pitchFamily="2" charset="-122"/>
            </a:endParaRPr>
          </a:p>
          <a:p>
            <a:pPr fontAlgn="auto">
              <a:spcAft>
                <a:spcPts val="0"/>
              </a:spcAft>
              <a:defRPr/>
            </a:pPr>
            <a:endParaRPr lang="en-US" altLang="zh-CN" dirty="0">
              <a:latin typeface="+mj-lt"/>
              <a:ea typeface="华文楷体" pitchFamily="2" charset="-122"/>
            </a:endParaRPr>
          </a:p>
          <a:p>
            <a:pPr fontAlgn="auto">
              <a:spcAft>
                <a:spcPts val="0"/>
              </a:spcAft>
              <a:defRPr/>
            </a:pPr>
            <a:endParaRPr lang="en-US" altLang="zh-CN" dirty="0">
              <a:latin typeface="+mj-lt"/>
              <a:ea typeface="华文楷体" pitchFamily="2" charset="-122"/>
            </a:endParaRPr>
          </a:p>
          <a:p>
            <a:pPr fontAlgn="auto">
              <a:spcAft>
                <a:spcPts val="0"/>
              </a:spcAft>
              <a:defRPr/>
            </a:pPr>
            <a:endParaRPr lang="en-US" altLang="zh-CN" dirty="0">
              <a:latin typeface="+mj-lt"/>
              <a:ea typeface="华文楷体" pitchFamily="2" charset="-122"/>
            </a:endParaRPr>
          </a:p>
        </p:txBody>
      </p:sp>
      <p:sp>
        <p:nvSpPr>
          <p:cNvPr id="8201" name="Rectangle 5">
            <a:extLst>
              <a:ext uri="{FF2B5EF4-FFF2-40B4-BE49-F238E27FC236}">
                <a16:creationId xmlns:a16="http://schemas.microsoft.com/office/drawing/2014/main" id="{69A5D003-37BA-46EC-8E7F-3C0346A0A1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8202" name="Rectangle 7">
            <a:extLst>
              <a:ext uri="{FF2B5EF4-FFF2-40B4-BE49-F238E27FC236}">
                <a16:creationId xmlns:a16="http://schemas.microsoft.com/office/drawing/2014/main" id="{5C45D29F-7BF3-40F4-8C3F-E8E751F434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8203" name="Rectangle 9">
            <a:extLst>
              <a:ext uri="{FF2B5EF4-FFF2-40B4-BE49-F238E27FC236}">
                <a16:creationId xmlns:a16="http://schemas.microsoft.com/office/drawing/2014/main" id="{20FC10FB-2E53-4244-89F7-DCC527B28E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813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8204" name="Rectangle 11">
            <a:extLst>
              <a:ext uri="{FF2B5EF4-FFF2-40B4-BE49-F238E27FC236}">
                <a16:creationId xmlns:a16="http://schemas.microsoft.com/office/drawing/2014/main" id="{C422198D-4793-4730-AA9B-7A739F2D20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146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8205" name="Rectangle 13">
            <a:extLst>
              <a:ext uri="{FF2B5EF4-FFF2-40B4-BE49-F238E27FC236}">
                <a16:creationId xmlns:a16="http://schemas.microsoft.com/office/drawing/2014/main" id="{07DBFEB9-AE06-4775-A36F-401AA8D577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8206" name="Rectangle 15">
            <a:extLst>
              <a:ext uri="{FF2B5EF4-FFF2-40B4-BE49-F238E27FC236}">
                <a16:creationId xmlns:a16="http://schemas.microsoft.com/office/drawing/2014/main" id="{244CDC65-9E68-4D02-BBEC-C43DAE5DCC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194" name="Object 4">
                <a:extLst>
                  <a:ext uri="{FF2B5EF4-FFF2-40B4-BE49-F238E27FC236}">
                    <a16:creationId xmlns:a16="http://schemas.microsoft.com/office/drawing/2014/main" id="{AD7ED9E9-3181-478D-AB16-74CCDF7E8BD3}"/>
                  </a:ext>
                </a:extLst>
              </p:cNvPr>
              <p:cNvSpPr txBox="1"/>
              <p:nvPr/>
            </p:nvSpPr>
            <p:spPr bwMode="auto">
              <a:xfrm>
                <a:off x="2843808" y="2516187"/>
                <a:ext cx="3295650" cy="1127125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zh-CN" altLang="en-US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0≤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/>
                        <m:e>
                          <m:sSup>
                            <m:sSup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p>
                              <m:bar>
                                <m:bar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bar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</m:bar>
                            </m:sup>
                          </m:sSup>
                        </m:e>
                      </m:nary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b="0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bar>
                                        <m:barPr>
                                          <m:ctrlPr>
                                            <a:rPr lang="zh-CN" altLang="en-US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barPr>
                                        <m:e>
                                          <m:r>
                                            <a:rPr lang="zh-CN" altLang="en-US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𝑚</m:t>
                                          </m:r>
                                          <m:r>
                                            <a:rPr lang="zh-CN" altLang="en-US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+1</m:t>
                                          </m:r>
                                        </m:e>
                                      </m:bar>
                                    </m:sup>
                                  </m:sSup>
                                </m:num>
                                <m:den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bSup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p>
                              <m:bar>
                                <m:bar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bar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e>
                              </m:bar>
                            </m:sup>
                          </m:sSup>
                        </m:num>
                        <m:den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den>
                      </m:f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8194" name="Object 4">
                <a:extLst>
                  <a:ext uri="{FF2B5EF4-FFF2-40B4-BE49-F238E27FC236}">
                    <a16:creationId xmlns:a16="http://schemas.microsoft.com/office/drawing/2014/main" id="{AD7ED9E9-3181-478D-AB16-74CCDF7E8B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843808" y="2516187"/>
                <a:ext cx="3295650" cy="112712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日期占位符 3">
            <a:extLst>
              <a:ext uri="{FF2B5EF4-FFF2-40B4-BE49-F238E27FC236}">
                <a16:creationId xmlns:a16="http://schemas.microsoft.com/office/drawing/2014/main" id="{0C56F344-F4FE-491E-956C-26155182FF03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A343B32E-CB35-4423-A95B-1C5227E9D28E}" type="datetime1">
              <a:rPr lang="zh-CN" altLang="en-US"/>
              <a:pPr>
                <a:defRPr/>
              </a:pPr>
              <a:t>2023/3/18</a:t>
            </a:fld>
            <a:endParaRPr lang="en-US" altLang="zh-CN"/>
          </a:p>
        </p:txBody>
      </p:sp>
      <p:sp>
        <p:nvSpPr>
          <p:cNvPr id="17" name="灯片编号占位符 4">
            <a:extLst>
              <a:ext uri="{FF2B5EF4-FFF2-40B4-BE49-F238E27FC236}">
                <a16:creationId xmlns:a16="http://schemas.microsoft.com/office/drawing/2014/main" id="{7D8EE473-89F2-4272-BF5E-F10B6602F5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124200" y="6356350"/>
            <a:ext cx="28956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fld id="{C97C33F8-EA01-4B81-BD77-1FB895F82D00}" type="slidenum">
              <a:rPr lang="en-US" altLang="zh-CN">
                <a:solidFill>
                  <a:srgbClr val="898989"/>
                </a:solidFill>
              </a:rPr>
              <a:pPr algn="ctr"/>
              <a:t>13</a:t>
            </a:fld>
            <a:endParaRPr lang="en-US" altLang="zh-CN">
              <a:solidFill>
                <a:srgbClr val="898989"/>
              </a:solidFill>
            </a:endParaRPr>
          </a:p>
        </p:txBody>
      </p:sp>
      <p:sp>
        <p:nvSpPr>
          <p:cNvPr id="8199" name="Rectangle 2">
            <a:extLst>
              <a:ext uri="{FF2B5EF4-FFF2-40B4-BE49-F238E27FC236}">
                <a16:creationId xmlns:a16="http://schemas.microsoft.com/office/drawing/2014/main" id="{A133F428-D21D-418E-B8C0-12EF0EA892B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ea typeface="华文楷体" panose="02010600040101010101" pitchFamily="2" charset="-122"/>
              </a:rPr>
              <a:t>定和分性质的应用</a:t>
            </a:r>
          </a:p>
        </p:txBody>
      </p:sp>
      <p:sp>
        <p:nvSpPr>
          <p:cNvPr id="212995" name="Rectangle 3">
            <a:extLst>
              <a:ext uri="{FF2B5EF4-FFF2-40B4-BE49-F238E27FC236}">
                <a16:creationId xmlns:a16="http://schemas.microsoft.com/office/drawing/2014/main" id="{AB169E29-1F87-4915-95CF-925430E1560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341438"/>
            <a:ext cx="8229600" cy="5040312"/>
          </a:xfrm>
        </p:spPr>
        <p:txBody>
          <a:bodyPr rtlCol="0">
            <a:normAutofit fontScale="92500" lnSpcReduction="1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zh-CN" altLang="en-US" dirty="0">
                <a:latin typeface="+mj-lt"/>
                <a:ea typeface="华文楷体" pitchFamily="2" charset="-122"/>
              </a:rPr>
              <a:t>下降阶乘幂的求和：</a:t>
            </a:r>
            <a:endParaRPr lang="en-US" altLang="zh-CN" dirty="0">
              <a:latin typeface="+mj-lt"/>
              <a:ea typeface="华文楷体" pitchFamily="2" charset="-122"/>
            </a:endParaRPr>
          </a:p>
          <a:p>
            <a:pPr fontAlgn="auto">
              <a:spcAft>
                <a:spcPts val="0"/>
              </a:spcAft>
              <a:defRPr/>
            </a:pPr>
            <a:endParaRPr lang="en-US" altLang="zh-CN" dirty="0">
              <a:latin typeface="+mj-lt"/>
              <a:ea typeface="华文楷体" pitchFamily="2" charset="-122"/>
            </a:endParaRPr>
          </a:p>
          <a:p>
            <a:pPr fontAlgn="auto">
              <a:spcAft>
                <a:spcPts val="0"/>
              </a:spcAft>
              <a:defRPr/>
            </a:pPr>
            <a:endParaRPr lang="en-US" altLang="zh-CN" dirty="0">
              <a:latin typeface="+mj-lt"/>
              <a:ea typeface="华文楷体" pitchFamily="2" charset="-122"/>
            </a:endParaRPr>
          </a:p>
          <a:p>
            <a:pPr fontAlgn="auto">
              <a:spcAft>
                <a:spcPts val="0"/>
              </a:spcAft>
              <a:defRPr/>
            </a:pPr>
            <a:r>
              <a:rPr lang="zh-CN" altLang="en-US" dirty="0">
                <a:latin typeface="+mj-lt"/>
                <a:ea typeface="华文楷体" pitchFamily="2" charset="-122"/>
              </a:rPr>
              <a:t>特别地，对于前</a:t>
            </a:r>
            <a:r>
              <a:rPr lang="en-US" altLang="zh-CN" dirty="0">
                <a:latin typeface="+mj-lt"/>
                <a:ea typeface="华文楷体" pitchFamily="2" charset="-122"/>
              </a:rPr>
              <a:t>n – 1</a:t>
            </a:r>
            <a:r>
              <a:rPr lang="zh-CN" altLang="en-US" dirty="0">
                <a:latin typeface="+mj-lt"/>
                <a:ea typeface="华文楷体" pitchFamily="2" charset="-122"/>
              </a:rPr>
              <a:t>个正整数的求和</a:t>
            </a:r>
            <a:endParaRPr lang="en-US" altLang="zh-CN" dirty="0">
              <a:latin typeface="+mj-lt"/>
              <a:ea typeface="华文楷体" pitchFamily="2" charset="-122"/>
            </a:endParaRPr>
          </a:p>
          <a:p>
            <a:pPr fontAlgn="auto">
              <a:spcAft>
                <a:spcPts val="0"/>
              </a:spcAft>
              <a:defRPr/>
            </a:pPr>
            <a:endParaRPr lang="en-US" altLang="zh-CN" dirty="0">
              <a:latin typeface="+mj-lt"/>
              <a:ea typeface="华文楷体" pitchFamily="2" charset="-122"/>
            </a:endParaRPr>
          </a:p>
          <a:p>
            <a:pPr fontAlgn="auto">
              <a:spcAft>
                <a:spcPts val="0"/>
              </a:spcAft>
              <a:defRPr/>
            </a:pPr>
            <a:endParaRPr lang="en-US" altLang="zh-CN" dirty="0">
              <a:latin typeface="+mj-lt"/>
              <a:ea typeface="华文楷体" pitchFamily="2" charset="-122"/>
            </a:endParaRPr>
          </a:p>
          <a:p>
            <a:pPr fontAlgn="auto">
              <a:spcAft>
                <a:spcPts val="0"/>
              </a:spcAft>
              <a:defRPr/>
            </a:pPr>
            <a:r>
              <a:rPr lang="zh-CN" altLang="en-US" dirty="0">
                <a:latin typeface="+mj-lt"/>
                <a:ea typeface="华文楷体" pitchFamily="2" charset="-122"/>
              </a:rPr>
              <a:t>此外还有                                       ，容易看出，可以结合上面的等式计算</a:t>
            </a:r>
            <a:r>
              <a:rPr lang="en-US" altLang="zh-CN" dirty="0">
                <a:latin typeface="+mj-lt"/>
                <a:ea typeface="华文楷体" pitchFamily="2" charset="-122"/>
              </a:rPr>
              <a:t>2</a:t>
            </a:r>
            <a:r>
              <a:rPr lang="zh-CN" altLang="en-US" dirty="0">
                <a:latin typeface="+mj-lt"/>
                <a:ea typeface="华文楷体" pitchFamily="2" charset="-122"/>
              </a:rPr>
              <a:t>次方和和</a:t>
            </a:r>
            <a:r>
              <a:rPr lang="en-US" altLang="zh-CN" dirty="0">
                <a:latin typeface="+mj-lt"/>
                <a:ea typeface="华文楷体" pitchFamily="2" charset="-122"/>
              </a:rPr>
              <a:t>3</a:t>
            </a:r>
            <a:r>
              <a:rPr lang="zh-CN" altLang="en-US" dirty="0">
                <a:latin typeface="+mj-lt"/>
                <a:ea typeface="华文楷体" pitchFamily="2" charset="-122"/>
              </a:rPr>
              <a:t>次方和。事实上，对一般</a:t>
            </a:r>
            <a:r>
              <a:rPr lang="en-US" altLang="zh-CN" dirty="0">
                <a:latin typeface="+mj-lt"/>
                <a:ea typeface="华文楷体" pitchFamily="2" charset="-122"/>
              </a:rPr>
              <a:t>n</a:t>
            </a:r>
            <a:r>
              <a:rPr lang="zh-CN" altLang="en-US" dirty="0">
                <a:latin typeface="+mj-lt"/>
                <a:ea typeface="华文楷体" pitchFamily="2" charset="-122"/>
              </a:rPr>
              <a:t>次幂，可以采用</a:t>
            </a:r>
            <a:r>
              <a:rPr lang="en-US" altLang="zh-CN" dirty="0" err="1">
                <a:latin typeface="+mj-lt"/>
                <a:ea typeface="华文楷体" pitchFamily="2" charset="-122"/>
              </a:rPr>
              <a:t>Stirling</a:t>
            </a:r>
            <a:r>
              <a:rPr lang="zh-CN" altLang="en-US" dirty="0">
                <a:latin typeface="+mj-lt"/>
                <a:ea typeface="华文楷体" pitchFamily="2" charset="-122"/>
              </a:rPr>
              <a:t>数计算在下降阶乘幂上的展开形式。</a:t>
            </a:r>
            <a:endParaRPr lang="en-US" altLang="zh-CN" dirty="0">
              <a:latin typeface="+mj-lt"/>
              <a:ea typeface="华文楷体" pitchFamily="2" charset="-122"/>
            </a:endParaRPr>
          </a:p>
          <a:p>
            <a:pPr fontAlgn="auto">
              <a:spcAft>
                <a:spcPts val="0"/>
              </a:spcAft>
              <a:defRPr/>
            </a:pPr>
            <a:endParaRPr lang="en-US" altLang="zh-CN" dirty="0">
              <a:latin typeface="+mj-lt"/>
              <a:ea typeface="华文楷体" pitchFamily="2" charset="-122"/>
            </a:endParaRPr>
          </a:p>
          <a:p>
            <a:pPr fontAlgn="auto">
              <a:spcAft>
                <a:spcPts val="0"/>
              </a:spcAft>
              <a:defRPr/>
            </a:pPr>
            <a:endParaRPr lang="en-US" altLang="zh-CN" dirty="0">
              <a:latin typeface="+mj-lt"/>
              <a:ea typeface="华文楷体" pitchFamily="2" charset="-122"/>
            </a:endParaRPr>
          </a:p>
          <a:p>
            <a:pPr fontAlgn="auto">
              <a:spcAft>
                <a:spcPts val="0"/>
              </a:spcAft>
              <a:defRPr/>
            </a:pPr>
            <a:endParaRPr lang="en-US" altLang="zh-CN" dirty="0">
              <a:latin typeface="+mj-lt"/>
              <a:ea typeface="华文楷体" pitchFamily="2" charset="-122"/>
            </a:endParaRPr>
          </a:p>
        </p:txBody>
      </p:sp>
      <p:sp>
        <p:nvSpPr>
          <p:cNvPr id="8201" name="Rectangle 5">
            <a:extLst>
              <a:ext uri="{FF2B5EF4-FFF2-40B4-BE49-F238E27FC236}">
                <a16:creationId xmlns:a16="http://schemas.microsoft.com/office/drawing/2014/main" id="{69A5D003-37BA-46EC-8E7F-3C0346A0A1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8202" name="Rectangle 7">
            <a:extLst>
              <a:ext uri="{FF2B5EF4-FFF2-40B4-BE49-F238E27FC236}">
                <a16:creationId xmlns:a16="http://schemas.microsoft.com/office/drawing/2014/main" id="{5C45D29F-7BF3-40F4-8C3F-E8E751F434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8203" name="Rectangle 9">
            <a:extLst>
              <a:ext uri="{FF2B5EF4-FFF2-40B4-BE49-F238E27FC236}">
                <a16:creationId xmlns:a16="http://schemas.microsoft.com/office/drawing/2014/main" id="{20FC10FB-2E53-4244-89F7-DCC527B28E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813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8204" name="Rectangle 11">
            <a:extLst>
              <a:ext uri="{FF2B5EF4-FFF2-40B4-BE49-F238E27FC236}">
                <a16:creationId xmlns:a16="http://schemas.microsoft.com/office/drawing/2014/main" id="{C422198D-4793-4730-AA9B-7A739F2D20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146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8205" name="Rectangle 13">
            <a:extLst>
              <a:ext uri="{FF2B5EF4-FFF2-40B4-BE49-F238E27FC236}">
                <a16:creationId xmlns:a16="http://schemas.microsoft.com/office/drawing/2014/main" id="{07DBFEB9-AE06-4775-A36F-401AA8D577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8206" name="Rectangle 15">
            <a:extLst>
              <a:ext uri="{FF2B5EF4-FFF2-40B4-BE49-F238E27FC236}">
                <a16:creationId xmlns:a16="http://schemas.microsoft.com/office/drawing/2014/main" id="{244CDC65-9E68-4D02-BBEC-C43DAE5DCC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194" name="Object 4">
                <a:extLst>
                  <a:ext uri="{FF2B5EF4-FFF2-40B4-BE49-F238E27FC236}">
                    <a16:creationId xmlns:a16="http://schemas.microsoft.com/office/drawing/2014/main" id="{AD7ED9E9-3181-478D-AB16-74CCDF7E8BD3}"/>
                  </a:ext>
                </a:extLst>
              </p:cNvPr>
              <p:cNvSpPr txBox="1"/>
              <p:nvPr/>
            </p:nvSpPr>
            <p:spPr bwMode="auto">
              <a:xfrm>
                <a:off x="2843213" y="1700213"/>
                <a:ext cx="3295650" cy="1127125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zh-CN" altLang="en-US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0≤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/>
                        <m:e>
                          <m:sSup>
                            <m:sSup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p>
                              <m:bar>
                                <m:bar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bar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</m:bar>
                            </m:sup>
                          </m:sSup>
                        </m:e>
                      </m:nary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b="0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bar>
                                        <m:barPr>
                                          <m:ctrlPr>
                                            <a:rPr lang="zh-CN" altLang="en-US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barPr>
                                        <m:e>
                                          <m:r>
                                            <a:rPr lang="zh-CN" altLang="en-US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𝑚</m:t>
                                          </m:r>
                                          <m:r>
                                            <a:rPr lang="zh-CN" altLang="en-US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+1</m:t>
                                          </m:r>
                                        </m:e>
                                      </m:bar>
                                    </m:sup>
                                  </m:sSup>
                                </m:num>
                                <m:den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bSup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p>
                              <m:bar>
                                <m:bar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bar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e>
                              </m:bar>
                            </m:sup>
                          </m:sSup>
                        </m:num>
                        <m:den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den>
                      </m:f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8194" name="Object 4">
                <a:extLst>
                  <a:ext uri="{FF2B5EF4-FFF2-40B4-BE49-F238E27FC236}">
                    <a16:creationId xmlns:a16="http://schemas.microsoft.com/office/drawing/2014/main" id="{AD7ED9E9-3181-478D-AB16-74CCDF7E8B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843213" y="1700213"/>
                <a:ext cx="3295650" cy="112712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195" name="Object 5">
                <a:extLst>
                  <a:ext uri="{FF2B5EF4-FFF2-40B4-BE49-F238E27FC236}">
                    <a16:creationId xmlns:a16="http://schemas.microsoft.com/office/drawing/2014/main" id="{9CEDF0CE-5CFA-4853-980E-71745BBE8B62}"/>
                  </a:ext>
                </a:extLst>
              </p:cNvPr>
              <p:cNvSpPr txBox="1"/>
              <p:nvPr/>
            </p:nvSpPr>
            <p:spPr bwMode="auto">
              <a:xfrm>
                <a:off x="2535238" y="3233738"/>
                <a:ext cx="4197350" cy="987425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0≤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/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nary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0≤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/>
                        <m:e>
                          <m:sSup>
                            <m:sSup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p>
                              <m:bar>
                                <m:bar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bar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bar>
                            </m:sup>
                          </m:sSup>
                        </m:e>
                      </m:nary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p>
                              <m:bar>
                                <m:bar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bar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</m:bar>
                            </m:sup>
                          </m:sSup>
                        </m:num>
                        <m:den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1+1</m:t>
                          </m:r>
                        </m:den>
                      </m:f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−1)</m:t>
                          </m:r>
                        </m:num>
                        <m:den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8195" name="Object 5">
                <a:extLst>
                  <a:ext uri="{FF2B5EF4-FFF2-40B4-BE49-F238E27FC236}">
                    <a16:creationId xmlns:a16="http://schemas.microsoft.com/office/drawing/2014/main" id="{9CEDF0CE-5CFA-4853-980E-71745BBE8B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35238" y="3233738"/>
                <a:ext cx="4197350" cy="98742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196" name="Object 6">
                <a:extLst>
                  <a:ext uri="{FF2B5EF4-FFF2-40B4-BE49-F238E27FC236}">
                    <a16:creationId xmlns:a16="http://schemas.microsoft.com/office/drawing/2014/main" id="{2C5B9283-59B0-4C53-9133-B904212BE68D}"/>
                  </a:ext>
                </a:extLst>
              </p:cNvPr>
              <p:cNvSpPr txBox="1"/>
              <p:nvPr/>
            </p:nvSpPr>
            <p:spPr bwMode="auto">
              <a:xfrm>
                <a:off x="2339752" y="4348164"/>
                <a:ext cx="3600400" cy="504552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p>
                          <m:bar>
                            <m:bar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bar>
                        </m:sup>
                      </m:sSup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p>
                          <m:bar>
                            <m:bar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bar>
                        </m:sup>
                      </m:sSup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p>
                          <m:bar>
                            <m:bar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bar>
                        </m:sup>
                      </m:sSup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+3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p>
                          <m:bar>
                            <m:bar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bar>
                        </m:sup>
                      </m:sSup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p>
                          <m:bar>
                            <m:bar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bar>
                        </m:sup>
                      </m:sSup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8196" name="Object 6">
                <a:extLst>
                  <a:ext uri="{FF2B5EF4-FFF2-40B4-BE49-F238E27FC236}">
                    <a16:creationId xmlns:a16="http://schemas.microsoft.com/office/drawing/2014/main" id="{2C5B9283-59B0-4C53-9133-B904212BE6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339752" y="4348164"/>
                <a:ext cx="3600400" cy="50455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Object 5">
                <a:extLst>
                  <a:ext uri="{FF2B5EF4-FFF2-40B4-BE49-F238E27FC236}">
                    <a16:creationId xmlns:a16="http://schemas.microsoft.com/office/drawing/2014/main" id="{EF0528E1-9F9E-4C40-8327-E8132B55F47E}"/>
                  </a:ext>
                </a:extLst>
              </p:cNvPr>
              <p:cNvSpPr txBox="1"/>
              <p:nvPr/>
            </p:nvSpPr>
            <p:spPr bwMode="auto">
              <a:xfrm>
                <a:off x="7126791" y="146977"/>
                <a:ext cx="2000486" cy="670411"/>
              </a:xfrm>
              <a:prstGeom prst="rect">
                <a:avLst/>
              </a:prstGeom>
              <a:solidFill>
                <a:srgbClr val="FFFF00"/>
              </a:solidFill>
            </p:spPr>
            <p:txBody>
              <a:bodyPr>
                <a:normAutofit fontScale="700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sup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nary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  <m:sup/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5" name="Object 5">
                <a:extLst>
                  <a:ext uri="{FF2B5EF4-FFF2-40B4-BE49-F238E27FC236}">
                    <a16:creationId xmlns:a16="http://schemas.microsoft.com/office/drawing/2014/main" id="{EF0528E1-9F9E-4C40-8327-E8132B55F4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126791" y="146977"/>
                <a:ext cx="2000486" cy="67041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Object 5">
                <a:extLst>
                  <a:ext uri="{FF2B5EF4-FFF2-40B4-BE49-F238E27FC236}">
                    <a16:creationId xmlns:a16="http://schemas.microsoft.com/office/drawing/2014/main" id="{37066F9F-6808-4F3E-B8B3-132055F3FCA3}"/>
                  </a:ext>
                </a:extLst>
              </p:cNvPr>
              <p:cNvSpPr txBox="1"/>
              <p:nvPr/>
            </p:nvSpPr>
            <p:spPr bwMode="auto">
              <a:xfrm>
                <a:off x="6727433" y="1115951"/>
                <a:ext cx="2448050" cy="885949"/>
              </a:xfrm>
              <a:prstGeom prst="rect">
                <a:avLst/>
              </a:prstGeom>
              <a:solidFill>
                <a:srgbClr val="92D050"/>
              </a:solidFill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zh-CN" altLang="en-US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0≤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/>
                        <m:e>
                          <m:sSup>
                            <m:sSup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p>
                              <m:bar>
                                <m:bar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bar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</m:bar>
                            </m:sup>
                          </m:sSup>
                        </m:e>
                      </m:nary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nary>
                        <m:naryPr>
                          <m:chr m:val="∑"/>
                          <m:ctrlPr>
                            <a:rPr lang="zh-CN" altLang="en-US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altLang="zh-CN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n</m:t>
                          </m:r>
                        </m:sup>
                        <m:e>
                          <m:sSup>
                            <m:sSup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p>
                              <m:bar>
                                <m:bar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bar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</m:bar>
                            </m:sup>
                          </m:s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nary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8" name="Object 5">
                <a:extLst>
                  <a:ext uri="{FF2B5EF4-FFF2-40B4-BE49-F238E27FC236}">
                    <a16:creationId xmlns:a16="http://schemas.microsoft.com/office/drawing/2014/main" id="{37066F9F-6808-4F3E-B8B3-132055F3FC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727433" y="1115951"/>
                <a:ext cx="2448050" cy="88594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431285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日期占位符 3">
            <a:extLst>
              <a:ext uri="{FF2B5EF4-FFF2-40B4-BE49-F238E27FC236}">
                <a16:creationId xmlns:a16="http://schemas.microsoft.com/office/drawing/2014/main" id="{DF31D84E-D19B-4255-B99A-B6AD05753AD6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F17D4623-F4FD-4E5A-8C04-40EDFBFFA555}" type="datetime1">
              <a:rPr lang="zh-CN" altLang="en-US"/>
              <a:pPr>
                <a:defRPr/>
              </a:pPr>
              <a:t>2023/3/18</a:t>
            </a:fld>
            <a:endParaRPr lang="en-US" altLang="zh-CN"/>
          </a:p>
        </p:txBody>
      </p:sp>
      <p:sp>
        <p:nvSpPr>
          <p:cNvPr id="11" name="灯片编号占位符 4">
            <a:extLst>
              <a:ext uri="{FF2B5EF4-FFF2-40B4-BE49-F238E27FC236}">
                <a16:creationId xmlns:a16="http://schemas.microsoft.com/office/drawing/2014/main" id="{3A1409D1-0E8F-44E8-B189-9E980E8314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124200" y="6356350"/>
            <a:ext cx="28956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fld id="{864E201C-CBBB-4CCF-97AD-297E538463CA}" type="slidenum">
              <a:rPr lang="en-US" altLang="zh-CN">
                <a:solidFill>
                  <a:srgbClr val="898989"/>
                </a:solidFill>
              </a:rPr>
              <a:pPr algn="ctr"/>
              <a:t>14</a:t>
            </a:fld>
            <a:endParaRPr lang="en-US" altLang="zh-CN">
              <a:solidFill>
                <a:srgbClr val="898989"/>
              </a:solidFill>
            </a:endParaRPr>
          </a:p>
        </p:txBody>
      </p:sp>
      <p:sp>
        <p:nvSpPr>
          <p:cNvPr id="9223" name="Rectangle 2">
            <a:extLst>
              <a:ext uri="{FF2B5EF4-FFF2-40B4-BE49-F238E27FC236}">
                <a16:creationId xmlns:a16="http://schemas.microsoft.com/office/drawing/2014/main" id="{DDC30B6F-75E2-4D50-B31C-2B39BDDDBC4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ea typeface="华文楷体" panose="02010600040101010101" pitchFamily="2" charset="-122"/>
              </a:rPr>
              <a:t>负指数的下降阶乘幂</a:t>
            </a:r>
          </a:p>
        </p:txBody>
      </p:sp>
      <p:sp>
        <p:nvSpPr>
          <p:cNvPr id="214019" name="Rectangle 3">
            <a:extLst>
              <a:ext uri="{FF2B5EF4-FFF2-40B4-BE49-F238E27FC236}">
                <a16:creationId xmlns:a16="http://schemas.microsoft.com/office/drawing/2014/main" id="{AE5E8D7C-7484-4566-B0FB-1E64E908EAC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 rtlCol="0">
            <a:no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zh-CN" altLang="en-US" sz="2800" dirty="0">
                <a:latin typeface="+mj-lt"/>
                <a:ea typeface="华文楷体" pitchFamily="2" charset="-122"/>
              </a:rPr>
              <a:t>注意到：</a:t>
            </a:r>
            <a:endParaRPr lang="en-US" altLang="zh-CN" sz="2800" dirty="0">
              <a:latin typeface="+mj-lt"/>
              <a:ea typeface="华文楷体" pitchFamily="2" charset="-122"/>
            </a:endParaRPr>
          </a:p>
          <a:p>
            <a:pPr fontAlgn="auto">
              <a:spcAft>
                <a:spcPts val="0"/>
              </a:spcAft>
              <a:defRPr/>
            </a:pPr>
            <a:endParaRPr lang="en-US" altLang="zh-CN" sz="2800" dirty="0">
              <a:latin typeface="+mj-lt"/>
              <a:ea typeface="华文楷体" pitchFamily="2" charset="-122"/>
            </a:endParaRPr>
          </a:p>
          <a:p>
            <a:pPr fontAlgn="auto">
              <a:spcAft>
                <a:spcPts val="0"/>
              </a:spcAft>
              <a:defRPr/>
            </a:pPr>
            <a:endParaRPr lang="en-US" altLang="zh-CN" sz="2800" dirty="0">
              <a:latin typeface="+mj-lt"/>
              <a:ea typeface="华文楷体" pitchFamily="2" charset="-122"/>
            </a:endParaRPr>
          </a:p>
          <a:p>
            <a:pPr fontAlgn="auto">
              <a:spcAft>
                <a:spcPts val="0"/>
              </a:spcAft>
              <a:defRPr/>
            </a:pPr>
            <a:r>
              <a:rPr lang="zh-CN" altLang="en-US" sz="2800" dirty="0">
                <a:latin typeface="+mj-lt"/>
                <a:ea typeface="华文楷体" pitchFamily="2" charset="-122"/>
              </a:rPr>
              <a:t>顺着</a:t>
            </a:r>
            <a:r>
              <a:rPr lang="zh-CN" altLang="en-US" sz="2800" dirty="0">
                <a:ea typeface="华文楷体" pitchFamily="2" charset="-122"/>
              </a:rPr>
              <a:t>可以</a:t>
            </a:r>
            <a:r>
              <a:rPr lang="zh-CN" altLang="en-US" sz="2800" dirty="0">
                <a:latin typeface="+mj-lt"/>
                <a:ea typeface="华文楷体" pitchFamily="2" charset="-122"/>
              </a:rPr>
              <a:t>写出：</a:t>
            </a:r>
            <a:endParaRPr lang="en-US" altLang="zh-CN" sz="2800" dirty="0">
              <a:latin typeface="+mj-lt"/>
              <a:ea typeface="华文楷体" pitchFamily="2" charset="-122"/>
            </a:endParaRPr>
          </a:p>
          <a:p>
            <a:pPr fontAlgn="auto">
              <a:spcAft>
                <a:spcPts val="0"/>
              </a:spcAft>
              <a:defRPr/>
            </a:pPr>
            <a:endParaRPr lang="en-US" altLang="zh-CN" sz="2800" dirty="0">
              <a:latin typeface="+mj-lt"/>
              <a:ea typeface="华文楷体" pitchFamily="2" charset="-122"/>
            </a:endParaRPr>
          </a:p>
          <a:p>
            <a:pPr fontAlgn="auto">
              <a:spcAft>
                <a:spcPts val="0"/>
              </a:spcAft>
              <a:defRPr/>
            </a:pPr>
            <a:endParaRPr lang="en-US" altLang="zh-CN" sz="2800" dirty="0">
              <a:latin typeface="+mj-lt"/>
              <a:ea typeface="华文楷体" pitchFamily="2" charset="-122"/>
            </a:endParaRPr>
          </a:p>
          <a:p>
            <a:pPr fontAlgn="auto">
              <a:spcAft>
                <a:spcPts val="0"/>
              </a:spcAft>
              <a:defRPr/>
            </a:pPr>
            <a:endParaRPr lang="en-US" altLang="zh-CN" sz="2800" dirty="0">
              <a:latin typeface="+mj-lt"/>
              <a:ea typeface="华文楷体" pitchFamily="2" charset="-122"/>
            </a:endParaRPr>
          </a:p>
          <a:p>
            <a:pPr fontAlgn="auto">
              <a:spcAft>
                <a:spcPts val="0"/>
              </a:spcAft>
              <a:defRPr/>
            </a:pPr>
            <a:r>
              <a:rPr lang="zh-CN" altLang="en-US" sz="2800" dirty="0">
                <a:latin typeface="+mj-lt"/>
                <a:ea typeface="华文楷体" pitchFamily="2" charset="-122"/>
              </a:rPr>
              <a:t>因此，定义负指数的下降阶乘幂为</a:t>
            </a:r>
            <a:endParaRPr lang="en-US" altLang="zh-CN" sz="2800" dirty="0">
              <a:latin typeface="+mj-lt"/>
              <a:ea typeface="华文楷体" pitchFamily="2" charset="-122"/>
            </a:endParaRPr>
          </a:p>
        </p:txBody>
      </p:sp>
      <p:sp>
        <p:nvSpPr>
          <p:cNvPr id="9225" name="Rectangle 5">
            <a:extLst>
              <a:ext uri="{FF2B5EF4-FFF2-40B4-BE49-F238E27FC236}">
                <a16:creationId xmlns:a16="http://schemas.microsoft.com/office/drawing/2014/main" id="{75586083-4B6A-4167-9BE5-EA1C135C03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9226" name="Rectangle 7">
            <a:extLst>
              <a:ext uri="{FF2B5EF4-FFF2-40B4-BE49-F238E27FC236}">
                <a16:creationId xmlns:a16="http://schemas.microsoft.com/office/drawing/2014/main" id="{A1261211-ED27-47BF-AB5B-27E6A1C745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194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9227" name="Rectangle 9">
            <a:extLst>
              <a:ext uri="{FF2B5EF4-FFF2-40B4-BE49-F238E27FC236}">
                <a16:creationId xmlns:a16="http://schemas.microsoft.com/office/drawing/2014/main" id="{3C4139FD-7E7C-4F83-9B54-0773C80C6A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218" name="Object 5">
                <a:extLst>
                  <a:ext uri="{FF2B5EF4-FFF2-40B4-BE49-F238E27FC236}">
                    <a16:creationId xmlns:a16="http://schemas.microsoft.com/office/drawing/2014/main" id="{1F08047B-D2B3-48A8-A073-423E759A3862}"/>
                  </a:ext>
                </a:extLst>
              </p:cNvPr>
              <p:cNvSpPr txBox="1"/>
              <p:nvPr/>
            </p:nvSpPr>
            <p:spPr bwMode="auto">
              <a:xfrm>
                <a:off x="2195513" y="1628775"/>
                <a:ext cx="2448493" cy="1779588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bar>
                            <m:bar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bar>
                        </m:sup>
                      </m:sSup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−1)(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−2)</m:t>
                      </m:r>
                    </m:oMath>
                    <m:oMath xmlns:m="http://schemas.openxmlformats.org/officeDocument/2006/math"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bar>
                            <m:bar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bar>
                        </m:sup>
                      </m:sSup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−1)</m:t>
                      </m:r>
                    </m:oMath>
                    <m:oMath xmlns:m="http://schemas.openxmlformats.org/officeDocument/2006/math"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bar>
                            <m:bar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bar>
                        </m:sup>
                      </m:sSup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  <m:oMath xmlns:m="http://schemas.openxmlformats.org/officeDocument/2006/math"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bar>
                            <m:bar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bar>
                        </m:sup>
                      </m:sSup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9218" name="Object 5">
                <a:extLst>
                  <a:ext uri="{FF2B5EF4-FFF2-40B4-BE49-F238E27FC236}">
                    <a16:creationId xmlns:a16="http://schemas.microsoft.com/office/drawing/2014/main" id="{1F08047B-D2B3-48A8-A073-423E759A38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195513" y="1628775"/>
                <a:ext cx="2448493" cy="177958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219" name="Object 6">
                <a:extLst>
                  <a:ext uri="{FF2B5EF4-FFF2-40B4-BE49-F238E27FC236}">
                    <a16:creationId xmlns:a16="http://schemas.microsoft.com/office/drawing/2014/main" id="{FB6DC8E6-BE62-4F47-96F8-4A56B9C042E0}"/>
                  </a:ext>
                </a:extLst>
              </p:cNvPr>
              <p:cNvSpPr txBox="1"/>
              <p:nvPr/>
            </p:nvSpPr>
            <p:spPr bwMode="auto">
              <a:xfrm>
                <a:off x="3275551" y="3105945"/>
                <a:ext cx="3567113" cy="1835222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zh-CN" altLang="en-US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bar>
                            <m:bar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bar>
                        </m:sup>
                      </m:sSup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den>
                      </m:f>
                    </m:oMath>
                  </m:oMathPara>
                </a14:m>
                <a:endParaRPr lang="en-US" altLang="zh-CN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bar>
                            <m:bar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−2</m:t>
                              </m:r>
                            </m:e>
                          </m:bar>
                        </m:sup>
                      </m:sSup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+1)(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+2)</m:t>
                          </m:r>
                        </m:den>
                      </m:f>
                    </m:oMath>
                    <m:oMath xmlns:m="http://schemas.openxmlformats.org/officeDocument/2006/math"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bar>
                            <m:bar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−3</m:t>
                              </m:r>
                            </m:e>
                          </m:bar>
                        </m:sup>
                      </m:sSup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+1)(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+2)(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+3)</m:t>
                          </m:r>
                        </m:den>
                      </m:f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9219" name="Object 6">
                <a:extLst>
                  <a:ext uri="{FF2B5EF4-FFF2-40B4-BE49-F238E27FC236}">
                    <a16:creationId xmlns:a16="http://schemas.microsoft.com/office/drawing/2014/main" id="{FB6DC8E6-BE62-4F47-96F8-4A56B9C042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275551" y="3105945"/>
                <a:ext cx="3567113" cy="183522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D520ED15-4674-419B-A6AC-D439109D0E75}"/>
              </a:ext>
            </a:extLst>
          </p:cNvPr>
          <p:cNvCxnSpPr/>
          <p:nvPr/>
        </p:nvCxnSpPr>
        <p:spPr>
          <a:xfrm flipH="1">
            <a:off x="3706813" y="1988840"/>
            <a:ext cx="720725" cy="0"/>
          </a:xfrm>
          <a:prstGeom prst="line">
            <a:avLst/>
          </a:prstGeom>
          <a:ln w="635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76071984-A9E6-4869-B971-029B6158B59B}"/>
              </a:ext>
            </a:extLst>
          </p:cNvPr>
          <p:cNvCxnSpPr/>
          <p:nvPr/>
        </p:nvCxnSpPr>
        <p:spPr>
          <a:xfrm flipH="1">
            <a:off x="2987676" y="2276872"/>
            <a:ext cx="719137" cy="0"/>
          </a:xfrm>
          <a:prstGeom prst="line">
            <a:avLst/>
          </a:prstGeom>
          <a:ln w="635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957C31FE-50DC-45F7-878E-6A12FFB5EAB0}"/>
              </a:ext>
            </a:extLst>
          </p:cNvPr>
          <p:cNvCxnSpPr/>
          <p:nvPr/>
        </p:nvCxnSpPr>
        <p:spPr>
          <a:xfrm flipH="1">
            <a:off x="2771800" y="2492896"/>
            <a:ext cx="144463" cy="0"/>
          </a:xfrm>
          <a:prstGeom prst="line">
            <a:avLst/>
          </a:prstGeom>
          <a:ln w="635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08955D04-F097-4F20-A8EE-1200C26D80E3}"/>
              </a:ext>
            </a:extLst>
          </p:cNvPr>
          <p:cNvCxnSpPr/>
          <p:nvPr/>
        </p:nvCxnSpPr>
        <p:spPr>
          <a:xfrm flipH="1">
            <a:off x="4681674" y="4293096"/>
            <a:ext cx="792163" cy="0"/>
          </a:xfrm>
          <a:prstGeom prst="line">
            <a:avLst/>
          </a:prstGeom>
          <a:ln w="635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E99C705D-DA78-4AEA-A87A-F3526A72AE92}"/>
              </a:ext>
            </a:extLst>
          </p:cNvPr>
          <p:cNvCxnSpPr/>
          <p:nvPr/>
        </p:nvCxnSpPr>
        <p:spPr>
          <a:xfrm flipH="1">
            <a:off x="3995737" y="3717032"/>
            <a:ext cx="576263" cy="0"/>
          </a:xfrm>
          <a:prstGeom prst="line">
            <a:avLst/>
          </a:prstGeom>
          <a:ln w="635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连接符 31">
            <a:extLst>
              <a:ext uri="{FF2B5EF4-FFF2-40B4-BE49-F238E27FC236}">
                <a16:creationId xmlns:a16="http://schemas.microsoft.com/office/drawing/2014/main" id="{BA2DA306-EDDB-4F11-B0F8-D5613CE2D8AE}"/>
              </a:ext>
            </a:extLst>
          </p:cNvPr>
          <p:cNvCxnSpPr/>
          <p:nvPr/>
        </p:nvCxnSpPr>
        <p:spPr>
          <a:xfrm flipH="1">
            <a:off x="5473837" y="4797152"/>
            <a:ext cx="792162" cy="0"/>
          </a:xfrm>
          <a:prstGeom prst="line">
            <a:avLst/>
          </a:prstGeom>
          <a:ln w="635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id="{39876289-BF3B-4DF8-B750-DCF6309C3B42}"/>
              </a:ext>
            </a:extLst>
          </p:cNvPr>
          <p:cNvCxnSpPr/>
          <p:nvPr/>
        </p:nvCxnSpPr>
        <p:spPr>
          <a:xfrm flipV="1">
            <a:off x="7164388" y="1557338"/>
            <a:ext cx="0" cy="4679950"/>
          </a:xfrm>
          <a:prstGeom prst="line">
            <a:avLst/>
          </a:prstGeom>
          <a:ln w="63500">
            <a:solidFill>
              <a:srgbClr val="FF0000"/>
            </a:solidFill>
            <a:head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ectangle 3">
            <a:extLst>
              <a:ext uri="{FF2B5EF4-FFF2-40B4-BE49-F238E27FC236}">
                <a16:creationId xmlns:a16="http://schemas.microsoft.com/office/drawing/2014/main" id="{545757A6-E3F3-4FF5-9045-1F39C7A7321F}"/>
              </a:ext>
            </a:extLst>
          </p:cNvPr>
          <p:cNvSpPr txBox="1">
            <a:spLocks noChangeArrowheads="1"/>
          </p:cNvSpPr>
          <p:nvPr/>
        </p:nvSpPr>
        <p:spPr>
          <a:xfrm>
            <a:off x="7235825" y="1773238"/>
            <a:ext cx="577850" cy="4032250"/>
          </a:xfrm>
          <a:prstGeom prst="rect">
            <a:avLst/>
          </a:prstGeom>
        </p:spPr>
        <p:txBody>
          <a:bodyPr vert="eaVert"/>
          <a:lstStyle/>
          <a:p>
            <a:pPr marL="342900" indent="-342900" algn="ctr" fontAlgn="auto">
              <a:spcBef>
                <a:spcPct val="20000"/>
              </a:spcBef>
              <a:spcAft>
                <a:spcPts val="0"/>
              </a:spcAft>
              <a:defRPr/>
            </a:pPr>
            <a:r>
              <a:rPr lang="zh-CN" altLang="en-US" sz="2400" b="1">
                <a:solidFill>
                  <a:srgbClr val="FF0000"/>
                </a:solidFill>
                <a:latin typeface="+mj-lt"/>
                <a:ea typeface="华文楷体" pitchFamily="2" charset="-122"/>
              </a:rPr>
              <a:t>每次除以递增</a:t>
            </a:r>
            <a:r>
              <a:rPr lang="en-US" altLang="zh-CN" sz="2400" b="1" dirty="0">
                <a:solidFill>
                  <a:srgbClr val="FF0000"/>
                </a:solidFill>
                <a:latin typeface="+mj-lt"/>
                <a:ea typeface="华文楷体" pitchFamily="2" charset="-122"/>
              </a:rPr>
              <a:t>1</a:t>
            </a:r>
            <a:r>
              <a:rPr lang="zh-CN" altLang="en-US" sz="2400" b="1" dirty="0">
                <a:solidFill>
                  <a:srgbClr val="FF0000"/>
                </a:solidFill>
                <a:latin typeface="+mj-lt"/>
                <a:ea typeface="华文楷体" pitchFamily="2" charset="-122"/>
              </a:rPr>
              <a:t>的因子</a:t>
            </a:r>
            <a:endParaRPr lang="en-US" altLang="zh-CN" sz="2400" b="1" dirty="0">
              <a:solidFill>
                <a:srgbClr val="FF0000"/>
              </a:solidFill>
              <a:latin typeface="+mj-lt"/>
              <a:ea typeface="华文楷体" pitchFamily="2" charset="-122"/>
            </a:endParaRPr>
          </a:p>
          <a:p>
            <a:pPr marL="342900" indent="-342900" algn="ctr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endParaRPr lang="en-US" altLang="zh-CN" sz="2400" b="1" dirty="0">
              <a:solidFill>
                <a:srgbClr val="FF0000"/>
              </a:solidFill>
              <a:latin typeface="+mj-lt"/>
              <a:ea typeface="华文楷体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220" name="Object 7">
                <a:extLst>
                  <a:ext uri="{FF2B5EF4-FFF2-40B4-BE49-F238E27FC236}">
                    <a16:creationId xmlns:a16="http://schemas.microsoft.com/office/drawing/2014/main" id="{B94D0407-7701-4210-A181-D2417BAC79E7}"/>
                  </a:ext>
                </a:extLst>
              </p:cNvPr>
              <p:cNvSpPr txBox="1"/>
              <p:nvPr/>
            </p:nvSpPr>
            <p:spPr bwMode="auto">
              <a:xfrm>
                <a:off x="3132138" y="5589588"/>
                <a:ext cx="3421062" cy="796925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bar>
                            <m:bar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</m:bar>
                        </m:sup>
                      </m:sSup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+1)(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+2)⋯(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9220" name="Object 7">
                <a:extLst>
                  <a:ext uri="{FF2B5EF4-FFF2-40B4-BE49-F238E27FC236}">
                    <a16:creationId xmlns:a16="http://schemas.microsoft.com/office/drawing/2014/main" id="{B94D0407-7701-4210-A181-D2417BAC79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132138" y="5589588"/>
                <a:ext cx="3421062" cy="79692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日期占位符 3">
            <a:extLst>
              <a:ext uri="{FF2B5EF4-FFF2-40B4-BE49-F238E27FC236}">
                <a16:creationId xmlns:a16="http://schemas.microsoft.com/office/drawing/2014/main" id="{B7E0AF3C-744D-44BD-9DEB-6A2F3B51B765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F17D4623-F4FD-4E5A-8C04-40EDFBFFA555}" type="datetime1">
              <a:rPr lang="zh-CN" altLang="en-US"/>
              <a:pPr>
                <a:defRPr/>
              </a:pPr>
              <a:t>2023/3/18</a:t>
            </a:fld>
            <a:endParaRPr lang="en-US" altLang="zh-CN"/>
          </a:p>
        </p:txBody>
      </p:sp>
      <p:sp>
        <p:nvSpPr>
          <p:cNvPr id="11" name="灯片编号占位符 4">
            <a:extLst>
              <a:ext uri="{FF2B5EF4-FFF2-40B4-BE49-F238E27FC236}">
                <a16:creationId xmlns:a16="http://schemas.microsoft.com/office/drawing/2014/main" id="{0AB1CB91-6942-4F8D-B5B8-7FC6F26EBF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124200" y="6356350"/>
            <a:ext cx="28956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fld id="{BF99F88D-A922-47D1-BF40-C3FEC8941294}" type="slidenum">
              <a:rPr lang="en-US" altLang="zh-CN">
                <a:solidFill>
                  <a:srgbClr val="898989"/>
                </a:solidFill>
              </a:rPr>
              <a:pPr algn="ctr"/>
              <a:t>15</a:t>
            </a:fld>
            <a:endParaRPr lang="en-US" altLang="zh-CN">
              <a:solidFill>
                <a:srgbClr val="898989"/>
              </a:solidFill>
            </a:endParaRPr>
          </a:p>
        </p:txBody>
      </p:sp>
      <p:sp>
        <p:nvSpPr>
          <p:cNvPr id="10246" name="Rectangle 2">
            <a:extLst>
              <a:ext uri="{FF2B5EF4-FFF2-40B4-BE49-F238E27FC236}">
                <a16:creationId xmlns:a16="http://schemas.microsoft.com/office/drawing/2014/main" id="{7460FE36-FE91-4FC0-84F7-E99C5D2F8AF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ea typeface="华文楷体" panose="02010600040101010101" pitchFamily="2" charset="-122"/>
              </a:rPr>
              <a:t>下降阶乘幂的性质</a:t>
            </a:r>
          </a:p>
        </p:txBody>
      </p:sp>
      <p:sp>
        <p:nvSpPr>
          <p:cNvPr id="214019" name="Rectangle 3">
            <a:extLst>
              <a:ext uri="{FF2B5EF4-FFF2-40B4-BE49-F238E27FC236}">
                <a16:creationId xmlns:a16="http://schemas.microsoft.com/office/drawing/2014/main" id="{782969FF-595A-496B-AA87-A16589A0FA0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 rtlCol="0"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altLang="zh-CN">
                <a:latin typeface="+mj-lt"/>
                <a:ea typeface="华文楷体" pitchFamily="2" charset="-122"/>
              </a:rPr>
              <a:t>1</a:t>
            </a:r>
            <a:r>
              <a:rPr lang="zh-CN" altLang="en-US">
                <a:latin typeface="+mj-lt"/>
                <a:ea typeface="华文楷体" pitchFamily="2" charset="-122"/>
              </a:rPr>
              <a:t>、幂的乘法与指数的加减法</a:t>
            </a:r>
          </a:p>
          <a:p>
            <a:pPr fontAlgn="auto">
              <a:spcAft>
                <a:spcPts val="0"/>
              </a:spcAft>
              <a:defRPr/>
            </a:pPr>
            <a:endParaRPr lang="zh-CN" altLang="en-US">
              <a:latin typeface="+mj-lt"/>
              <a:ea typeface="华文楷体" pitchFamily="2" charset="-122"/>
            </a:endParaRPr>
          </a:p>
          <a:p>
            <a:pPr fontAlgn="auto">
              <a:spcAft>
                <a:spcPts val="0"/>
              </a:spcAft>
              <a:defRPr/>
            </a:pPr>
            <a:r>
              <a:rPr lang="zh-CN" altLang="en-US">
                <a:solidFill>
                  <a:srgbClr val="0000FF"/>
                </a:solidFill>
                <a:latin typeface="+mj-lt"/>
                <a:ea typeface="华文楷体" pitchFamily="2" charset="-122"/>
              </a:rPr>
              <a:t>注：在引入负指数的下降阶乘幂之后，上面的</a:t>
            </a:r>
            <a:r>
              <a:rPr lang="en-US" altLang="zh-CN">
                <a:solidFill>
                  <a:srgbClr val="0000FF"/>
                </a:solidFill>
                <a:latin typeface="+mj-lt"/>
                <a:ea typeface="华文楷体" pitchFamily="2" charset="-122"/>
              </a:rPr>
              <a:t>m</a:t>
            </a:r>
            <a:r>
              <a:rPr lang="zh-CN" altLang="en-US">
                <a:solidFill>
                  <a:srgbClr val="0000FF"/>
                </a:solidFill>
                <a:latin typeface="+mj-lt"/>
                <a:ea typeface="华文楷体" pitchFamily="2" charset="-122"/>
              </a:rPr>
              <a:t>、</a:t>
            </a:r>
            <a:r>
              <a:rPr lang="en-US" altLang="zh-CN">
                <a:solidFill>
                  <a:srgbClr val="0000FF"/>
                </a:solidFill>
                <a:latin typeface="+mj-lt"/>
                <a:ea typeface="华文楷体" pitchFamily="2" charset="-122"/>
              </a:rPr>
              <a:t>n</a:t>
            </a:r>
            <a:r>
              <a:rPr lang="zh-CN" altLang="en-US">
                <a:solidFill>
                  <a:srgbClr val="0000FF"/>
                </a:solidFill>
                <a:latin typeface="+mj-lt"/>
                <a:ea typeface="华文楷体" pitchFamily="2" charset="-122"/>
              </a:rPr>
              <a:t>可以取任意整数。</a:t>
            </a:r>
          </a:p>
          <a:p>
            <a:pPr fontAlgn="auto">
              <a:spcAft>
                <a:spcPts val="0"/>
              </a:spcAft>
              <a:defRPr/>
            </a:pPr>
            <a:r>
              <a:rPr lang="zh-CN" altLang="en-US">
                <a:latin typeface="+mj-lt"/>
                <a:ea typeface="华文楷体" pitchFamily="2" charset="-122"/>
              </a:rPr>
              <a:t>举例：</a:t>
            </a:r>
          </a:p>
        </p:txBody>
      </p:sp>
      <p:sp>
        <p:nvSpPr>
          <p:cNvPr id="10248" name="Rectangle 5">
            <a:extLst>
              <a:ext uri="{FF2B5EF4-FFF2-40B4-BE49-F238E27FC236}">
                <a16:creationId xmlns:a16="http://schemas.microsoft.com/office/drawing/2014/main" id="{F7D941C1-FF7B-4032-AEFA-44677E0C1A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10249" name="Rectangle 7">
            <a:extLst>
              <a:ext uri="{FF2B5EF4-FFF2-40B4-BE49-F238E27FC236}">
                <a16:creationId xmlns:a16="http://schemas.microsoft.com/office/drawing/2014/main" id="{0F85E1AB-1E42-4DFB-B1BD-824217C2C1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194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10250" name="Rectangle 9">
            <a:extLst>
              <a:ext uri="{FF2B5EF4-FFF2-40B4-BE49-F238E27FC236}">
                <a16:creationId xmlns:a16="http://schemas.microsoft.com/office/drawing/2014/main" id="{A1C304C1-E47C-49B1-9C45-FFB80BDC98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242" name="Object 5">
                <a:extLst>
                  <a:ext uri="{FF2B5EF4-FFF2-40B4-BE49-F238E27FC236}">
                    <a16:creationId xmlns:a16="http://schemas.microsoft.com/office/drawing/2014/main" id="{CDF65AAB-0A1C-4688-A97F-A304B88AA999}"/>
                  </a:ext>
                </a:extLst>
              </p:cNvPr>
              <p:cNvSpPr txBox="1"/>
              <p:nvPr/>
            </p:nvSpPr>
            <p:spPr bwMode="auto">
              <a:xfrm>
                <a:off x="3348038" y="2205037"/>
                <a:ext cx="3006725" cy="503883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bar>
                            <m:bar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bar>
                        </m:sup>
                      </m:sSup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bar>
                            <m:bar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</m:bar>
                        </m:sup>
                      </m:sSup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bar>
                            <m:bar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bar>
                        </m:sup>
                      </m:sSup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0242" name="Object 5">
                <a:extLst>
                  <a:ext uri="{FF2B5EF4-FFF2-40B4-BE49-F238E27FC236}">
                    <a16:creationId xmlns:a16="http://schemas.microsoft.com/office/drawing/2014/main" id="{CDF65AAB-0A1C-4688-A97F-A304B88AA9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348038" y="2205037"/>
                <a:ext cx="3006725" cy="50388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243" name="Object 6">
                <a:extLst>
                  <a:ext uri="{FF2B5EF4-FFF2-40B4-BE49-F238E27FC236}">
                    <a16:creationId xmlns:a16="http://schemas.microsoft.com/office/drawing/2014/main" id="{03FB8F81-ADDB-468A-82F8-848AAD0860CE}"/>
                  </a:ext>
                </a:extLst>
              </p:cNvPr>
              <p:cNvSpPr txBox="1"/>
              <p:nvPr/>
            </p:nvSpPr>
            <p:spPr bwMode="auto">
              <a:xfrm>
                <a:off x="3059113" y="3933824"/>
                <a:ext cx="3790950" cy="2192339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bar>
                            <m:bar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2−3</m:t>
                              </m:r>
                            </m:e>
                          </m:bar>
                        </m:sup>
                      </m:sSup>
                      <m:r>
                        <m:rPr>
                          <m:aln/>
                        </m:rP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bar>
                            <m:bar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bar>
                        </m:sup>
                      </m:sSup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−2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bar>
                            <m:bar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−3</m:t>
                              </m:r>
                            </m:e>
                          </m:bar>
                        </m:sup>
                      </m:sSup>
                    </m:oMath>
                    <m:oMath xmlns:m="http://schemas.openxmlformats.org/officeDocument/2006/math">
                      <m:r>
                        <m:rPr>
                          <m:aln/>
                        </m:rP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−1)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−1)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+1)</m:t>
                          </m:r>
                        </m:den>
                      </m:f>
                    </m:oMath>
                    <m:oMath xmlns:m="http://schemas.openxmlformats.org/officeDocument/2006/math">
                      <m:r>
                        <m:rPr>
                          <m:aln/>
                        </m:rP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den>
                      </m:f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bar>
                            <m:bar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bar>
                        </m:sup>
                      </m:sSup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0243" name="Object 6">
                <a:extLst>
                  <a:ext uri="{FF2B5EF4-FFF2-40B4-BE49-F238E27FC236}">
                    <a16:creationId xmlns:a16="http://schemas.microsoft.com/office/drawing/2014/main" id="{03FB8F81-ADDB-468A-82F8-848AAD0860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059113" y="3933824"/>
                <a:ext cx="3790950" cy="219233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日期占位符 3">
            <a:extLst>
              <a:ext uri="{FF2B5EF4-FFF2-40B4-BE49-F238E27FC236}">
                <a16:creationId xmlns:a16="http://schemas.microsoft.com/office/drawing/2014/main" id="{554CAEF1-4786-4073-921E-A526236A8DB1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F17D4623-F4FD-4E5A-8C04-40EDFBFFA555}" type="datetime1">
              <a:rPr lang="zh-CN" altLang="en-US"/>
              <a:pPr>
                <a:defRPr/>
              </a:pPr>
              <a:t>2023/3/18</a:t>
            </a:fld>
            <a:endParaRPr lang="en-US" altLang="zh-CN"/>
          </a:p>
        </p:txBody>
      </p:sp>
      <p:sp>
        <p:nvSpPr>
          <p:cNvPr id="11" name="灯片编号占位符 4">
            <a:extLst>
              <a:ext uri="{FF2B5EF4-FFF2-40B4-BE49-F238E27FC236}">
                <a16:creationId xmlns:a16="http://schemas.microsoft.com/office/drawing/2014/main" id="{89C0F484-F790-4F65-8B20-62D0A503FB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124200" y="6356350"/>
            <a:ext cx="28956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fld id="{47A587EF-675B-4700-8739-98F9D8282D6E}" type="slidenum">
              <a:rPr lang="en-US" altLang="zh-CN">
                <a:solidFill>
                  <a:srgbClr val="898989"/>
                </a:solidFill>
              </a:rPr>
              <a:pPr algn="ctr"/>
              <a:t>16</a:t>
            </a:fld>
            <a:endParaRPr lang="en-US" altLang="zh-CN">
              <a:solidFill>
                <a:srgbClr val="898989"/>
              </a:solidFill>
            </a:endParaRPr>
          </a:p>
        </p:txBody>
      </p:sp>
      <p:sp>
        <p:nvSpPr>
          <p:cNvPr id="11270" name="Rectangle 2">
            <a:extLst>
              <a:ext uri="{FF2B5EF4-FFF2-40B4-BE49-F238E27FC236}">
                <a16:creationId xmlns:a16="http://schemas.microsoft.com/office/drawing/2014/main" id="{1CC08365-F4A3-469D-BFDD-FD5D38919C5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ea typeface="华文楷体" panose="02010600040101010101" pitchFamily="2" charset="-122"/>
              </a:rPr>
              <a:t>下降阶乘幂的性质</a:t>
            </a:r>
          </a:p>
        </p:txBody>
      </p:sp>
      <p:sp>
        <p:nvSpPr>
          <p:cNvPr id="214019" name="Rectangle 3">
            <a:extLst>
              <a:ext uri="{FF2B5EF4-FFF2-40B4-BE49-F238E27FC236}">
                <a16:creationId xmlns:a16="http://schemas.microsoft.com/office/drawing/2014/main" id="{BB9E3C83-5B2D-4E8B-B42B-6FD0528E0DD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 rtlCol="0"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altLang="zh-CN" dirty="0">
                <a:latin typeface="+mj-lt"/>
                <a:ea typeface="华文楷体" pitchFamily="2" charset="-122"/>
              </a:rPr>
              <a:t>2</a:t>
            </a:r>
            <a:r>
              <a:rPr lang="zh-CN" altLang="en-US" dirty="0">
                <a:latin typeface="+mj-lt"/>
                <a:ea typeface="华文楷体" pitchFamily="2" charset="-122"/>
              </a:rPr>
              <a:t>、任意指数的下降阶乘幂的差分计算</a:t>
            </a:r>
          </a:p>
          <a:p>
            <a:pPr fontAlgn="auto">
              <a:spcAft>
                <a:spcPts val="0"/>
              </a:spcAft>
              <a:defRPr/>
            </a:pPr>
            <a:endParaRPr lang="zh-CN" altLang="en-US" dirty="0">
              <a:latin typeface="+mj-lt"/>
              <a:ea typeface="华文楷体" pitchFamily="2" charset="-122"/>
            </a:endParaRPr>
          </a:p>
          <a:p>
            <a:pPr fontAlgn="auto">
              <a:spcAft>
                <a:spcPts val="0"/>
              </a:spcAft>
              <a:defRPr/>
            </a:pPr>
            <a:r>
              <a:rPr lang="zh-CN" altLang="en-US" dirty="0">
                <a:solidFill>
                  <a:srgbClr val="0000FF"/>
                </a:solidFill>
                <a:ea typeface="华文楷体" pitchFamily="2" charset="-122"/>
              </a:rPr>
              <a:t>注：</a:t>
            </a:r>
            <a:r>
              <a:rPr lang="en-US" altLang="zh-CN" dirty="0">
                <a:solidFill>
                  <a:srgbClr val="0000FF"/>
                </a:solidFill>
                <a:ea typeface="华文楷体" pitchFamily="2" charset="-122"/>
              </a:rPr>
              <a:t>m</a:t>
            </a:r>
            <a:r>
              <a:rPr lang="zh-CN" altLang="en-US" dirty="0">
                <a:solidFill>
                  <a:srgbClr val="0000FF"/>
                </a:solidFill>
                <a:ea typeface="华文楷体" pitchFamily="2" charset="-122"/>
              </a:rPr>
              <a:t>可以取任意整数。</a:t>
            </a:r>
            <a:endParaRPr lang="en-US" altLang="zh-CN" dirty="0">
              <a:solidFill>
                <a:srgbClr val="0000FF"/>
              </a:solidFill>
              <a:ea typeface="华文楷体" pitchFamily="2" charset="-122"/>
            </a:endParaRPr>
          </a:p>
          <a:p>
            <a:pPr fontAlgn="auto">
              <a:spcAft>
                <a:spcPts val="0"/>
              </a:spcAft>
              <a:defRPr/>
            </a:pPr>
            <a:r>
              <a:rPr lang="zh-CN" altLang="en-US" dirty="0">
                <a:latin typeface="+mj-lt"/>
                <a:ea typeface="华文楷体" pitchFamily="2" charset="-122"/>
              </a:rPr>
              <a:t>举例：</a:t>
            </a:r>
          </a:p>
        </p:txBody>
      </p:sp>
      <p:sp>
        <p:nvSpPr>
          <p:cNvPr id="11272" name="Rectangle 5">
            <a:extLst>
              <a:ext uri="{FF2B5EF4-FFF2-40B4-BE49-F238E27FC236}">
                <a16:creationId xmlns:a16="http://schemas.microsoft.com/office/drawing/2014/main" id="{B4A63D84-4E40-40F3-8D48-272D5FC225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11273" name="Rectangle 7">
            <a:extLst>
              <a:ext uri="{FF2B5EF4-FFF2-40B4-BE49-F238E27FC236}">
                <a16:creationId xmlns:a16="http://schemas.microsoft.com/office/drawing/2014/main" id="{37B90978-91E1-444F-8A27-C700A12C9E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194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11274" name="Rectangle 9">
            <a:extLst>
              <a:ext uri="{FF2B5EF4-FFF2-40B4-BE49-F238E27FC236}">
                <a16:creationId xmlns:a16="http://schemas.microsoft.com/office/drawing/2014/main" id="{14E1D305-1242-4049-8B05-B1EE6B9F36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266" name="Object 2">
                <a:extLst>
                  <a:ext uri="{FF2B5EF4-FFF2-40B4-BE49-F238E27FC236}">
                    <a16:creationId xmlns:a16="http://schemas.microsoft.com/office/drawing/2014/main" id="{0CD64F2C-8649-49FC-BDD1-007037194C1E}"/>
                  </a:ext>
                </a:extLst>
              </p:cNvPr>
              <p:cNvSpPr txBox="1"/>
              <p:nvPr/>
            </p:nvSpPr>
            <p:spPr bwMode="auto">
              <a:xfrm>
                <a:off x="3398839" y="2205038"/>
                <a:ext cx="2181274" cy="503882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Δ</m:t>
                      </m:r>
                      <m:sSup>
                        <m:sSup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bar>
                            <m:barPr>
                              <m:ctrlP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</m:bar>
                        </m:sup>
                      </m:sSup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  <m:sSup>
                        <m:sSup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bar>
                            <m:barPr>
                              <m:ctrlP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bar>
                        </m:sup>
                      </m:sSup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11266" name="Object 2">
                <a:extLst>
                  <a:ext uri="{FF2B5EF4-FFF2-40B4-BE49-F238E27FC236}">
                    <a16:creationId xmlns:a16="http://schemas.microsoft.com/office/drawing/2014/main" id="{0CD64F2C-8649-49FC-BDD1-007037194C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398839" y="2205038"/>
                <a:ext cx="2181274" cy="503882"/>
              </a:xfrm>
              <a:prstGeom prst="rect">
                <a:avLst/>
              </a:prstGeom>
              <a:blipFill>
                <a:blip r:embed="rId2"/>
                <a:stretch>
                  <a:fillRect l="-84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267" name="Object 3">
                <a:extLst>
                  <a:ext uri="{FF2B5EF4-FFF2-40B4-BE49-F238E27FC236}">
                    <a16:creationId xmlns:a16="http://schemas.microsoft.com/office/drawing/2014/main" id="{F00E1134-753D-441C-A8A5-D0E9176CCA9B}"/>
                  </a:ext>
                </a:extLst>
              </p:cNvPr>
              <p:cNvSpPr txBox="1"/>
              <p:nvPr/>
            </p:nvSpPr>
            <p:spPr bwMode="auto">
              <a:xfrm>
                <a:off x="1979613" y="3429000"/>
                <a:ext cx="6169025" cy="2736850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Δ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bar>
                            <m:bar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−2</m:t>
                              </m:r>
                            </m:e>
                          </m:bar>
                        </m:sup>
                      </m:sSup>
                      <m:r>
                        <m:rPr>
                          <m:aln/>
                        </m:rP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+1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bar>
                            <m:bar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−2</m:t>
                              </m:r>
                            </m:e>
                          </m:bar>
                        </m:sup>
                      </m:sSup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bar>
                            <m:bar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−2</m:t>
                              </m:r>
                            </m:e>
                          </m:bar>
                        </m:sup>
                      </m:sSup>
                    </m:oMath>
                    <m:oMath xmlns:m="http://schemas.openxmlformats.org/officeDocument/2006/math">
                      <m:r>
                        <m:rPr>
                          <m:aln/>
                        </m:rP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+2)(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+3)</m:t>
                          </m:r>
                        </m:den>
                      </m:f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+1)(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+2)</m:t>
                          </m:r>
                        </m:den>
                      </m:f>
                    </m:oMath>
                    <m:oMath xmlns:m="http://schemas.openxmlformats.org/officeDocument/2006/math">
                      <m:r>
                        <m:rPr>
                          <m:aln/>
                        </m:rP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−(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+3)+(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+1)</m:t>
                          </m:r>
                        </m:num>
                        <m:den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+1)(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+2)(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+3)</m:t>
                          </m:r>
                        </m:den>
                      </m:f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−2</m:t>
                          </m:r>
                        </m:num>
                        <m:den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+1)(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+2)(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+3)</m:t>
                          </m:r>
                        </m:den>
                      </m:f>
                    </m:oMath>
                    <m:oMath xmlns:m="http://schemas.openxmlformats.org/officeDocument/2006/math">
                      <m:r>
                        <m:rPr>
                          <m:aln/>
                        </m:rP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−2⋅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bar>
                            <m:bar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−3</m:t>
                              </m:r>
                            </m:e>
                          </m:bar>
                        </m:sup>
                      </m:sSup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11267" name="Object 3">
                <a:extLst>
                  <a:ext uri="{FF2B5EF4-FFF2-40B4-BE49-F238E27FC236}">
                    <a16:creationId xmlns:a16="http://schemas.microsoft.com/office/drawing/2014/main" id="{F00E1134-753D-441C-A8A5-D0E9176CCA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979613" y="3429000"/>
                <a:ext cx="6169025" cy="273685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日期占位符 3">
            <a:extLst>
              <a:ext uri="{FF2B5EF4-FFF2-40B4-BE49-F238E27FC236}">
                <a16:creationId xmlns:a16="http://schemas.microsoft.com/office/drawing/2014/main" id="{2CA4F305-C4F4-49CD-AE7A-7AFB42B915C2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8DE43ADC-09A1-447B-A1D8-43F3801A0602}" type="datetime1">
              <a:rPr lang="zh-CN" altLang="en-US"/>
              <a:pPr>
                <a:defRPr/>
              </a:pPr>
              <a:t>2023/3/18</a:t>
            </a:fld>
            <a:endParaRPr lang="en-US" altLang="zh-CN"/>
          </a:p>
        </p:txBody>
      </p:sp>
      <p:sp>
        <p:nvSpPr>
          <p:cNvPr id="13" name="灯片编号占位符 4">
            <a:extLst>
              <a:ext uri="{FF2B5EF4-FFF2-40B4-BE49-F238E27FC236}">
                <a16:creationId xmlns:a16="http://schemas.microsoft.com/office/drawing/2014/main" id="{01E8C3A2-5700-4CDD-9A23-C833F916A2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124200" y="6356350"/>
            <a:ext cx="28956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fld id="{500CABBA-F46E-4BE1-9AD9-B5CBCA7B6171}" type="slidenum">
              <a:rPr lang="en-US" altLang="zh-CN">
                <a:solidFill>
                  <a:srgbClr val="898989"/>
                </a:solidFill>
              </a:rPr>
              <a:pPr algn="ctr"/>
              <a:t>17</a:t>
            </a:fld>
            <a:endParaRPr lang="en-US" altLang="zh-CN">
              <a:solidFill>
                <a:srgbClr val="898989"/>
              </a:solidFill>
            </a:endParaRPr>
          </a:p>
        </p:txBody>
      </p:sp>
      <p:sp>
        <p:nvSpPr>
          <p:cNvPr id="12295" name="Rectangle 2">
            <a:extLst>
              <a:ext uri="{FF2B5EF4-FFF2-40B4-BE49-F238E27FC236}">
                <a16:creationId xmlns:a16="http://schemas.microsoft.com/office/drawing/2014/main" id="{614DC8B4-FB17-4B47-81EF-3770ADDFE8D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ea typeface="华文楷体" panose="02010600040101010101" pitchFamily="2" charset="-122"/>
              </a:rPr>
              <a:t>下降幂的和分的完整讨论 </a:t>
            </a:r>
          </a:p>
        </p:txBody>
      </p:sp>
      <p:sp>
        <p:nvSpPr>
          <p:cNvPr id="215043" name="Rectangle 3">
            <a:extLst>
              <a:ext uri="{FF2B5EF4-FFF2-40B4-BE49-F238E27FC236}">
                <a16:creationId xmlns:a16="http://schemas.microsoft.com/office/drawing/2014/main" id="{5B4FA267-55E4-42CE-B233-5E80D665C85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268413"/>
            <a:ext cx="8229600" cy="5113337"/>
          </a:xfrm>
        </p:spPr>
        <p:txBody>
          <a:bodyPr rtlCol="0"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zh-CN" altLang="en-US">
                <a:latin typeface="+mj-lt"/>
                <a:ea typeface="华文楷体" pitchFamily="2" charset="-122"/>
              </a:rPr>
              <a:t>对</a:t>
            </a:r>
            <a:r>
              <a:rPr lang="en-US" altLang="zh-CN">
                <a:ea typeface="华文楷体" pitchFamily="2" charset="-122"/>
              </a:rPr>
              <a:t>m ≠ -1</a:t>
            </a:r>
            <a:r>
              <a:rPr lang="zh-CN" altLang="en-US">
                <a:ea typeface="华文楷体" pitchFamily="2" charset="-122"/>
              </a:rPr>
              <a:t>的任意</a:t>
            </a:r>
            <a:r>
              <a:rPr lang="en-US" altLang="zh-CN">
                <a:ea typeface="华文楷体" pitchFamily="2" charset="-122"/>
              </a:rPr>
              <a:t>m</a:t>
            </a:r>
            <a:r>
              <a:rPr lang="zh-CN" altLang="en-US">
                <a:ea typeface="华文楷体" pitchFamily="2" charset="-122"/>
              </a:rPr>
              <a:t>，</a:t>
            </a:r>
            <a:r>
              <a:rPr lang="zh-CN" altLang="en-US">
                <a:latin typeface="+mj-lt"/>
                <a:ea typeface="华文楷体" pitchFamily="2" charset="-122"/>
              </a:rPr>
              <a:t>下降幂的定和分如下：</a:t>
            </a:r>
          </a:p>
          <a:p>
            <a:pPr fontAlgn="auto">
              <a:spcAft>
                <a:spcPts val="0"/>
              </a:spcAft>
              <a:defRPr/>
            </a:pPr>
            <a:endParaRPr lang="zh-CN" altLang="en-US">
              <a:latin typeface="+mj-lt"/>
              <a:ea typeface="华文楷体" pitchFamily="2" charset="-122"/>
            </a:endParaRPr>
          </a:p>
          <a:p>
            <a:pPr fontAlgn="auto">
              <a:spcAft>
                <a:spcPts val="0"/>
              </a:spcAft>
              <a:defRPr/>
            </a:pPr>
            <a:endParaRPr lang="en-US" altLang="zh-CN">
              <a:latin typeface="+mj-lt"/>
              <a:ea typeface="华文楷体" pitchFamily="2" charset="-122"/>
            </a:endParaRPr>
          </a:p>
          <a:p>
            <a:pPr fontAlgn="auto">
              <a:spcAft>
                <a:spcPts val="0"/>
              </a:spcAft>
              <a:defRPr/>
            </a:pPr>
            <a:r>
              <a:rPr lang="zh-CN" altLang="en-US">
                <a:latin typeface="+mj-lt"/>
                <a:ea typeface="华文楷体" pitchFamily="2" charset="-122"/>
              </a:rPr>
              <a:t>对于</a:t>
            </a:r>
            <a:r>
              <a:rPr lang="en-US" altLang="zh-CN">
                <a:latin typeface="+mj-lt"/>
                <a:ea typeface="华文楷体" pitchFamily="2" charset="-122"/>
              </a:rPr>
              <a:t>m=-1</a:t>
            </a:r>
            <a:r>
              <a:rPr lang="zh-CN" altLang="en-US">
                <a:latin typeface="+mj-lt"/>
                <a:ea typeface="华文楷体" pitchFamily="2" charset="-122"/>
              </a:rPr>
              <a:t>时，与微积分中的情形相似，需要提供一个非幂函数</a:t>
            </a:r>
            <a:r>
              <a:rPr lang="en-US" altLang="zh-CN">
                <a:latin typeface="+mj-lt"/>
                <a:ea typeface="华文楷体" pitchFamily="2" charset="-122"/>
              </a:rPr>
              <a:t>f</a:t>
            </a:r>
            <a:r>
              <a:rPr lang="zh-CN" altLang="en-US">
                <a:latin typeface="+mj-lt"/>
                <a:ea typeface="华文楷体" pitchFamily="2" charset="-122"/>
              </a:rPr>
              <a:t>，使之满足</a:t>
            </a:r>
            <a:endParaRPr lang="en-US" altLang="zh-CN">
              <a:latin typeface="+mj-lt"/>
              <a:ea typeface="华文楷体" pitchFamily="2" charset="-122"/>
            </a:endParaRPr>
          </a:p>
          <a:p>
            <a:pPr fontAlgn="auto">
              <a:spcAft>
                <a:spcPts val="0"/>
              </a:spcAft>
              <a:defRPr/>
            </a:pPr>
            <a:endParaRPr lang="en-US" altLang="zh-CN">
              <a:latin typeface="+mj-lt"/>
              <a:ea typeface="华文楷体" pitchFamily="2" charset="-122"/>
            </a:endParaRPr>
          </a:p>
          <a:p>
            <a:pPr fontAlgn="auto">
              <a:spcAft>
                <a:spcPts val="0"/>
              </a:spcAft>
              <a:defRPr/>
            </a:pPr>
            <a:endParaRPr lang="en-US" altLang="zh-CN" sz="1600">
              <a:latin typeface="+mj-lt"/>
              <a:ea typeface="华文楷体" pitchFamily="2" charset="-122"/>
            </a:endParaRPr>
          </a:p>
          <a:p>
            <a:pPr fontAlgn="auto">
              <a:spcAft>
                <a:spcPts val="0"/>
              </a:spcAft>
              <a:defRPr/>
            </a:pPr>
            <a:r>
              <a:rPr lang="zh-CN" altLang="en-US">
                <a:latin typeface="+mj-lt"/>
                <a:ea typeface="华文楷体" pitchFamily="2" charset="-122"/>
              </a:rPr>
              <a:t>显然在</a:t>
            </a:r>
            <a:r>
              <a:rPr lang="en-US" altLang="zh-CN">
                <a:latin typeface="+mj-lt"/>
                <a:ea typeface="华文楷体" pitchFamily="2" charset="-122"/>
              </a:rPr>
              <a:t>x</a:t>
            </a:r>
            <a:r>
              <a:rPr lang="zh-CN" altLang="en-US">
                <a:latin typeface="+mj-lt"/>
                <a:ea typeface="华文楷体" pitchFamily="2" charset="-122"/>
              </a:rPr>
              <a:t>为正整数时，调和数</a:t>
            </a:r>
            <a:r>
              <a:rPr lang="en-US" altLang="zh-CN" i="1">
                <a:latin typeface="+mj-lt"/>
                <a:ea typeface="华文楷体" pitchFamily="2" charset="-122"/>
              </a:rPr>
              <a:t>H</a:t>
            </a:r>
            <a:r>
              <a:rPr lang="en-US" altLang="zh-CN" i="1" baseline="-25000">
                <a:latin typeface="+mj-lt"/>
                <a:ea typeface="华文楷体" pitchFamily="2" charset="-122"/>
              </a:rPr>
              <a:t>x</a:t>
            </a:r>
            <a:r>
              <a:rPr lang="zh-CN" altLang="en-US">
                <a:latin typeface="+mj-lt"/>
                <a:ea typeface="华文楷体" pitchFamily="2" charset="-122"/>
              </a:rPr>
              <a:t>即满足条件：</a:t>
            </a:r>
            <a:endParaRPr lang="en-US" altLang="zh-CN">
              <a:latin typeface="+mj-lt"/>
              <a:ea typeface="华文楷体" pitchFamily="2" charset="-122"/>
            </a:endParaRPr>
          </a:p>
          <a:p>
            <a:pPr fontAlgn="auto">
              <a:spcAft>
                <a:spcPts val="0"/>
              </a:spcAft>
              <a:defRPr/>
            </a:pPr>
            <a:endParaRPr lang="en-US" altLang="zh-CN">
              <a:latin typeface="+mj-lt"/>
              <a:ea typeface="华文楷体" pitchFamily="2" charset="-122"/>
            </a:endParaRPr>
          </a:p>
        </p:txBody>
      </p:sp>
      <p:sp>
        <p:nvSpPr>
          <p:cNvPr id="12297" name="Rectangle 5">
            <a:extLst>
              <a:ext uri="{FF2B5EF4-FFF2-40B4-BE49-F238E27FC236}">
                <a16:creationId xmlns:a16="http://schemas.microsoft.com/office/drawing/2014/main" id="{C994FCFB-58AF-4EBC-B6CD-C820FBD7B4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1003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12298" name="Rectangle 7">
            <a:extLst>
              <a:ext uri="{FF2B5EF4-FFF2-40B4-BE49-F238E27FC236}">
                <a16:creationId xmlns:a16="http://schemas.microsoft.com/office/drawing/2014/main" id="{EB46DBED-7F9E-4CFB-B3D9-00DA21AA22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289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12299" name="Rectangle 9">
            <a:extLst>
              <a:ext uri="{FF2B5EF4-FFF2-40B4-BE49-F238E27FC236}">
                <a16:creationId xmlns:a16="http://schemas.microsoft.com/office/drawing/2014/main" id="{8D33F48B-8339-417B-9B34-8111F1BC79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147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12300" name="Rectangle 11">
            <a:extLst>
              <a:ext uri="{FF2B5EF4-FFF2-40B4-BE49-F238E27FC236}">
                <a16:creationId xmlns:a16="http://schemas.microsoft.com/office/drawing/2014/main" id="{057C9E06-DC5C-40C5-AA6E-3C5F63D924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290" name="Object 6">
                <a:extLst>
                  <a:ext uri="{FF2B5EF4-FFF2-40B4-BE49-F238E27FC236}">
                    <a16:creationId xmlns:a16="http://schemas.microsoft.com/office/drawing/2014/main" id="{A40C4715-6FCA-4BDC-8D63-74D8860CCD07}"/>
                  </a:ext>
                </a:extLst>
              </p:cNvPr>
              <p:cNvSpPr txBox="1"/>
              <p:nvPr/>
            </p:nvSpPr>
            <p:spPr bwMode="auto">
              <a:xfrm>
                <a:off x="2771775" y="1844675"/>
                <a:ext cx="4314825" cy="1152525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sup>
                        <m:e>
                          <m:sSup>
                            <m:sSup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bar>
                                <m:bar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bar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</m:bar>
                            </m:sup>
                          </m:sSup>
                        </m:e>
                      </m:nary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bar>
                                        <m:barPr>
                                          <m:ctrlPr>
                                            <a:rPr lang="zh-CN" altLang="en-US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barPr>
                                        <m:e>
                                          <m:r>
                                            <a:rPr lang="zh-CN" altLang="en-US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𝑚</m:t>
                                          </m:r>
                                          <m:r>
                                            <a:rPr lang="zh-CN" altLang="en-US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+1</m:t>
                                          </m:r>
                                        </m:e>
                                      </m:bar>
                                    </m:sup>
                                  </m:sSup>
                                </m:num>
                                <m:den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sup>
                      </m:sSubSup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这里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≠−1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。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12290" name="Object 6">
                <a:extLst>
                  <a:ext uri="{FF2B5EF4-FFF2-40B4-BE49-F238E27FC236}">
                    <a16:creationId xmlns:a16="http://schemas.microsoft.com/office/drawing/2014/main" id="{A40C4715-6FCA-4BDC-8D63-74D8860CCD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771775" y="1844675"/>
                <a:ext cx="4314825" cy="115252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291" name="Object 7">
                <a:extLst>
                  <a:ext uri="{FF2B5EF4-FFF2-40B4-BE49-F238E27FC236}">
                    <a16:creationId xmlns:a16="http://schemas.microsoft.com/office/drawing/2014/main" id="{2DE41CFF-A682-40A0-9090-E363CA79056E}"/>
                  </a:ext>
                </a:extLst>
              </p:cNvPr>
              <p:cNvSpPr txBox="1"/>
              <p:nvPr/>
            </p:nvSpPr>
            <p:spPr bwMode="auto">
              <a:xfrm>
                <a:off x="2051050" y="4076700"/>
                <a:ext cx="4824413" cy="852488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bar>
                            <m:bar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bar>
                        </m:sup>
                      </m:sSup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den>
                      </m:f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+1)−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12291" name="Object 7">
                <a:extLst>
                  <a:ext uri="{FF2B5EF4-FFF2-40B4-BE49-F238E27FC236}">
                    <a16:creationId xmlns:a16="http://schemas.microsoft.com/office/drawing/2014/main" id="{2DE41CFF-A682-40A0-9090-E363CA7905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051050" y="4076700"/>
                <a:ext cx="4824413" cy="85248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292" name="Object 8">
                <a:extLst>
                  <a:ext uri="{FF2B5EF4-FFF2-40B4-BE49-F238E27FC236}">
                    <a16:creationId xmlns:a16="http://schemas.microsoft.com/office/drawing/2014/main" id="{2608B3D2-21B8-41BA-A649-460468D60D90}"/>
                  </a:ext>
                </a:extLst>
              </p:cNvPr>
              <p:cNvSpPr txBox="1"/>
              <p:nvPr/>
            </p:nvSpPr>
            <p:spPr bwMode="auto">
              <a:xfrm>
                <a:off x="3276600" y="5516563"/>
                <a:ext cx="2590800" cy="936625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den>
                      </m:f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+⋯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12292" name="Object 8">
                <a:extLst>
                  <a:ext uri="{FF2B5EF4-FFF2-40B4-BE49-F238E27FC236}">
                    <a16:creationId xmlns:a16="http://schemas.microsoft.com/office/drawing/2014/main" id="{2608B3D2-21B8-41BA-A649-460468D60D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276600" y="5516563"/>
                <a:ext cx="2590800" cy="93662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日期占位符 3">
            <a:extLst>
              <a:ext uri="{FF2B5EF4-FFF2-40B4-BE49-F238E27FC236}">
                <a16:creationId xmlns:a16="http://schemas.microsoft.com/office/drawing/2014/main" id="{2BC9C026-A1D4-4B7A-BA4A-C620696F7F39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8DE43ADC-09A1-447B-A1D8-43F3801A0602}" type="datetime1">
              <a:rPr lang="zh-CN" altLang="en-US"/>
              <a:pPr>
                <a:defRPr/>
              </a:pPr>
              <a:t>2023/3/18</a:t>
            </a:fld>
            <a:endParaRPr lang="en-US" altLang="zh-CN"/>
          </a:p>
        </p:txBody>
      </p:sp>
      <p:sp>
        <p:nvSpPr>
          <p:cNvPr id="13" name="灯片编号占位符 4">
            <a:extLst>
              <a:ext uri="{FF2B5EF4-FFF2-40B4-BE49-F238E27FC236}">
                <a16:creationId xmlns:a16="http://schemas.microsoft.com/office/drawing/2014/main" id="{29536EF0-74E0-4A8C-AE32-ECBEFD3825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124200" y="6356350"/>
            <a:ext cx="28956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fld id="{9692D987-DF35-4BD8-83B0-24235AD6210F}" type="slidenum">
              <a:rPr lang="en-US" altLang="zh-CN">
                <a:solidFill>
                  <a:srgbClr val="898989"/>
                </a:solidFill>
              </a:rPr>
              <a:pPr algn="ctr"/>
              <a:t>18</a:t>
            </a:fld>
            <a:endParaRPr lang="en-US" altLang="zh-CN">
              <a:solidFill>
                <a:srgbClr val="898989"/>
              </a:solidFill>
            </a:endParaRPr>
          </a:p>
        </p:txBody>
      </p:sp>
      <p:sp>
        <p:nvSpPr>
          <p:cNvPr id="13317" name="Rectangle 2">
            <a:extLst>
              <a:ext uri="{FF2B5EF4-FFF2-40B4-BE49-F238E27FC236}">
                <a16:creationId xmlns:a16="http://schemas.microsoft.com/office/drawing/2014/main" id="{FE6D1848-D726-4940-818A-6A39D3F09C6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ea typeface="华文楷体" panose="02010600040101010101" pitchFamily="2" charset="-122"/>
              </a:rPr>
              <a:t>下降幂的和分的完整讨论 </a:t>
            </a:r>
          </a:p>
        </p:txBody>
      </p:sp>
      <p:sp>
        <p:nvSpPr>
          <p:cNvPr id="215043" name="Rectangle 3">
            <a:extLst>
              <a:ext uri="{FF2B5EF4-FFF2-40B4-BE49-F238E27FC236}">
                <a16:creationId xmlns:a16="http://schemas.microsoft.com/office/drawing/2014/main" id="{EA608BE8-B283-4702-BEF6-A283D880839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 rtlCol="0"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altLang="zh-CN">
                <a:ea typeface="华文楷体" pitchFamily="2" charset="-122"/>
              </a:rPr>
              <a:t>H</a:t>
            </a:r>
            <a:r>
              <a:rPr lang="en-US" altLang="zh-CN" baseline="-25000">
                <a:ea typeface="华文楷体" pitchFamily="2" charset="-122"/>
              </a:rPr>
              <a:t>x</a:t>
            </a:r>
            <a:r>
              <a:rPr lang="zh-CN" altLang="en-US">
                <a:ea typeface="华文楷体" pitchFamily="2" charset="-122"/>
              </a:rPr>
              <a:t>不仅是</a:t>
            </a:r>
            <a:r>
              <a:rPr lang="en-US" altLang="zh-CN">
                <a:ea typeface="华文楷体" pitchFamily="2" charset="-122"/>
              </a:rPr>
              <a:t>ln</a:t>
            </a:r>
            <a:r>
              <a:rPr lang="zh-CN" altLang="en-US">
                <a:ea typeface="华文楷体" pitchFamily="2" charset="-122"/>
              </a:rPr>
              <a:t>的对应，事实上在</a:t>
            </a:r>
            <a:r>
              <a:rPr lang="en-US" altLang="zh-CN">
                <a:ea typeface="华文楷体" pitchFamily="2" charset="-122"/>
              </a:rPr>
              <a:t>x</a:t>
            </a:r>
            <a:r>
              <a:rPr lang="zh-CN" altLang="en-US">
                <a:ea typeface="华文楷体" pitchFamily="2" charset="-122"/>
              </a:rPr>
              <a:t>足够大时，</a:t>
            </a:r>
            <a:r>
              <a:rPr lang="en-US" altLang="zh-CN">
                <a:ea typeface="华文楷体" pitchFamily="2" charset="-122"/>
              </a:rPr>
              <a:t>H</a:t>
            </a:r>
            <a:r>
              <a:rPr lang="en-US" altLang="zh-CN" baseline="-25000">
                <a:ea typeface="华文楷体" pitchFamily="2" charset="-122"/>
              </a:rPr>
              <a:t>x</a:t>
            </a:r>
            <a:r>
              <a:rPr lang="zh-CN" altLang="en-US">
                <a:ea typeface="华文楷体" pitchFamily="2" charset="-122"/>
              </a:rPr>
              <a:t>与</a:t>
            </a:r>
            <a:r>
              <a:rPr lang="en-US" altLang="zh-CN">
                <a:ea typeface="华文楷体" pitchFamily="2" charset="-122"/>
              </a:rPr>
              <a:t>ln(x)</a:t>
            </a:r>
            <a:r>
              <a:rPr lang="zh-CN" altLang="en-US">
                <a:ea typeface="华文楷体" pitchFamily="2" charset="-122"/>
              </a:rPr>
              <a:t>之差几乎不超过</a:t>
            </a:r>
            <a:r>
              <a:rPr lang="en-US" altLang="zh-CN">
                <a:ea typeface="华文楷体" pitchFamily="2" charset="-122"/>
              </a:rPr>
              <a:t>1</a:t>
            </a:r>
            <a:r>
              <a:rPr lang="zh-CN" altLang="en-US">
                <a:ea typeface="华文楷体" pitchFamily="2" charset="-122"/>
              </a:rPr>
              <a:t>（见</a:t>
            </a:r>
            <a:r>
              <a:rPr lang="en-US" altLang="zh-CN">
                <a:ea typeface="华文楷体" pitchFamily="2" charset="-122"/>
              </a:rPr>
              <a:t>Chap. 9</a:t>
            </a:r>
            <a:r>
              <a:rPr lang="zh-CN" altLang="en-US">
                <a:ea typeface="华文楷体" pitchFamily="2" charset="-122"/>
              </a:rPr>
              <a:t>）。</a:t>
            </a:r>
            <a:endParaRPr lang="en-US" altLang="zh-CN">
              <a:ea typeface="华文楷体" pitchFamily="2" charset="-122"/>
            </a:endParaRPr>
          </a:p>
          <a:p>
            <a:pPr fontAlgn="auto">
              <a:spcAft>
                <a:spcPts val="0"/>
              </a:spcAft>
              <a:defRPr/>
            </a:pPr>
            <a:r>
              <a:rPr lang="zh-CN" altLang="en-US">
                <a:latin typeface="+mj-lt"/>
                <a:ea typeface="华文楷体" pitchFamily="2" charset="-122"/>
              </a:rPr>
              <a:t>现在对所有整数指数，给出下降幂和分的完整描述：</a:t>
            </a:r>
          </a:p>
          <a:p>
            <a:pPr fontAlgn="auto">
              <a:spcAft>
                <a:spcPts val="0"/>
              </a:spcAft>
              <a:defRPr/>
            </a:pPr>
            <a:endParaRPr lang="zh-CN" altLang="en-US">
              <a:latin typeface="+mj-lt"/>
              <a:ea typeface="华文楷体" pitchFamily="2" charset="-122"/>
            </a:endParaRPr>
          </a:p>
          <a:p>
            <a:pPr fontAlgn="auto">
              <a:spcAft>
                <a:spcPts val="0"/>
              </a:spcAft>
              <a:defRPr/>
            </a:pPr>
            <a:endParaRPr lang="zh-CN" altLang="en-US">
              <a:latin typeface="+mj-lt"/>
              <a:ea typeface="华文楷体" pitchFamily="2" charset="-122"/>
            </a:endParaRPr>
          </a:p>
        </p:txBody>
      </p:sp>
      <p:sp>
        <p:nvSpPr>
          <p:cNvPr id="13319" name="Rectangle 5">
            <a:extLst>
              <a:ext uri="{FF2B5EF4-FFF2-40B4-BE49-F238E27FC236}">
                <a16:creationId xmlns:a16="http://schemas.microsoft.com/office/drawing/2014/main" id="{D120A89D-CD1A-4710-9A55-4E6C4F69F8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1003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13320" name="Rectangle 7">
            <a:extLst>
              <a:ext uri="{FF2B5EF4-FFF2-40B4-BE49-F238E27FC236}">
                <a16:creationId xmlns:a16="http://schemas.microsoft.com/office/drawing/2014/main" id="{0AF8047E-9392-48FC-9E9A-90FF71DA1F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289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13321" name="Rectangle 9">
            <a:extLst>
              <a:ext uri="{FF2B5EF4-FFF2-40B4-BE49-F238E27FC236}">
                <a16:creationId xmlns:a16="http://schemas.microsoft.com/office/drawing/2014/main" id="{9027E0D6-83E8-4530-85F0-21D2A606D4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147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13322" name="Rectangle 11">
            <a:extLst>
              <a:ext uri="{FF2B5EF4-FFF2-40B4-BE49-F238E27FC236}">
                <a16:creationId xmlns:a16="http://schemas.microsoft.com/office/drawing/2014/main" id="{D4C81964-B6E5-4986-A814-C56B7684F9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314" name="Object 5">
                <a:extLst>
                  <a:ext uri="{FF2B5EF4-FFF2-40B4-BE49-F238E27FC236}">
                    <a16:creationId xmlns:a16="http://schemas.microsoft.com/office/drawing/2014/main" id="{E984B3E8-AF88-456E-9FDF-0B3A6E02C8D4}"/>
                  </a:ext>
                </a:extLst>
              </p:cNvPr>
              <p:cNvSpPr txBox="1"/>
              <p:nvPr/>
            </p:nvSpPr>
            <p:spPr bwMode="auto">
              <a:xfrm>
                <a:off x="2339975" y="3429000"/>
                <a:ext cx="4535488" cy="2270125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zh-CN" altLang="en-US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sup>
                        <m:e>
                          <m:sSup>
                            <m:sSup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bar>
                                <m:bar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bar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</m:bar>
                            </m:sup>
                          </m:sSup>
                        </m:e>
                      </m:nary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sSubSup>
                                <m:sSubSup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d>
                                    <m:dPr>
                                      <m:begChr m:val=""/>
                                      <m:endChr m:val="|"/>
                                      <m:ctrlP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zh-CN" altLang="en-US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sSup>
                                            <m:sSupPr>
                                              <m:ctrlPr>
                                                <a:rPr lang="zh-CN" altLang="en-US" i="1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zh-CN" altLang="en-US" i="1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p>
                                              <m:bar>
                                                <m:barPr>
                                                  <m:ctrlPr>
                                                    <a:rPr lang="zh-CN" altLang="en-US" i="1">
                                                      <a:solidFill>
                                                        <a:srgbClr val="000000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barPr>
                                                <m:e>
                                                  <m:r>
                                                    <a:rPr lang="zh-CN" altLang="en-US" i="1">
                                                      <a:solidFill>
                                                        <a:srgbClr val="000000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𝑚</m:t>
                                                  </m:r>
                                                  <m:r>
                                                    <a:rPr lang="zh-CN" altLang="en-US" i="1">
                                                      <a:solidFill>
                                                        <a:srgbClr val="000000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+1</m:t>
                                                  </m:r>
                                                </m:e>
                                              </m:bar>
                                            </m:sup>
                                          </m:sSup>
                                        </m:num>
                                        <m:den>
                                          <m:r>
                                            <a:rPr lang="zh-CN" altLang="en-US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𝑚</m:t>
                                          </m:r>
                                          <m:r>
                                            <a:rPr lang="zh-CN" altLang="en-US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+1</m:t>
                                          </m:r>
                                        </m:den>
                                      </m:f>
                                    </m:e>
                                  </m:d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sub>
                                <m:sup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sup>
                              </m:sSub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CN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≠−1;</m:t>
                              </m:r>
                            </m:e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sSubSup>
                                <m:sSubSup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d>
                                    <m:dPr>
                                      <m:begChr m:val=""/>
                                      <m:endChr m:val="|"/>
                                      <m:ctrlP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zh-CN" altLang="en-US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zh-CN" altLang="en-US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𝐻</m:t>
                                          </m:r>
                                        </m:e>
                                        <m:sub>
                                          <m:r>
                                            <a:rPr lang="zh-CN" altLang="en-US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sub>
                                <m:sup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sup>
                              </m:sSub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CN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       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=−1.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3314" name="Object 5">
                <a:extLst>
                  <a:ext uri="{FF2B5EF4-FFF2-40B4-BE49-F238E27FC236}">
                    <a16:creationId xmlns:a16="http://schemas.microsoft.com/office/drawing/2014/main" id="{E984B3E8-AF88-456E-9FDF-0B3A6E02C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339975" y="3429000"/>
                <a:ext cx="4535488" cy="227012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日期占位符 3">
            <a:extLst>
              <a:ext uri="{FF2B5EF4-FFF2-40B4-BE49-F238E27FC236}">
                <a16:creationId xmlns:a16="http://schemas.microsoft.com/office/drawing/2014/main" id="{5D4CD387-8B5A-476C-ADB5-48D45F0F6DB5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8DE43ADC-09A1-447B-A1D8-43F3801A0602}" type="datetime1">
              <a:rPr lang="zh-CN" altLang="en-US"/>
              <a:pPr>
                <a:defRPr/>
              </a:pPr>
              <a:t>2023/3/18</a:t>
            </a:fld>
            <a:endParaRPr lang="en-US" altLang="zh-CN"/>
          </a:p>
        </p:txBody>
      </p:sp>
      <p:sp>
        <p:nvSpPr>
          <p:cNvPr id="13" name="灯片编号占位符 4">
            <a:extLst>
              <a:ext uri="{FF2B5EF4-FFF2-40B4-BE49-F238E27FC236}">
                <a16:creationId xmlns:a16="http://schemas.microsoft.com/office/drawing/2014/main" id="{49BF579C-EEFA-41CD-946F-9A51A3F55D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124200" y="6356350"/>
            <a:ext cx="28956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fld id="{9E1FDE78-A277-4870-B0BF-A5836FE68A33}" type="slidenum">
              <a:rPr lang="en-US" altLang="zh-CN">
                <a:solidFill>
                  <a:srgbClr val="898989"/>
                </a:solidFill>
              </a:rPr>
              <a:pPr algn="ctr"/>
              <a:t>19</a:t>
            </a:fld>
            <a:endParaRPr lang="en-US" altLang="zh-CN">
              <a:solidFill>
                <a:srgbClr val="898989"/>
              </a:solidFill>
            </a:endParaRPr>
          </a:p>
        </p:txBody>
      </p:sp>
      <p:sp>
        <p:nvSpPr>
          <p:cNvPr id="14345" name="Rectangle 2">
            <a:extLst>
              <a:ext uri="{FF2B5EF4-FFF2-40B4-BE49-F238E27FC236}">
                <a16:creationId xmlns:a16="http://schemas.microsoft.com/office/drawing/2014/main" id="{313625AE-84F1-4194-8411-E86790B3A4D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ea typeface="华文楷体" panose="02010600040101010101" pitchFamily="2" charset="-122"/>
              </a:rPr>
              <a:t>差和分中的指数函数</a:t>
            </a:r>
          </a:p>
        </p:txBody>
      </p:sp>
      <p:sp>
        <p:nvSpPr>
          <p:cNvPr id="215043" name="Rectangle 3">
            <a:extLst>
              <a:ext uri="{FF2B5EF4-FFF2-40B4-BE49-F238E27FC236}">
                <a16:creationId xmlns:a16="http://schemas.microsoft.com/office/drawing/2014/main" id="{46FB539E-8392-4FBA-A196-6D9352A07BA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 rtlCol="0"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zh-CN" altLang="en-US" dirty="0">
                <a:latin typeface="+mj-lt"/>
                <a:ea typeface="华文楷体" pitchFamily="2" charset="-122"/>
              </a:rPr>
              <a:t>微积分中还有一个特殊的函数</a:t>
            </a:r>
            <a:r>
              <a:rPr lang="en-US" altLang="zh-CN" i="1" dirty="0">
                <a:latin typeface="+mj-lt"/>
                <a:ea typeface="华文楷体" pitchFamily="2" charset="-122"/>
              </a:rPr>
              <a:t>e</a:t>
            </a:r>
            <a:r>
              <a:rPr lang="en-US" altLang="zh-CN" i="1" baseline="30000" dirty="0">
                <a:latin typeface="+mj-lt"/>
                <a:ea typeface="华文楷体" pitchFamily="2" charset="-122"/>
              </a:rPr>
              <a:t>x</a:t>
            </a:r>
            <a:r>
              <a:rPr lang="zh-CN" altLang="en-US" dirty="0">
                <a:latin typeface="+mj-lt"/>
                <a:ea typeface="华文楷体" pitchFamily="2" charset="-122"/>
              </a:rPr>
              <a:t>：导数等于自身，那么在差和分中能否找到对应呢？ </a:t>
            </a:r>
          </a:p>
          <a:p>
            <a:pPr fontAlgn="auto">
              <a:spcAft>
                <a:spcPts val="0"/>
              </a:spcAft>
              <a:defRPr/>
            </a:pPr>
            <a:r>
              <a:rPr lang="zh-CN" altLang="en-US" dirty="0">
                <a:latin typeface="+mj-lt"/>
                <a:ea typeface="华文楷体" pitchFamily="2" charset="-122"/>
              </a:rPr>
              <a:t>令                     ，则</a:t>
            </a:r>
            <a:endParaRPr lang="en-US" altLang="zh-CN" dirty="0">
              <a:latin typeface="+mj-lt"/>
              <a:ea typeface="华文楷体" pitchFamily="2" charset="-122"/>
            </a:endParaRPr>
          </a:p>
          <a:p>
            <a:pPr fontAlgn="auto">
              <a:spcAft>
                <a:spcPts val="0"/>
              </a:spcAft>
              <a:defRPr/>
            </a:pPr>
            <a:r>
              <a:rPr lang="zh-CN" altLang="en-US" dirty="0">
                <a:latin typeface="+mj-lt"/>
                <a:ea typeface="华文楷体" pitchFamily="2" charset="-122"/>
              </a:rPr>
              <a:t>因此有                         。这是很简单的递归关系，易得到一个解为              。</a:t>
            </a:r>
            <a:endParaRPr lang="en-US" altLang="zh-CN" dirty="0">
              <a:latin typeface="+mj-lt"/>
              <a:ea typeface="华文楷体" pitchFamily="2" charset="-122"/>
            </a:endParaRPr>
          </a:p>
          <a:p>
            <a:pPr fontAlgn="auto">
              <a:spcAft>
                <a:spcPts val="0"/>
              </a:spcAft>
              <a:defRPr/>
            </a:pPr>
            <a:r>
              <a:rPr lang="zh-CN" altLang="en-US" dirty="0">
                <a:latin typeface="+mj-lt"/>
                <a:ea typeface="华文楷体" pitchFamily="2" charset="-122"/>
              </a:rPr>
              <a:t>对于一般指数函数</a:t>
            </a:r>
            <a:r>
              <a:rPr lang="en-US" altLang="zh-CN" i="1" dirty="0">
                <a:latin typeface="+mj-lt"/>
                <a:ea typeface="华文楷体" pitchFamily="2" charset="-122"/>
              </a:rPr>
              <a:t>c</a:t>
            </a:r>
            <a:r>
              <a:rPr lang="en-US" altLang="zh-CN" i="1" baseline="30000" dirty="0">
                <a:latin typeface="+mj-lt"/>
                <a:ea typeface="华文楷体" pitchFamily="2" charset="-122"/>
              </a:rPr>
              <a:t>x</a:t>
            </a:r>
            <a:r>
              <a:rPr lang="zh-CN" altLang="en-US" dirty="0">
                <a:latin typeface="+mj-lt"/>
                <a:ea typeface="华文楷体" pitchFamily="2" charset="-122"/>
              </a:rPr>
              <a:t>：</a:t>
            </a:r>
            <a:endParaRPr lang="en-US" altLang="zh-CN" dirty="0">
              <a:latin typeface="+mj-lt"/>
              <a:ea typeface="华文楷体" pitchFamily="2" charset="-122"/>
            </a:endParaRPr>
          </a:p>
          <a:p>
            <a:pPr fontAlgn="auto">
              <a:spcAft>
                <a:spcPts val="0"/>
              </a:spcAft>
              <a:defRPr/>
            </a:pPr>
            <a:r>
              <a:rPr lang="zh-CN" altLang="en-US" dirty="0">
                <a:latin typeface="+mj-lt"/>
                <a:ea typeface="华文楷体" pitchFamily="2" charset="-122"/>
              </a:rPr>
              <a:t>这与微积分中的情形</a:t>
            </a:r>
            <a:r>
              <a:rPr lang="zh-CN" altLang="en-US" dirty="0">
                <a:solidFill>
                  <a:srgbClr val="FF0000"/>
                </a:solidFill>
                <a:latin typeface="+mj-lt"/>
                <a:ea typeface="华文楷体" pitchFamily="2" charset="-122"/>
              </a:rPr>
              <a:t>有所不同</a:t>
            </a:r>
            <a:r>
              <a:rPr lang="zh-CN" altLang="en-US" dirty="0">
                <a:latin typeface="+mj-lt"/>
                <a:ea typeface="华文楷体" pitchFamily="2" charset="-122"/>
              </a:rPr>
              <a:t>。</a:t>
            </a:r>
            <a:endParaRPr lang="en-US" altLang="zh-CN" dirty="0">
              <a:latin typeface="+mj-lt"/>
              <a:ea typeface="华文楷体" pitchFamily="2" charset="-122"/>
            </a:endParaRPr>
          </a:p>
          <a:p>
            <a:pPr fontAlgn="auto">
              <a:spcAft>
                <a:spcPts val="0"/>
              </a:spcAft>
              <a:defRPr/>
            </a:pPr>
            <a:endParaRPr lang="zh-CN" altLang="en-US" dirty="0">
              <a:latin typeface="+mj-lt"/>
              <a:ea typeface="华文楷体" pitchFamily="2" charset="-122"/>
            </a:endParaRPr>
          </a:p>
        </p:txBody>
      </p:sp>
      <p:sp>
        <p:nvSpPr>
          <p:cNvPr id="14347" name="Rectangle 5">
            <a:extLst>
              <a:ext uri="{FF2B5EF4-FFF2-40B4-BE49-F238E27FC236}">
                <a16:creationId xmlns:a16="http://schemas.microsoft.com/office/drawing/2014/main" id="{AC2B6591-E35A-454E-8FD2-CAA3F2261A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1003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14348" name="Rectangle 7">
            <a:extLst>
              <a:ext uri="{FF2B5EF4-FFF2-40B4-BE49-F238E27FC236}">
                <a16:creationId xmlns:a16="http://schemas.microsoft.com/office/drawing/2014/main" id="{5E26CEBE-1598-4BDD-B266-D73233743F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289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14349" name="Rectangle 9">
            <a:extLst>
              <a:ext uri="{FF2B5EF4-FFF2-40B4-BE49-F238E27FC236}">
                <a16:creationId xmlns:a16="http://schemas.microsoft.com/office/drawing/2014/main" id="{2F54BAE5-5BC8-4312-9850-8402644111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147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14350" name="Rectangle 11">
            <a:extLst>
              <a:ext uri="{FF2B5EF4-FFF2-40B4-BE49-F238E27FC236}">
                <a16:creationId xmlns:a16="http://schemas.microsoft.com/office/drawing/2014/main" id="{CCC8D806-B67A-4087-8289-880B9BF613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338" name="Object 6">
                <a:extLst>
                  <a:ext uri="{FF2B5EF4-FFF2-40B4-BE49-F238E27FC236}">
                    <a16:creationId xmlns:a16="http://schemas.microsoft.com/office/drawing/2014/main" id="{16A6DC14-0491-428A-AD83-A057186D7D14}"/>
                  </a:ext>
                </a:extLst>
              </p:cNvPr>
              <p:cNvSpPr txBox="1"/>
              <p:nvPr/>
            </p:nvSpPr>
            <p:spPr bwMode="auto">
              <a:xfrm>
                <a:off x="1331913" y="2781300"/>
                <a:ext cx="1871662" cy="446088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14338" name="Object 6">
                <a:extLst>
                  <a:ext uri="{FF2B5EF4-FFF2-40B4-BE49-F238E27FC236}">
                    <a16:creationId xmlns:a16="http://schemas.microsoft.com/office/drawing/2014/main" id="{16A6DC14-0491-428A-AD83-A057186D7D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331913" y="2781300"/>
                <a:ext cx="1871662" cy="446088"/>
              </a:xfrm>
              <a:prstGeom prst="rect">
                <a:avLst/>
              </a:prstGeom>
              <a:blipFill>
                <a:blip r:embed="rId2"/>
                <a:stretch>
                  <a:fillRect l="-97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339" name="Object 7">
                <a:extLst>
                  <a:ext uri="{FF2B5EF4-FFF2-40B4-BE49-F238E27FC236}">
                    <a16:creationId xmlns:a16="http://schemas.microsoft.com/office/drawing/2014/main" id="{BFC2C92E-76D1-477B-9DCC-F2E2FDAA018C}"/>
                  </a:ext>
                </a:extLst>
              </p:cNvPr>
              <p:cNvSpPr txBox="1"/>
              <p:nvPr/>
            </p:nvSpPr>
            <p:spPr bwMode="auto">
              <a:xfrm>
                <a:off x="4067175" y="2781300"/>
                <a:ext cx="3260725" cy="474663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+1)−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14339" name="Object 7">
                <a:extLst>
                  <a:ext uri="{FF2B5EF4-FFF2-40B4-BE49-F238E27FC236}">
                    <a16:creationId xmlns:a16="http://schemas.microsoft.com/office/drawing/2014/main" id="{BFC2C92E-76D1-477B-9DCC-F2E2FDAA01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067175" y="2781300"/>
                <a:ext cx="3260725" cy="474663"/>
              </a:xfrm>
              <a:prstGeom prst="rect">
                <a:avLst/>
              </a:prstGeom>
              <a:blipFill>
                <a:blip r:embed="rId3"/>
                <a:stretch>
                  <a:fillRect l="-56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340" name="Object 8">
                <a:extLst>
                  <a:ext uri="{FF2B5EF4-FFF2-40B4-BE49-F238E27FC236}">
                    <a16:creationId xmlns:a16="http://schemas.microsoft.com/office/drawing/2014/main" id="{45739C55-E8F3-48F4-8BDA-82BBEBFD2A4E}"/>
                  </a:ext>
                </a:extLst>
              </p:cNvPr>
              <p:cNvSpPr txBox="1"/>
              <p:nvPr/>
            </p:nvSpPr>
            <p:spPr bwMode="auto">
              <a:xfrm>
                <a:off x="2051050" y="3357563"/>
                <a:ext cx="2341563" cy="457200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+1)=2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14340" name="Object 8">
                <a:extLst>
                  <a:ext uri="{FF2B5EF4-FFF2-40B4-BE49-F238E27FC236}">
                    <a16:creationId xmlns:a16="http://schemas.microsoft.com/office/drawing/2014/main" id="{45739C55-E8F3-48F4-8BDA-82BBEBFD2A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051050" y="3357563"/>
                <a:ext cx="2341563" cy="457200"/>
              </a:xfrm>
              <a:prstGeom prst="rect">
                <a:avLst/>
              </a:prstGeom>
              <a:blipFill>
                <a:blip r:embed="rId4"/>
                <a:stretch>
                  <a:fillRect l="-77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341" name="Object 9">
                <a:extLst>
                  <a:ext uri="{FF2B5EF4-FFF2-40B4-BE49-F238E27FC236}">
                    <a16:creationId xmlns:a16="http://schemas.microsoft.com/office/drawing/2014/main" id="{4D693323-DE80-4F53-921E-60BBEB16A289}"/>
                  </a:ext>
                </a:extLst>
              </p:cNvPr>
              <p:cNvSpPr txBox="1"/>
              <p:nvPr/>
            </p:nvSpPr>
            <p:spPr bwMode="auto">
              <a:xfrm>
                <a:off x="4572000" y="3876725"/>
                <a:ext cx="1224136" cy="560387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4341" name="Object 9">
                <a:extLst>
                  <a:ext uri="{FF2B5EF4-FFF2-40B4-BE49-F238E27FC236}">
                    <a16:creationId xmlns:a16="http://schemas.microsoft.com/office/drawing/2014/main" id="{4D693323-DE80-4F53-921E-60BBEB16A2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572000" y="3876725"/>
                <a:ext cx="1224136" cy="560387"/>
              </a:xfrm>
              <a:prstGeom prst="rect">
                <a:avLst/>
              </a:prstGeom>
              <a:blipFill>
                <a:blip r:embed="rId5"/>
                <a:stretch>
                  <a:fillRect l="-149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342" name="Object 10">
                <a:extLst>
                  <a:ext uri="{FF2B5EF4-FFF2-40B4-BE49-F238E27FC236}">
                    <a16:creationId xmlns:a16="http://schemas.microsoft.com/office/drawing/2014/main" id="{A0D9B091-BD5E-4240-8D19-14C86F083B4D}"/>
                  </a:ext>
                </a:extLst>
              </p:cNvPr>
              <p:cNvSpPr txBox="1"/>
              <p:nvPr/>
            </p:nvSpPr>
            <p:spPr bwMode="auto">
              <a:xfrm>
                <a:off x="4787900" y="4475013"/>
                <a:ext cx="3671888" cy="538163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Δ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p>
                      </m:sSup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−1)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4342" name="Object 10">
                <a:extLst>
                  <a:ext uri="{FF2B5EF4-FFF2-40B4-BE49-F238E27FC236}">
                    <a16:creationId xmlns:a16="http://schemas.microsoft.com/office/drawing/2014/main" id="{A0D9B091-BD5E-4240-8D19-14C86F083B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787900" y="4475013"/>
                <a:ext cx="3671888" cy="53816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日期占位符 3">
            <a:extLst>
              <a:ext uri="{FF2B5EF4-FFF2-40B4-BE49-F238E27FC236}">
                <a16:creationId xmlns:a16="http://schemas.microsoft.com/office/drawing/2014/main" id="{12C6CE82-0C7F-422B-836B-3A6427BA93C0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D6FBACCC-8373-4EC7-B8AF-52F369C3D298}" type="datetime1">
              <a:rPr lang="zh-CN" altLang="en-US"/>
              <a:pPr>
                <a:defRPr/>
              </a:pPr>
              <a:t>2023/3/18</a:t>
            </a:fld>
            <a:endParaRPr lang="en-US" altLang="zh-CN"/>
          </a:p>
        </p:txBody>
      </p:sp>
      <p:sp>
        <p:nvSpPr>
          <p:cNvPr id="7" name="灯片编号占位符 4">
            <a:extLst>
              <a:ext uri="{FF2B5EF4-FFF2-40B4-BE49-F238E27FC236}">
                <a16:creationId xmlns:a16="http://schemas.microsoft.com/office/drawing/2014/main" id="{AA8A35F5-625E-46C9-BE13-42818D31D0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124200" y="6356350"/>
            <a:ext cx="28956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fld id="{13F49ED5-B593-45BF-94A6-74244B684B69}" type="slidenum">
              <a:rPr lang="en-US" altLang="zh-CN">
                <a:solidFill>
                  <a:srgbClr val="898989"/>
                </a:solidFill>
              </a:rPr>
              <a:pPr algn="ctr"/>
              <a:t>20</a:t>
            </a:fld>
            <a:endParaRPr lang="en-US" altLang="zh-CN">
              <a:solidFill>
                <a:srgbClr val="898989"/>
              </a:solidFill>
            </a:endParaRPr>
          </a:p>
        </p:txBody>
      </p:sp>
      <p:sp>
        <p:nvSpPr>
          <p:cNvPr id="15366" name="Rectangle 2">
            <a:extLst>
              <a:ext uri="{FF2B5EF4-FFF2-40B4-BE49-F238E27FC236}">
                <a16:creationId xmlns:a16="http://schemas.microsoft.com/office/drawing/2014/main" id="{CF9BE8D3-FF84-4223-A120-032B936A91E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ea typeface="华文楷体" panose="02010600040101010101" pitchFamily="2" charset="-122"/>
              </a:rPr>
              <a:t>基于定和分的几何级数求和</a:t>
            </a:r>
          </a:p>
        </p:txBody>
      </p:sp>
      <p:sp>
        <p:nvSpPr>
          <p:cNvPr id="216067" name="Rectangle 3">
            <a:extLst>
              <a:ext uri="{FF2B5EF4-FFF2-40B4-BE49-F238E27FC236}">
                <a16:creationId xmlns:a16="http://schemas.microsoft.com/office/drawing/2014/main" id="{24FD8732-E2BB-4FCD-866C-C2075156A00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 rtlCol="0"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zh-CN" altLang="en-US">
                <a:latin typeface="+mj-lt"/>
                <a:ea typeface="华文楷体" pitchFamily="2" charset="-122"/>
              </a:rPr>
              <a:t>根据一般指数函数的差分计算，可知</a:t>
            </a:r>
            <a:r>
              <a:rPr lang="en-US" altLang="zh-CN" i="1">
                <a:ea typeface="华文楷体" pitchFamily="2" charset="-122"/>
              </a:rPr>
              <a:t>c</a:t>
            </a:r>
            <a:r>
              <a:rPr lang="en-US" altLang="zh-CN" i="1" baseline="30000">
                <a:ea typeface="华文楷体" pitchFamily="2" charset="-122"/>
              </a:rPr>
              <a:t>x</a:t>
            </a:r>
            <a:r>
              <a:rPr lang="zh-CN" altLang="en-US">
                <a:latin typeface="+mj-lt"/>
                <a:ea typeface="华文楷体" pitchFamily="2" charset="-122"/>
              </a:rPr>
              <a:t>的不定和分为</a:t>
            </a:r>
            <a:endParaRPr lang="en-US" altLang="zh-CN">
              <a:latin typeface="+mj-lt"/>
              <a:ea typeface="华文楷体" pitchFamily="2" charset="-122"/>
            </a:endParaRPr>
          </a:p>
          <a:p>
            <a:pPr fontAlgn="auto">
              <a:spcAft>
                <a:spcPts val="0"/>
              </a:spcAft>
              <a:defRPr/>
            </a:pPr>
            <a:endParaRPr lang="en-US" altLang="zh-CN">
              <a:latin typeface="+mj-lt"/>
              <a:ea typeface="华文楷体" pitchFamily="2" charset="-122"/>
            </a:endParaRPr>
          </a:p>
          <a:p>
            <a:pPr fontAlgn="auto">
              <a:spcAft>
                <a:spcPts val="0"/>
              </a:spcAft>
              <a:defRPr/>
            </a:pPr>
            <a:r>
              <a:rPr lang="zh-CN" altLang="en-US">
                <a:latin typeface="+mj-lt"/>
                <a:ea typeface="华文楷体" pitchFamily="2" charset="-122"/>
              </a:rPr>
              <a:t>这个结论可以用于计算几何级数的求和：</a:t>
            </a:r>
          </a:p>
        </p:txBody>
      </p:sp>
      <p:sp>
        <p:nvSpPr>
          <p:cNvPr id="15368" name="Rectangle 5">
            <a:extLst>
              <a:ext uri="{FF2B5EF4-FFF2-40B4-BE49-F238E27FC236}">
                <a16:creationId xmlns:a16="http://schemas.microsoft.com/office/drawing/2014/main" id="{E14029EA-ABA5-490D-8F39-A0D4998BD2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051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362" name="Object 3">
                <a:extLst>
                  <a:ext uri="{FF2B5EF4-FFF2-40B4-BE49-F238E27FC236}">
                    <a16:creationId xmlns:a16="http://schemas.microsoft.com/office/drawing/2014/main" id="{5ED7FA24-4C13-4ED7-A681-1FAA25670FCC}"/>
                  </a:ext>
                </a:extLst>
              </p:cNvPr>
              <p:cNvSpPr txBox="1"/>
              <p:nvPr/>
            </p:nvSpPr>
            <p:spPr bwMode="auto">
              <a:xfrm>
                <a:off x="2771800" y="2348607"/>
                <a:ext cx="1079996" cy="841377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</m:num>
                        <m:den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den>
                      </m:f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5362" name="Object 3">
                <a:extLst>
                  <a:ext uri="{FF2B5EF4-FFF2-40B4-BE49-F238E27FC236}">
                    <a16:creationId xmlns:a16="http://schemas.microsoft.com/office/drawing/2014/main" id="{5ED7FA24-4C13-4ED7-A681-1FAA25670F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771800" y="2348607"/>
                <a:ext cx="1079996" cy="84137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363" name="Object 4">
                <a:extLst>
                  <a:ext uri="{FF2B5EF4-FFF2-40B4-BE49-F238E27FC236}">
                    <a16:creationId xmlns:a16="http://schemas.microsoft.com/office/drawing/2014/main" id="{F80B78DF-3C6F-4E3F-BC83-10EC5F91C68D}"/>
                  </a:ext>
                </a:extLst>
              </p:cNvPr>
              <p:cNvSpPr txBox="1"/>
              <p:nvPr/>
            </p:nvSpPr>
            <p:spPr bwMode="auto">
              <a:xfrm>
                <a:off x="2268538" y="3860800"/>
                <a:ext cx="5102225" cy="1195388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  <m:sup/>
                        <m:e>
                          <m:sSup>
                            <m:sSup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p>
                        </m:e>
                      </m:nary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sup>
                        <m:e>
                          <m:sSup>
                            <m:sSup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nary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</m:e>
                                    <m:sup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sup>
                      </m:sSubSup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sup>
                          </m:s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p>
                          </m:sSup>
                        </m:num>
                        <m:den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den>
                      </m:f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15363" name="Object 4">
                <a:extLst>
                  <a:ext uri="{FF2B5EF4-FFF2-40B4-BE49-F238E27FC236}">
                    <a16:creationId xmlns:a16="http://schemas.microsoft.com/office/drawing/2014/main" id="{F80B78DF-3C6F-4E3F-BC83-10EC5F91C6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68538" y="3860800"/>
                <a:ext cx="5102225" cy="119538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图片 4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03648" y="476672"/>
            <a:ext cx="9152802" cy="5895230"/>
          </a:xfrm>
          <a:prstGeom prst="rect">
            <a:avLst/>
          </a:prstGeom>
        </p:spPr>
      </p:pic>
      <p:sp>
        <p:nvSpPr>
          <p:cNvPr id="4" name="Rectangle 2">
            <a:extLst>
              <a:ext uri="{FF2B5EF4-FFF2-40B4-BE49-F238E27FC236}">
                <a16:creationId xmlns:a16="http://schemas.microsoft.com/office/drawing/2014/main" id="{CF9BE8D3-FF84-4223-A120-032B936A91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dirty="0">
                <a:ea typeface="华文楷体" panose="02010600040101010101" pitchFamily="2" charset="-122"/>
              </a:rPr>
              <a:t>一些有用的差分和逆差分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9051429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日期占位符 3">
            <a:extLst>
              <a:ext uri="{FF2B5EF4-FFF2-40B4-BE49-F238E27FC236}">
                <a16:creationId xmlns:a16="http://schemas.microsoft.com/office/drawing/2014/main" id="{D8C11538-4129-478A-9949-B1672F2482C6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D6FBACCC-8373-4EC7-B8AF-52F369C3D298}" type="datetime1">
              <a:rPr lang="zh-CN" altLang="en-US"/>
              <a:pPr>
                <a:defRPr/>
              </a:pPr>
              <a:t>2023/3/18</a:t>
            </a:fld>
            <a:endParaRPr lang="en-US" altLang="zh-CN"/>
          </a:p>
        </p:txBody>
      </p:sp>
      <p:sp>
        <p:nvSpPr>
          <p:cNvPr id="7" name="灯片编号占位符 4">
            <a:extLst>
              <a:ext uri="{FF2B5EF4-FFF2-40B4-BE49-F238E27FC236}">
                <a16:creationId xmlns:a16="http://schemas.microsoft.com/office/drawing/2014/main" id="{9434FB5C-6C71-41A6-9334-7320485D2B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124200" y="6356350"/>
            <a:ext cx="28956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fld id="{9B8E1FA2-FCF4-4DC3-A1B6-43740D72260E}" type="slidenum">
              <a:rPr lang="en-US" altLang="zh-CN">
                <a:solidFill>
                  <a:srgbClr val="898989"/>
                </a:solidFill>
              </a:rPr>
              <a:pPr algn="ctr"/>
              <a:t>22</a:t>
            </a:fld>
            <a:endParaRPr lang="en-US" altLang="zh-CN">
              <a:solidFill>
                <a:srgbClr val="898989"/>
              </a:solidFill>
            </a:endParaRPr>
          </a:p>
        </p:txBody>
      </p:sp>
      <p:sp>
        <p:nvSpPr>
          <p:cNvPr id="16389" name="Rectangle 2">
            <a:extLst>
              <a:ext uri="{FF2B5EF4-FFF2-40B4-BE49-F238E27FC236}">
                <a16:creationId xmlns:a16="http://schemas.microsoft.com/office/drawing/2014/main" id="{AFAD6B4B-3C12-40D3-8478-80F5A395F80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ea typeface="华文楷体" panose="02010600040101010101" pitchFamily="2" charset="-122"/>
              </a:rPr>
              <a:t>定和分的其他问题</a:t>
            </a:r>
          </a:p>
        </p:txBody>
      </p:sp>
      <p:sp>
        <p:nvSpPr>
          <p:cNvPr id="216067" name="Rectangle 3">
            <a:extLst>
              <a:ext uri="{FF2B5EF4-FFF2-40B4-BE49-F238E27FC236}">
                <a16:creationId xmlns:a16="http://schemas.microsoft.com/office/drawing/2014/main" id="{5C64B5F2-2E66-42F3-A5E2-4BB6F73E128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4852988"/>
          </a:xfrm>
        </p:spPr>
        <p:txBody>
          <a:bodyPr rtlCol="0">
            <a:normAutofit fontScale="85000" lnSpcReduction="2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zh-CN" altLang="en-US" dirty="0">
                <a:solidFill>
                  <a:srgbClr val="FF0000"/>
                </a:solidFill>
                <a:latin typeface="+mj-lt"/>
                <a:ea typeface="华文楷体" pitchFamily="2" charset="-122"/>
              </a:rPr>
              <a:t>在差和分中，复合函数的差分没有简洁的计算法则，无法对应微分计算的链式法则。</a:t>
            </a:r>
            <a:endParaRPr lang="en-US" altLang="zh-CN" dirty="0">
              <a:solidFill>
                <a:srgbClr val="FF0000"/>
              </a:solidFill>
              <a:latin typeface="+mj-lt"/>
              <a:ea typeface="华文楷体" pitchFamily="2" charset="-122"/>
            </a:endParaRPr>
          </a:p>
          <a:p>
            <a:pPr fontAlgn="auto">
              <a:spcAft>
                <a:spcPts val="0"/>
              </a:spcAft>
              <a:defRPr/>
            </a:pPr>
            <a:r>
              <a:rPr lang="zh-CN" altLang="en-US" dirty="0">
                <a:latin typeface="+mj-lt"/>
                <a:ea typeface="华文楷体" pitchFamily="2" charset="-122"/>
              </a:rPr>
              <a:t>然而对于分部积分，仍然存在优美的对应：</a:t>
            </a:r>
            <a:endParaRPr lang="en-US" altLang="zh-CN" dirty="0">
              <a:latin typeface="+mj-lt"/>
              <a:ea typeface="华文楷体" pitchFamily="2" charset="-122"/>
            </a:endParaRPr>
          </a:p>
          <a:p>
            <a:pPr fontAlgn="auto">
              <a:spcAft>
                <a:spcPts val="0"/>
              </a:spcAft>
              <a:defRPr/>
            </a:pPr>
            <a:endParaRPr lang="en-US" altLang="zh-CN" dirty="0">
              <a:latin typeface="+mj-lt"/>
              <a:ea typeface="华文楷体" pitchFamily="2" charset="-122"/>
            </a:endParaRPr>
          </a:p>
          <a:p>
            <a:pPr fontAlgn="auto">
              <a:spcAft>
                <a:spcPts val="0"/>
              </a:spcAft>
              <a:defRPr/>
            </a:pPr>
            <a:endParaRPr lang="en-US" altLang="zh-CN" dirty="0">
              <a:latin typeface="+mj-lt"/>
              <a:ea typeface="华文楷体" pitchFamily="2" charset="-122"/>
            </a:endParaRPr>
          </a:p>
          <a:p>
            <a:pPr fontAlgn="auto">
              <a:spcAft>
                <a:spcPts val="0"/>
              </a:spcAft>
              <a:defRPr/>
            </a:pPr>
            <a:endParaRPr lang="en-US" altLang="zh-CN" dirty="0">
              <a:latin typeface="+mj-lt"/>
              <a:ea typeface="华文楷体" pitchFamily="2" charset="-122"/>
            </a:endParaRPr>
          </a:p>
          <a:p>
            <a:pPr fontAlgn="auto">
              <a:spcAft>
                <a:spcPts val="0"/>
              </a:spcAft>
              <a:defRPr/>
            </a:pPr>
            <a:endParaRPr lang="en-US" altLang="zh-CN" dirty="0">
              <a:latin typeface="+mj-lt"/>
              <a:ea typeface="华文楷体" pitchFamily="2" charset="-122"/>
            </a:endParaRPr>
          </a:p>
          <a:p>
            <a:pPr fontAlgn="auto">
              <a:spcAft>
                <a:spcPts val="0"/>
              </a:spcAft>
              <a:defRPr/>
            </a:pPr>
            <a:r>
              <a:rPr lang="zh-CN" altLang="en-US" dirty="0">
                <a:solidFill>
                  <a:srgbClr val="FF0000"/>
                </a:solidFill>
                <a:latin typeface="+mj-lt"/>
                <a:ea typeface="华文楷体" pitchFamily="2" charset="-122"/>
              </a:rPr>
              <a:t>注意：</a:t>
            </a:r>
            <a:endParaRPr lang="en-US" altLang="zh-CN" dirty="0">
              <a:solidFill>
                <a:srgbClr val="FF0000"/>
              </a:solidFill>
              <a:latin typeface="+mj-lt"/>
              <a:ea typeface="华文楷体" pitchFamily="2" charset="-122"/>
            </a:endParaRPr>
          </a:p>
          <a:p>
            <a:pPr fontAlgn="auto">
              <a:spcAft>
                <a:spcPts val="0"/>
              </a:spcAft>
              <a:defRPr/>
            </a:pPr>
            <a:r>
              <a:rPr lang="en-US" altLang="zh-CN" dirty="0">
                <a:solidFill>
                  <a:srgbClr val="FF0000"/>
                </a:solidFill>
                <a:latin typeface="+mj-lt"/>
                <a:ea typeface="华文楷体" pitchFamily="2" charset="-122"/>
              </a:rPr>
              <a:t>1</a:t>
            </a:r>
            <a:r>
              <a:rPr lang="zh-CN" altLang="en-US" dirty="0">
                <a:solidFill>
                  <a:srgbClr val="FF0000"/>
                </a:solidFill>
                <a:latin typeface="+mj-lt"/>
                <a:ea typeface="华文楷体" pitchFamily="2" charset="-122"/>
              </a:rPr>
              <a:t>、函数</a:t>
            </a:r>
            <a:r>
              <a:rPr lang="en-US" altLang="zh-CN" dirty="0">
                <a:solidFill>
                  <a:srgbClr val="FF0000"/>
                </a:solidFill>
                <a:latin typeface="+mj-lt"/>
                <a:ea typeface="华文楷体" pitchFamily="2" charset="-122"/>
              </a:rPr>
              <a:t>v(x+1)</a:t>
            </a:r>
            <a:r>
              <a:rPr lang="zh-CN" altLang="en-US" dirty="0">
                <a:solidFill>
                  <a:srgbClr val="FF0000"/>
                </a:solidFill>
                <a:latin typeface="+mj-lt"/>
                <a:ea typeface="华文楷体" pitchFamily="2" charset="-122"/>
              </a:rPr>
              <a:t>而非</a:t>
            </a:r>
            <a:r>
              <a:rPr lang="en-US" altLang="zh-CN" dirty="0">
                <a:solidFill>
                  <a:srgbClr val="FF0000"/>
                </a:solidFill>
                <a:latin typeface="+mj-lt"/>
                <a:ea typeface="华文楷体" pitchFamily="2" charset="-122"/>
              </a:rPr>
              <a:t>v(x)</a:t>
            </a:r>
            <a:r>
              <a:rPr lang="zh-CN" altLang="en-US" dirty="0">
                <a:solidFill>
                  <a:srgbClr val="FF0000"/>
                </a:solidFill>
                <a:latin typeface="+mj-lt"/>
                <a:ea typeface="华文楷体" pitchFamily="2" charset="-122"/>
              </a:rPr>
              <a:t>；</a:t>
            </a:r>
            <a:endParaRPr lang="en-US" altLang="zh-CN" dirty="0">
              <a:solidFill>
                <a:srgbClr val="FF0000"/>
              </a:solidFill>
              <a:latin typeface="+mj-lt"/>
              <a:ea typeface="华文楷体" pitchFamily="2" charset="-122"/>
            </a:endParaRPr>
          </a:p>
          <a:p>
            <a:pPr fontAlgn="auto">
              <a:spcAft>
                <a:spcPts val="0"/>
              </a:spcAft>
              <a:defRPr/>
            </a:pPr>
            <a:r>
              <a:rPr lang="en-US" altLang="zh-CN" dirty="0">
                <a:solidFill>
                  <a:srgbClr val="FF0000"/>
                </a:solidFill>
                <a:latin typeface="+mj-lt"/>
                <a:ea typeface="华文楷体" pitchFamily="2" charset="-122"/>
              </a:rPr>
              <a:t>2</a:t>
            </a:r>
            <a:r>
              <a:rPr lang="zh-CN" altLang="en-US" dirty="0">
                <a:solidFill>
                  <a:srgbClr val="FF0000"/>
                </a:solidFill>
                <a:latin typeface="+mj-lt"/>
                <a:ea typeface="华文楷体" pitchFamily="2" charset="-122"/>
              </a:rPr>
              <a:t>、上式还可写成</a:t>
            </a:r>
            <a:r>
              <a:rPr lang="en-US" altLang="zh-CN" dirty="0">
                <a:solidFill>
                  <a:srgbClr val="FF0000"/>
                </a:solidFill>
                <a:latin typeface="+mj-lt"/>
                <a:ea typeface="华文楷体" pitchFamily="2" charset="-122"/>
              </a:rPr>
              <a:t>u(x+1)⊿v(x) + v(x)</a:t>
            </a:r>
            <a:r>
              <a:rPr lang="en-US" altLang="zh-CN" dirty="0">
                <a:solidFill>
                  <a:srgbClr val="FF0000"/>
                </a:solidFill>
                <a:ea typeface="华文楷体" pitchFamily="2" charset="-122"/>
              </a:rPr>
              <a:t>⊿u(x)</a:t>
            </a:r>
            <a:r>
              <a:rPr lang="zh-CN" altLang="en-US" dirty="0">
                <a:solidFill>
                  <a:srgbClr val="FF0000"/>
                </a:solidFill>
                <a:ea typeface="华文楷体" pitchFamily="2" charset="-122"/>
              </a:rPr>
              <a:t>；</a:t>
            </a:r>
            <a:endParaRPr lang="en-US" altLang="zh-CN" dirty="0">
              <a:solidFill>
                <a:srgbClr val="FF0000"/>
              </a:solidFill>
              <a:ea typeface="华文楷体" pitchFamily="2" charset="-122"/>
            </a:endParaRPr>
          </a:p>
          <a:p>
            <a:pPr fontAlgn="auto">
              <a:spcAft>
                <a:spcPts val="0"/>
              </a:spcAft>
              <a:defRPr/>
            </a:pPr>
            <a:r>
              <a:rPr lang="en-US" altLang="zh-CN" dirty="0">
                <a:solidFill>
                  <a:srgbClr val="FF0000"/>
                </a:solidFill>
                <a:ea typeface="华文楷体" pitchFamily="2" charset="-122"/>
              </a:rPr>
              <a:t>3</a:t>
            </a:r>
            <a:r>
              <a:rPr lang="zh-CN" altLang="en-US" dirty="0">
                <a:solidFill>
                  <a:srgbClr val="FF0000"/>
                </a:solidFill>
                <a:ea typeface="华文楷体" pitchFamily="2" charset="-122"/>
              </a:rPr>
              <a:t>、</a:t>
            </a:r>
            <a:r>
              <a:rPr lang="en-US" altLang="zh-CN" dirty="0">
                <a:solidFill>
                  <a:srgbClr val="FF0000"/>
                </a:solidFill>
                <a:ea typeface="华文楷体" pitchFamily="2" charset="-122"/>
              </a:rPr>
              <a:t>CM</a:t>
            </a:r>
            <a:r>
              <a:rPr lang="zh-CN" altLang="en-US" dirty="0">
                <a:solidFill>
                  <a:srgbClr val="FF0000"/>
                </a:solidFill>
                <a:ea typeface="华文楷体" pitchFamily="2" charset="-122"/>
              </a:rPr>
              <a:t>引入平移算子</a:t>
            </a:r>
            <a:r>
              <a:rPr lang="en-US" altLang="zh-CN" dirty="0">
                <a:solidFill>
                  <a:srgbClr val="FF0000"/>
                </a:solidFill>
                <a:ea typeface="华文楷体" pitchFamily="2" charset="-122"/>
              </a:rPr>
              <a:t>E</a:t>
            </a:r>
            <a:r>
              <a:rPr lang="zh-CN" altLang="en-US" dirty="0">
                <a:solidFill>
                  <a:srgbClr val="FF0000"/>
                </a:solidFill>
                <a:ea typeface="华文楷体" pitchFamily="2" charset="-122"/>
              </a:rPr>
              <a:t>来化简公式。</a:t>
            </a:r>
            <a:endParaRPr lang="en-US" altLang="zh-CN" dirty="0">
              <a:solidFill>
                <a:srgbClr val="FF0000"/>
              </a:solidFill>
              <a:latin typeface="+mj-lt"/>
              <a:ea typeface="华文楷体" pitchFamily="2" charset="-122"/>
            </a:endParaRPr>
          </a:p>
        </p:txBody>
      </p:sp>
      <p:sp>
        <p:nvSpPr>
          <p:cNvPr id="16391" name="Rectangle 5">
            <a:extLst>
              <a:ext uri="{FF2B5EF4-FFF2-40B4-BE49-F238E27FC236}">
                <a16:creationId xmlns:a16="http://schemas.microsoft.com/office/drawing/2014/main" id="{AA9B2406-DF00-47B9-85D7-C1A50A2010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051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386" name="Object 3">
                <a:extLst>
                  <a:ext uri="{FF2B5EF4-FFF2-40B4-BE49-F238E27FC236}">
                    <a16:creationId xmlns:a16="http://schemas.microsoft.com/office/drawing/2014/main" id="{FC53BF60-221C-47A0-A537-E6A7EAE826E1}"/>
                  </a:ext>
                </a:extLst>
              </p:cNvPr>
              <p:cNvSpPr txBox="1"/>
              <p:nvPr/>
            </p:nvSpPr>
            <p:spPr bwMode="auto">
              <a:xfrm>
                <a:off x="1619672" y="2924944"/>
                <a:ext cx="6475412" cy="1368226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))</m:t>
                      </m:r>
                      <m:r>
                        <m:rPr>
                          <m:aln/>
                        </m:rP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+1)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+1)−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  <m:oMath xmlns:m="http://schemas.openxmlformats.org/officeDocument/2006/math">
                      <m:r>
                        <m:rPr>
                          <m:aln/>
                        </m:rP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+1)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+1)−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+1)+</m:t>
                      </m:r>
                    </m:oMath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  <m:r>
                        <m:rPr>
                          <m:aln/>
                        </m:rP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+1)−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  <m:oMath xmlns:m="http://schemas.openxmlformats.org/officeDocument/2006/math">
                      <m:r>
                        <m:rPr>
                          <m:aln/>
                        </m:rP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m:rPr>
                          <m:sty m:val="p"/>
                        </m:rP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)+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+1)</m:t>
                      </m:r>
                      <m:r>
                        <m:rPr>
                          <m:sty m:val="p"/>
                        </m:rP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6386" name="Object 3">
                <a:extLst>
                  <a:ext uri="{FF2B5EF4-FFF2-40B4-BE49-F238E27FC236}">
                    <a16:creationId xmlns:a16="http://schemas.microsoft.com/office/drawing/2014/main" id="{FC53BF60-221C-47A0-A537-E6A7EAE826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619672" y="2924944"/>
                <a:ext cx="6475412" cy="136822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Object 3">
                <a:extLst>
                  <a:ext uri="{FF2B5EF4-FFF2-40B4-BE49-F238E27FC236}">
                    <a16:creationId xmlns:a16="http://schemas.microsoft.com/office/drawing/2014/main" id="{85B9D45D-F55A-4443-961F-B29F3431495C}"/>
                  </a:ext>
                </a:extLst>
              </p:cNvPr>
              <p:cNvSpPr txBox="1"/>
              <p:nvPr/>
            </p:nvSpPr>
            <p:spPr bwMode="auto">
              <a:xfrm>
                <a:off x="1547664" y="4005064"/>
                <a:ext cx="5472608" cy="733055"/>
              </a:xfrm>
              <a:prstGeom prst="rect">
                <a:avLst/>
              </a:prstGeom>
              <a:noFill/>
            </p:spPr>
            <p:txBody>
              <a:bodyPr>
                <a:normAutofit fontScale="925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  <m:d>
                        <m:d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𝑣</m:t>
                      </m:r>
                      <m:d>
                        <m:d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m:rPr>
                          <m:aln/>
                        </m:rP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  <m:d>
                            <m:d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m:rPr>
                              <m:sty m:val="p"/>
                            </m:rPr>
                            <a:rPr lang="zh-CN" altLang="en-US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  <m:d>
                            <m:d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nary>
                      <m:r>
                        <a:rPr lang="en-US" altLang="zh-CN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zh-CN" altLang="en-US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altLang="zh-CN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  <m:d>
                            <m:d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zh-CN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e>
                          </m:d>
                          <m:r>
                            <m:rPr>
                              <m:sty m:val="p"/>
                            </m:rPr>
                            <a:rPr lang="zh-CN" altLang="en-US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n-US" altLang="zh-CN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  <m:d>
                            <m:d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nary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8" name="Object 3">
                <a:extLst>
                  <a:ext uri="{FF2B5EF4-FFF2-40B4-BE49-F238E27FC236}">
                    <a16:creationId xmlns:a16="http://schemas.microsoft.com/office/drawing/2014/main" id="{85B9D45D-F55A-4443-961F-B29F343149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547664" y="4005064"/>
                <a:ext cx="5472608" cy="73305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日期占位符 3">
            <a:extLst>
              <a:ext uri="{FF2B5EF4-FFF2-40B4-BE49-F238E27FC236}">
                <a16:creationId xmlns:a16="http://schemas.microsoft.com/office/drawing/2014/main" id="{C090D90F-FCC5-48EF-8DB2-FD746CFE21A0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D6FBACCC-8373-4EC7-B8AF-52F369C3D298}" type="datetime1">
              <a:rPr lang="zh-CN" altLang="en-US"/>
              <a:pPr>
                <a:defRPr/>
              </a:pPr>
              <a:t>2023/3/18</a:t>
            </a:fld>
            <a:endParaRPr lang="en-US" altLang="zh-CN"/>
          </a:p>
        </p:txBody>
      </p:sp>
      <p:sp>
        <p:nvSpPr>
          <p:cNvPr id="7" name="灯片编号占位符 4">
            <a:extLst>
              <a:ext uri="{FF2B5EF4-FFF2-40B4-BE49-F238E27FC236}">
                <a16:creationId xmlns:a16="http://schemas.microsoft.com/office/drawing/2014/main" id="{6F7B29AA-7DD0-4C96-8D65-445634A041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124200" y="6356350"/>
            <a:ext cx="28956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fld id="{5A0FF6ED-846C-427E-8395-9ADB77191A15}" type="slidenum">
              <a:rPr lang="en-US" altLang="zh-CN">
                <a:solidFill>
                  <a:srgbClr val="898989"/>
                </a:solidFill>
              </a:rPr>
              <a:pPr algn="ctr"/>
              <a:t>23</a:t>
            </a:fld>
            <a:endParaRPr lang="en-US" altLang="zh-CN">
              <a:solidFill>
                <a:srgbClr val="898989"/>
              </a:solidFill>
            </a:endParaRPr>
          </a:p>
        </p:txBody>
      </p:sp>
      <p:sp>
        <p:nvSpPr>
          <p:cNvPr id="17416" name="Rectangle 2">
            <a:extLst>
              <a:ext uri="{FF2B5EF4-FFF2-40B4-BE49-F238E27FC236}">
                <a16:creationId xmlns:a16="http://schemas.microsoft.com/office/drawing/2014/main" id="{E96A2BB9-0F02-444C-9086-841B3E8D21F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ea typeface="华文楷体" panose="02010600040101010101" pitchFamily="2" charset="-122"/>
              </a:rPr>
              <a:t>分部求和的例子</a:t>
            </a:r>
          </a:p>
        </p:txBody>
      </p:sp>
      <p:sp>
        <p:nvSpPr>
          <p:cNvPr id="216067" name="Rectangle 3">
            <a:extLst>
              <a:ext uri="{FF2B5EF4-FFF2-40B4-BE49-F238E27FC236}">
                <a16:creationId xmlns:a16="http://schemas.microsoft.com/office/drawing/2014/main" id="{4B816977-59E7-4C65-9544-AA11032326B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4852988"/>
          </a:xfrm>
        </p:spPr>
        <p:txBody>
          <a:bodyPr rtlCol="0"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altLang="zh-CN" dirty="0">
                <a:latin typeface="+mj-lt"/>
                <a:ea typeface="华文楷体" pitchFamily="2" charset="-122"/>
              </a:rPr>
              <a:t>1</a:t>
            </a:r>
            <a:r>
              <a:rPr lang="zh-CN" altLang="en-US" dirty="0">
                <a:latin typeface="+mj-lt"/>
                <a:ea typeface="华文楷体" pitchFamily="2" charset="-122"/>
              </a:rPr>
              <a:t>、</a:t>
            </a:r>
            <a:endParaRPr lang="en-US" altLang="zh-CN" dirty="0">
              <a:latin typeface="+mj-lt"/>
              <a:ea typeface="华文楷体" pitchFamily="2" charset="-122"/>
            </a:endParaRPr>
          </a:p>
          <a:p>
            <a:pPr marL="0" indent="0" fontAlgn="auto">
              <a:spcAft>
                <a:spcPts val="0"/>
              </a:spcAft>
              <a:buNone/>
              <a:defRPr/>
            </a:pPr>
            <a:endParaRPr lang="en-US" altLang="zh-CN" dirty="0">
              <a:ea typeface="华文楷体" pitchFamily="2" charset="-122"/>
            </a:endParaRPr>
          </a:p>
          <a:p>
            <a:pPr marL="0" indent="0" fontAlgn="auto">
              <a:spcAft>
                <a:spcPts val="0"/>
              </a:spcAft>
              <a:buNone/>
              <a:defRPr/>
            </a:pPr>
            <a:r>
              <a:rPr lang="zh-CN" altLang="en-US" dirty="0">
                <a:ea typeface="华文楷体" pitchFamily="2" charset="-122"/>
              </a:rPr>
              <a:t>因此有</a:t>
            </a:r>
            <a:endParaRPr lang="en-US" altLang="zh-CN" dirty="0">
              <a:ea typeface="华文楷体" pitchFamily="2" charset="-122"/>
            </a:endParaRPr>
          </a:p>
          <a:p>
            <a:pPr fontAlgn="auto">
              <a:spcAft>
                <a:spcPts val="0"/>
              </a:spcAft>
              <a:defRPr/>
            </a:pPr>
            <a:endParaRPr lang="en-US" altLang="zh-CN" dirty="0">
              <a:latin typeface="+mj-lt"/>
              <a:ea typeface="华文楷体" pitchFamily="2" charset="-122"/>
            </a:endParaRPr>
          </a:p>
          <a:p>
            <a:pPr fontAlgn="auto">
              <a:spcAft>
                <a:spcPts val="0"/>
              </a:spcAft>
              <a:defRPr/>
            </a:pPr>
            <a:r>
              <a:rPr lang="en-US" altLang="zh-CN">
                <a:latin typeface="+mj-lt"/>
                <a:ea typeface="华文楷体" pitchFamily="2" charset="-122"/>
              </a:rPr>
              <a:t>2</a:t>
            </a:r>
            <a:r>
              <a:rPr lang="zh-CN" altLang="en-US">
                <a:latin typeface="+mj-lt"/>
                <a:ea typeface="华文楷体" pitchFamily="2" charset="-122"/>
              </a:rPr>
              <a:t>、</a:t>
            </a:r>
            <a:endParaRPr lang="en-US" altLang="zh-CN" dirty="0">
              <a:latin typeface="+mj-lt"/>
              <a:ea typeface="华文楷体" pitchFamily="2" charset="-122"/>
            </a:endParaRPr>
          </a:p>
          <a:p>
            <a:pPr fontAlgn="auto">
              <a:spcAft>
                <a:spcPts val="0"/>
              </a:spcAft>
              <a:defRPr/>
            </a:pPr>
            <a:endParaRPr lang="en-US" altLang="zh-CN" dirty="0">
              <a:latin typeface="+mj-lt"/>
              <a:ea typeface="华文楷体" pitchFamily="2" charset="-122"/>
            </a:endParaRPr>
          </a:p>
          <a:p>
            <a:pPr fontAlgn="auto">
              <a:spcAft>
                <a:spcPts val="0"/>
              </a:spcAft>
              <a:defRPr/>
            </a:pPr>
            <a:endParaRPr lang="en-US" altLang="zh-CN" dirty="0">
              <a:latin typeface="+mj-lt"/>
              <a:ea typeface="华文楷体" pitchFamily="2" charset="-122"/>
            </a:endParaRPr>
          </a:p>
          <a:p>
            <a:pPr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zh-CN" altLang="en-US" dirty="0">
                <a:latin typeface="+mj-lt"/>
                <a:ea typeface="华文楷体" pitchFamily="2" charset="-122"/>
              </a:rPr>
              <a:t>因此有</a:t>
            </a:r>
            <a:endParaRPr lang="en-US" altLang="zh-CN" dirty="0">
              <a:latin typeface="+mj-lt"/>
              <a:ea typeface="华文楷体" pitchFamily="2" charset="-122"/>
            </a:endParaRPr>
          </a:p>
          <a:p>
            <a:pPr fontAlgn="auto">
              <a:spcAft>
                <a:spcPts val="0"/>
              </a:spcAft>
              <a:defRPr/>
            </a:pPr>
            <a:endParaRPr lang="en-US" altLang="zh-CN" dirty="0">
              <a:latin typeface="+mj-lt"/>
              <a:ea typeface="华文楷体" pitchFamily="2" charset="-122"/>
            </a:endParaRPr>
          </a:p>
          <a:p>
            <a:pPr fontAlgn="auto">
              <a:spcAft>
                <a:spcPts val="0"/>
              </a:spcAft>
              <a:defRPr/>
            </a:pPr>
            <a:endParaRPr lang="en-US" altLang="zh-CN" dirty="0">
              <a:latin typeface="+mj-lt"/>
              <a:ea typeface="华文楷体" pitchFamily="2" charset="-122"/>
            </a:endParaRPr>
          </a:p>
          <a:p>
            <a:pPr fontAlgn="auto">
              <a:spcAft>
                <a:spcPts val="0"/>
              </a:spcAft>
              <a:defRPr/>
            </a:pPr>
            <a:endParaRPr lang="en-US" altLang="zh-CN" dirty="0">
              <a:latin typeface="+mj-lt"/>
              <a:ea typeface="华文楷体" pitchFamily="2" charset="-122"/>
            </a:endParaRPr>
          </a:p>
        </p:txBody>
      </p:sp>
      <p:sp>
        <p:nvSpPr>
          <p:cNvPr id="17418" name="Rectangle 5">
            <a:extLst>
              <a:ext uri="{FF2B5EF4-FFF2-40B4-BE49-F238E27FC236}">
                <a16:creationId xmlns:a16="http://schemas.microsoft.com/office/drawing/2014/main" id="{404952DF-C731-4CD8-9C92-7AE9D567B9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051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410" name="Object 2">
                <a:extLst>
                  <a:ext uri="{FF2B5EF4-FFF2-40B4-BE49-F238E27FC236}">
                    <a16:creationId xmlns:a16="http://schemas.microsoft.com/office/drawing/2014/main" id="{4EACDB79-FB3E-4AE8-B2D6-EB2B947E61E0}"/>
                  </a:ext>
                </a:extLst>
              </p:cNvPr>
              <p:cNvSpPr txBox="1"/>
              <p:nvPr/>
            </p:nvSpPr>
            <p:spPr bwMode="auto">
              <a:xfrm>
                <a:off x="1524000" y="1536701"/>
                <a:ext cx="5688013" cy="884237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sSup>
                            <m:sSup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nary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p>
                            <m:sSup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p>
                          </m:s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nary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p>
                      </m:sSup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7410" name="Object 2">
                <a:extLst>
                  <a:ext uri="{FF2B5EF4-FFF2-40B4-BE49-F238E27FC236}">
                    <a16:creationId xmlns:a16="http://schemas.microsoft.com/office/drawing/2014/main" id="{4EACDB79-FB3E-4AE8-B2D6-EB2B947E61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524000" y="1536701"/>
                <a:ext cx="5688013" cy="88423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圆角矩形 8">
            <a:extLst>
              <a:ext uri="{FF2B5EF4-FFF2-40B4-BE49-F238E27FC236}">
                <a16:creationId xmlns:a16="http://schemas.microsoft.com/office/drawing/2014/main" id="{5C4EE640-AC67-4EAD-A730-02ED4AF4D825}"/>
              </a:ext>
            </a:extLst>
          </p:cNvPr>
          <p:cNvSpPr/>
          <p:nvPr/>
        </p:nvSpPr>
        <p:spPr>
          <a:xfrm>
            <a:off x="3879055" y="1612048"/>
            <a:ext cx="764953" cy="504825"/>
          </a:xfrm>
          <a:prstGeom prst="roundRect">
            <a:avLst/>
          </a:prstGeom>
          <a:solidFill>
            <a:srgbClr val="FF0000">
              <a:alpha val="3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411" name="Object 3">
                <a:extLst>
                  <a:ext uri="{FF2B5EF4-FFF2-40B4-BE49-F238E27FC236}">
                    <a16:creationId xmlns:a16="http://schemas.microsoft.com/office/drawing/2014/main" id="{536D420B-5ACD-44AB-8E34-7159CF830599}"/>
                  </a:ext>
                </a:extLst>
              </p:cNvPr>
              <p:cNvSpPr txBox="1"/>
              <p:nvPr/>
            </p:nvSpPr>
            <p:spPr bwMode="auto">
              <a:xfrm>
                <a:off x="1833884" y="2645916"/>
                <a:ext cx="6986588" cy="927100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sSup>
                            <m:sSup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p>
                        </m:e>
                      </m:nary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p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sSup>
                            <m:sSup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nary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sSup>
                                    <m:sSupPr>
                                      <m:ctrlP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e>
                                    <m:sup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sup>
                                  </m:sSup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p>
                                    <m:sSupPr>
                                      <m:ctrlP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e>
                                    <m:sup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+1</m:t>
                                      </m:r>
                                    </m:sup>
                                  </m:sSup>
                                </m:e>
                              </m:d>
                            </m:e>
                          </m:d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p>
                      </m:sSubSup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−1)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p>
                      </m:sSup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+2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7411" name="Object 3">
                <a:extLst>
                  <a:ext uri="{FF2B5EF4-FFF2-40B4-BE49-F238E27FC236}">
                    <a16:creationId xmlns:a16="http://schemas.microsoft.com/office/drawing/2014/main" id="{536D420B-5ACD-44AB-8E34-7159CF8305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833884" y="2645916"/>
                <a:ext cx="6986588" cy="9271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412" name="Object 4">
                <a:extLst>
                  <a:ext uri="{FF2B5EF4-FFF2-40B4-BE49-F238E27FC236}">
                    <a16:creationId xmlns:a16="http://schemas.microsoft.com/office/drawing/2014/main" id="{91DF3A4E-1121-4008-B0CD-22B6DB861FA8}"/>
                  </a:ext>
                </a:extLst>
              </p:cNvPr>
              <p:cNvSpPr txBox="1"/>
              <p:nvPr/>
            </p:nvSpPr>
            <p:spPr bwMode="auto">
              <a:xfrm>
                <a:off x="1476375" y="3861048"/>
                <a:ext cx="6872288" cy="1871663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nary>
                      <m:r>
                        <m:rPr>
                          <m:aln/>
                        </m:rP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bar>
                                <m:bar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bar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</m:bar>
                            </m:sup>
                          </m:sSup>
                        </m:num>
                        <m:den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f>
                            <m:f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  <m:sSup>
                                <m:sSup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bar>
                                    <m:barPr>
                                      <m:ctrlP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barPr>
                                    <m:e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e>
                                  </m:bar>
                                </m:sup>
                              </m:sSup>
                            </m:num>
                            <m:den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sSup>
                            <m:sSup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bar>
                                <m:bar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bar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e>
                              </m:bar>
                            </m:sup>
                          </m:s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nary>
                    </m:oMath>
                    <m:oMath xmlns:m="http://schemas.openxmlformats.org/officeDocument/2006/math">
                      <m:r>
                        <m:rPr>
                          <m:aln/>
                        </m:rP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bar>
                                <m:bar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bar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</m:bar>
                            </m:sup>
                          </m:sSup>
                        </m:num>
                        <m:den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p>
                            <m:sSup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bar>
                                <m:bar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bar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bar>
                            </m:sup>
                          </m:s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nary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bar>
                                <m:bar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bar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</m:bar>
                            </m:sup>
                          </m:sSup>
                        </m:num>
                        <m:den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bar>
                                <m:bar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bar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</m:bar>
                            </m:sup>
                          </m:sSup>
                        </m:num>
                        <m:den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7412" name="Object 4">
                <a:extLst>
                  <a:ext uri="{FF2B5EF4-FFF2-40B4-BE49-F238E27FC236}">
                    <a16:creationId xmlns:a16="http://schemas.microsoft.com/office/drawing/2014/main" id="{91DF3A4E-1121-4008-B0CD-22B6DB861F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476375" y="3861048"/>
                <a:ext cx="6872288" cy="187166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413" name="Object 5">
                <a:extLst>
                  <a:ext uri="{FF2B5EF4-FFF2-40B4-BE49-F238E27FC236}">
                    <a16:creationId xmlns:a16="http://schemas.microsoft.com/office/drawing/2014/main" id="{CA42D4CB-D742-4E45-A5B6-CB20BB64A303}"/>
                  </a:ext>
                </a:extLst>
              </p:cNvPr>
              <p:cNvSpPr txBox="1"/>
              <p:nvPr/>
            </p:nvSpPr>
            <p:spPr bwMode="auto">
              <a:xfrm>
                <a:off x="1692275" y="5531569"/>
                <a:ext cx="4949825" cy="993775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0≤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/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nary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nary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p>
                              <m:bar>
                                <m:bar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bar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</m:bar>
                            </m:sup>
                          </m:sSup>
                        </m:num>
                        <m:den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⋅(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n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7413" name="Object 5">
                <a:extLst>
                  <a:ext uri="{FF2B5EF4-FFF2-40B4-BE49-F238E27FC236}">
                    <a16:creationId xmlns:a16="http://schemas.microsoft.com/office/drawing/2014/main" id="{CA42D4CB-D742-4E45-A5B6-CB20BB64A3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692275" y="5531569"/>
                <a:ext cx="4949825" cy="99377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Object 3">
                <a:extLst>
                  <a:ext uri="{FF2B5EF4-FFF2-40B4-BE49-F238E27FC236}">
                    <a16:creationId xmlns:a16="http://schemas.microsoft.com/office/drawing/2014/main" id="{A0132A97-3A6E-46B6-BE71-AA9671B127BC}"/>
                  </a:ext>
                </a:extLst>
              </p:cNvPr>
              <p:cNvSpPr txBox="1"/>
              <p:nvPr/>
            </p:nvSpPr>
            <p:spPr bwMode="auto">
              <a:xfrm>
                <a:off x="5774836" y="5276302"/>
                <a:ext cx="3445364" cy="1445173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zh-CN" altLang="en-US" sz="20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  <m:d>
                            <m:dPr>
                              <m:ctrlP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m:rPr>
                              <m:sty m:val="p"/>
                            </m:rPr>
                            <a:rPr lang="zh-CN" altLang="en-US" sz="20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  <m:d>
                            <m:dPr>
                              <m:ctrlP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nary>
                      <m:r>
                        <a:rPr lang="en-US" altLang="zh-CN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altLang="zh-CN" b="0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  <m:d>
                        <m:d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𝑣</m:t>
                      </m:r>
                      <m:d>
                        <m:d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CN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altLang="zh-CN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  <m:d>
                            <m:d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zh-CN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e>
                          </m:d>
                          <m:r>
                            <m:rPr>
                              <m:sty m:val="p"/>
                            </m:rPr>
                            <a:rPr lang="zh-CN" altLang="en-US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n-US" altLang="zh-CN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  <m:d>
                            <m:d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nary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12" name="Object 3">
                <a:extLst>
                  <a:ext uri="{FF2B5EF4-FFF2-40B4-BE49-F238E27FC236}">
                    <a16:creationId xmlns:a16="http://schemas.microsoft.com/office/drawing/2014/main" id="{A0132A97-3A6E-46B6-BE71-AA9671B127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774836" y="5276302"/>
                <a:ext cx="3445364" cy="144517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>
            <a:extLst>
              <a:ext uri="{FF2B5EF4-FFF2-40B4-BE49-F238E27FC236}">
                <a16:creationId xmlns:a16="http://schemas.microsoft.com/office/drawing/2014/main" id="{CEDFBAFA-8C8A-4807-8C39-29B5E612B72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800">
                <a:ea typeface="华文楷体" panose="02010600040101010101" pitchFamily="2" charset="-122"/>
              </a:rPr>
              <a:t>作业</a:t>
            </a:r>
            <a:endParaRPr lang="zh-CN" altLang="en-US" dirty="0">
              <a:ea typeface="华文楷体" panose="02010600040101010101" pitchFamily="2" charset="-122"/>
            </a:endParaRPr>
          </a:p>
        </p:txBody>
      </p:sp>
      <p:sp>
        <p:nvSpPr>
          <p:cNvPr id="33795" name="Rectangle 3">
            <a:extLst>
              <a:ext uri="{FF2B5EF4-FFF2-40B4-BE49-F238E27FC236}">
                <a16:creationId xmlns:a16="http://schemas.microsoft.com/office/drawing/2014/main" id="{3580D925-2458-4306-84CD-856550386EF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600200"/>
            <a:ext cx="8229600" cy="4565650"/>
          </a:xfrm>
        </p:spPr>
        <p:txBody>
          <a:bodyPr/>
          <a:lstStyle/>
          <a:p>
            <a:pPr>
              <a:buFont typeface="Wingdings" panose="05000000000000000000" pitchFamily="2" charset="2"/>
              <a:buChar char="ü"/>
            </a:pPr>
            <a:r>
              <a:rPr lang="en-US" altLang="zh-CN" sz="2000" dirty="0"/>
              <a:t>P52</a:t>
            </a:r>
            <a:r>
              <a:rPr lang="zh-CN" altLang="en-US" sz="2000" dirty="0"/>
              <a:t>：</a:t>
            </a:r>
            <a:r>
              <a:rPr lang="en-US" altLang="zh-CN" sz="2000" dirty="0"/>
              <a:t>28, 29</a:t>
            </a:r>
            <a:r>
              <a:rPr lang="en-US" altLang="zh-CN" sz="2000" dirty="0">
                <a:solidFill>
                  <a:srgbClr val="FF0000"/>
                </a:solidFill>
                <a:ea typeface="华文楷体" panose="02010600040101010101" pitchFamily="2" charset="-122"/>
              </a:rPr>
              <a:t> </a:t>
            </a:r>
            <a:endParaRPr lang="zh-CN" altLang="zh-CN" sz="2000" dirty="0">
              <a:solidFill>
                <a:srgbClr val="FF0000"/>
              </a:solidFill>
              <a:ea typeface="华文楷体" panose="02010600040101010101" pitchFamily="2" charset="-122"/>
            </a:endParaRPr>
          </a:p>
        </p:txBody>
      </p:sp>
      <p:sp>
        <p:nvSpPr>
          <p:cNvPr id="54274" name="日期占位符 3">
            <a:extLst>
              <a:ext uri="{FF2B5EF4-FFF2-40B4-BE49-F238E27FC236}">
                <a16:creationId xmlns:a16="http://schemas.microsoft.com/office/drawing/2014/main" id="{42365BDB-CC3A-428B-B48B-EEF332E422BD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929101B2-ABE0-4A6C-81B4-5C886C8F2636}" type="datetime1">
              <a:rPr lang="zh-CN" altLang="en-US"/>
              <a:pPr>
                <a:defRPr/>
              </a:pPr>
              <a:t>2023/3/18</a:t>
            </a:fld>
            <a:endParaRPr lang="en-US" altLang="zh-CN"/>
          </a:p>
        </p:txBody>
      </p:sp>
      <p:sp>
        <p:nvSpPr>
          <p:cNvPr id="54275" name="灯片编号占位符 4">
            <a:extLst>
              <a:ext uri="{FF2B5EF4-FFF2-40B4-BE49-F238E27FC236}">
                <a16:creationId xmlns:a16="http://schemas.microsoft.com/office/drawing/2014/main" id="{F1D28F34-F4D3-4892-94C8-B4B621EB58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fld id="{097188E4-8484-4D2A-ADD3-98538AA21FC2}" type="slidenum">
              <a:rPr lang="en-US" altLang="zh-CN">
                <a:solidFill>
                  <a:srgbClr val="898989"/>
                </a:solidFill>
              </a:rPr>
              <a:pPr/>
              <a:t>24</a:t>
            </a:fld>
            <a:endParaRPr lang="en-US" altLang="zh-CN">
              <a:solidFill>
                <a:srgbClr val="8989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6812954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176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6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3935</TotalTime>
  <Words>2038</Words>
  <Application>Microsoft Office PowerPoint</Application>
  <PresentationFormat>全屏显示(4:3)</PresentationFormat>
  <Paragraphs>242</Paragraphs>
  <Slides>24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24</vt:i4>
      </vt:variant>
    </vt:vector>
  </HeadingPairs>
  <TitlesOfParts>
    <vt:vector size="33" baseType="lpstr">
      <vt:lpstr>仿宋</vt:lpstr>
      <vt:lpstr>华文楷体</vt:lpstr>
      <vt:lpstr>宋体</vt:lpstr>
      <vt:lpstr>Arial</vt:lpstr>
      <vt:lpstr>Calibri</vt:lpstr>
      <vt:lpstr>Cambria Math</vt:lpstr>
      <vt:lpstr>Verdana</vt:lpstr>
      <vt:lpstr>Wingdings</vt:lpstr>
      <vt:lpstr>Office 主题</vt:lpstr>
      <vt:lpstr>PowerPoint 演示文稿</vt:lpstr>
      <vt:lpstr>2.6  Finite and Infinite Calculus 有限与无限微积分</vt:lpstr>
      <vt:lpstr>差分算子与微分算子</vt:lpstr>
      <vt:lpstr>差分算子与微分算子</vt:lpstr>
      <vt:lpstr>差分中的“幂”----阶乘幂</vt:lpstr>
      <vt:lpstr>下降阶乘幂和上升阶乘幂</vt:lpstr>
      <vt:lpstr>差和分基本定理</vt:lpstr>
      <vt:lpstr>定和分</vt:lpstr>
      <vt:lpstr>定和分的性质</vt:lpstr>
      <vt:lpstr>定和分的性质</vt:lpstr>
      <vt:lpstr>定和分的性质</vt:lpstr>
      <vt:lpstr>定和分性质的应用</vt:lpstr>
      <vt:lpstr>定和分性质的应用</vt:lpstr>
      <vt:lpstr>负指数的下降阶乘幂</vt:lpstr>
      <vt:lpstr>下降阶乘幂的性质</vt:lpstr>
      <vt:lpstr>下降阶乘幂的性质</vt:lpstr>
      <vt:lpstr>下降幂的和分的完整讨论 </vt:lpstr>
      <vt:lpstr>下降幂的和分的完整讨论 </vt:lpstr>
      <vt:lpstr>差和分中的指数函数</vt:lpstr>
      <vt:lpstr>基于定和分的几何级数求和</vt:lpstr>
      <vt:lpstr>PowerPoint 演示文稿</vt:lpstr>
      <vt:lpstr>定和分的其他问题</vt:lpstr>
      <vt:lpstr>分部求和的例子</vt:lpstr>
      <vt:lpstr>作业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zhaoqy</dc:creator>
  <cp:lastModifiedBy>Administrator</cp:lastModifiedBy>
  <cp:revision>245</cp:revision>
  <dcterms:created xsi:type="dcterms:W3CDTF">2011-08-23T12:15:27Z</dcterms:created>
  <dcterms:modified xsi:type="dcterms:W3CDTF">2023-03-18T06:57:39Z</dcterms:modified>
</cp:coreProperties>
</file>