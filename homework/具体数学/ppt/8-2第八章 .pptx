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94" r:id="rId2"/>
    <p:sldId id="321" r:id="rId3"/>
    <p:sldId id="322" r:id="rId4"/>
    <p:sldId id="351" r:id="rId5"/>
    <p:sldId id="323" r:id="rId6"/>
    <p:sldId id="324" r:id="rId7"/>
    <p:sldId id="355" r:id="rId8"/>
    <p:sldId id="354" r:id="rId9"/>
    <p:sldId id="325" r:id="rId10"/>
    <p:sldId id="326" r:id="rId11"/>
    <p:sldId id="356" r:id="rId12"/>
    <p:sldId id="327" r:id="rId13"/>
    <p:sldId id="357" r:id="rId14"/>
    <p:sldId id="358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52" r:id="rId24"/>
    <p:sldId id="336" r:id="rId25"/>
    <p:sldId id="337" r:id="rId26"/>
    <p:sldId id="338" r:id="rId27"/>
    <p:sldId id="339" r:id="rId28"/>
    <p:sldId id="353" r:id="rId29"/>
    <p:sldId id="340" r:id="rId30"/>
    <p:sldId id="341" r:id="rId31"/>
    <p:sldId id="342" r:id="rId3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1419" autoAdjust="0"/>
  </p:normalViewPr>
  <p:slideViewPr>
    <p:cSldViewPr>
      <p:cViewPr varScale="1">
        <p:scale>
          <a:sx n="65" d="100"/>
          <a:sy n="65" d="100"/>
        </p:scale>
        <p:origin x="9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6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FC83CC9-4A19-43DF-BEFF-CD51029465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113D88-1B81-4ECB-BCBB-D46770DB52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2252292-FD9B-4342-A925-5A3CBFFA8E16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1170D240-B93E-469C-BD24-F1241658E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A03F95D9-0EF9-4194-B66A-6424AC1CE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7D2AFA-9EB7-489B-AF90-4ED9D62C87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4E72FB-E03F-4FC3-8F0A-9D3AEF672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1AB0B56-6E16-435F-AE79-72789FE2556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6401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7DB75FD-BAD6-4517-AEBD-BAFD32E9A6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64ECEEB-A418-45EC-8B53-F732E536E264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C727CF83-8751-47A3-ADFB-CA88217623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02192F9-A80D-4CF6-86BB-CBBB79A2D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z="1300"/>
          </a:p>
        </p:txBody>
      </p:sp>
    </p:spTree>
    <p:extLst>
      <p:ext uri="{BB962C8B-B14F-4D97-AF65-F5344CB8AC3E}">
        <p14:creationId xmlns:p14="http://schemas.microsoft.com/office/powerpoint/2010/main" val="959359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82CC30-D590-44A1-ACFA-3B93E0F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51E3C-E6F2-4C75-9715-D5F3AAFA80A6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F998BB-DD14-4ED6-93A0-4FDB69620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580813-F416-4376-8AEB-4C5DA9AD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37CE2E-8EE5-4840-BE7A-0273714E579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28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A2C070-CC81-45F7-B542-43358DB9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A7729-3A85-491C-892A-0B58F6899AC8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9D7A02-D81D-4240-A278-E12A51A3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9F6178-B2B6-4D3D-8C36-E526002A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4CDED-4B93-4AC0-BAA0-A520F6EFE17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82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64AC34-31E1-415E-A7CE-06041BBF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A8C70-DD90-44BA-BB49-060CFE5C09BB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0137D-11EF-45A1-9519-E21BBDEC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B047F-F6E4-42F9-9B28-BF54B236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9BF3DE-C8EF-4266-B6AD-68229DD7795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7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1AF0D84-1C66-4281-97B8-3B80FD6B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887AD-FA59-45DC-AE4A-ED0F35B004C9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7FA2A0C-2B45-4316-B8F2-BD481A59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773F396-AB6F-47E4-92B2-ECA42931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896AFE-6A37-4DED-8F23-9800A9CCE67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885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FE032189-45C8-4196-81AF-7CD12D78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146A0-16B0-41A3-B094-7B06792D2409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573F9BC-D754-4F61-A1AA-12D7571B7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8DAB7C99-E4CD-494C-B2E9-FEB6F17C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5F3143-8576-45DA-A61C-EC1CCCACA4D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31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571506C6-6D0E-4939-B502-9F14A9FB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A62DC-A962-4529-8333-3611834855D9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DAB9F8-5730-485D-BC32-6965953F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3D54931-1388-4118-BAEA-8889C86B4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F5DBD5-3BC3-4D4D-BAC3-1209066A3E6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80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A41318E-DBA4-4F7F-99CA-6C27FD98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D36F6-58B6-4B09-98C8-BF782560C56A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A890632-7722-43EF-9EA4-310C11D3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65D98BF-E77C-4F49-B2CB-645CAC7B1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4CA91-542D-4CE9-A09C-5128EAAE760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59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06E0ABB-ED70-48C2-8855-5ABD6C93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DB995-41B6-4C4D-A012-7013B8EDD07B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EA8BB52-B929-4F37-9977-229FDC0D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2373A58-6274-438C-80D4-8FF08C3F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951950-ABD8-4D63-921A-356C0598F22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9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E71BBB42-E585-4F95-A302-03B67F43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72B0C-9D15-47C3-9859-A008E0C6702E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84E26FA-9B65-437C-BC9F-5641E43D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404ECE9-AC68-4AD0-AB82-75E857B5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2D67AE-663C-4F3A-AF87-D53012352FD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597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307933-88B6-44BF-92EA-0D63E167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D5AFE-940D-49CD-98B7-43616BBE80B6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DCFBAB-865A-4B6B-A627-8F6542C7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5B9F5F-C339-4511-90A1-AE502CDA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F91BAF-9445-4BD8-B2FF-2B480CA3E26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72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1362AC-3FDA-43BE-ADEB-6A92B718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4CDA1-E43A-4133-97E6-BA860A1EFB8F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2FD1E1-0013-460D-9300-748BD1F7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3EFB3E-29FD-4D87-8F0E-C09B8D02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7E7B05-6B38-45BE-B95D-180CE04C93A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32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占位符 1">
            <a:extLst>
              <a:ext uri="{FF2B5EF4-FFF2-40B4-BE49-F238E27FC236}">
                <a16:creationId xmlns:a16="http://schemas.microsoft.com/office/drawing/2014/main" id="{EC1B2DA4-6D95-4BE4-9974-CC3845981E6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1507" name="文本占位符 2">
            <a:extLst>
              <a:ext uri="{FF2B5EF4-FFF2-40B4-BE49-F238E27FC236}">
                <a16:creationId xmlns:a16="http://schemas.microsoft.com/office/drawing/2014/main" id="{E390E99C-BCFA-45DF-A77B-8E0AEF36B5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7F43E-6B88-4AB6-9012-4FB73421C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33FB1C6-F78E-479D-80FD-A97E3D176113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E6086-88D8-4710-863F-45A9AF7FC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9B73A-8718-4584-BDAE-28098822F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EA27937-22F9-4B09-9C72-473C49D7569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8" name="Rectangle 9">
            <a:extLst>
              <a:ext uri="{FF2B5EF4-FFF2-40B4-BE49-F238E27FC236}">
                <a16:creationId xmlns:a16="http://schemas.microsoft.com/office/drawing/2014/main" id="{9C3C9AD1-4177-469F-BBD0-1852253C2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44675"/>
            <a:ext cx="77724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200" dirty="0">
                <a:latin typeface="仿宋" pitchFamily="49" charset="-122"/>
                <a:ea typeface="仿宋" pitchFamily="49" charset="-122"/>
              </a:rPr>
              <a:t>具体数学</a:t>
            </a:r>
            <a:br>
              <a:rPr lang="zh-CN" altLang="en-US" sz="5400" dirty="0">
                <a:latin typeface="+mn-ea"/>
                <a:ea typeface="+mn-ea"/>
              </a:rPr>
            </a:br>
            <a:r>
              <a:rPr lang="en-US" altLang="zh-CN" sz="4800" dirty="0">
                <a:latin typeface="Verdana" pitchFamily="34" charset="0"/>
                <a:ea typeface="Verdana" pitchFamily="34" charset="0"/>
                <a:cs typeface="Verdana" pitchFamily="34" charset="0"/>
              </a:rPr>
              <a:t>Concrete Mathematics</a:t>
            </a:r>
            <a:r>
              <a:rPr lang="en-US" altLang="zh-CN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22531" name="Rectangle 10">
            <a:extLst>
              <a:ext uri="{FF2B5EF4-FFF2-40B4-BE49-F238E27FC236}">
                <a16:creationId xmlns:a16="http://schemas.microsoft.com/office/drawing/2014/main" id="{61749DDE-AEE0-48F1-8A5C-148021FE8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4508500"/>
            <a:ext cx="712946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6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fld id="{1634136C-7AF0-40DF-94BC-78C7792F1806}" type="datetime3">
              <a:rPr lang="zh-CN" altLang="en-US" sz="2400">
                <a:latin typeface="Verdana" panose="020B0604030504040204" pitchFamily="34" charset="0"/>
                <a:ea typeface="仿宋" panose="02010609060101010101" pitchFamily="49" charset="-122"/>
                <a:cs typeface="Verdana" panose="020B0604030504040204" pitchFamily="34" charset="0"/>
              </a:rPr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t>2022年4月9日星期六</a:t>
            </a:fld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22532" name="Rectangle 11">
            <a:extLst>
              <a:ext uri="{FF2B5EF4-FFF2-40B4-BE49-F238E27FC236}">
                <a16:creationId xmlns:a16="http://schemas.microsoft.com/office/drawing/2014/main" id="{AA8420D3-0699-4B7E-B16D-5088EEC2D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340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华东师范大学计算机学院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38D03CF-935F-4609-BB45-6CE419B5BDE0}"/>
              </a:ext>
            </a:extLst>
          </p:cNvPr>
          <p:cNvCxnSpPr/>
          <p:nvPr/>
        </p:nvCxnSpPr>
        <p:spPr>
          <a:xfrm rot="10800000" flipH="1">
            <a:off x="755650" y="3141663"/>
            <a:ext cx="7772400" cy="0"/>
          </a:xfrm>
          <a:prstGeom prst="line">
            <a:avLst/>
          </a:prstGeom>
          <a:ln w="76200" cap="flat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394E6E74-E4C7-4708-9251-DB2BD0689DF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5A5DA94A-917B-4F3F-A4AF-A84E65C8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61D06D3-670D-4416-9C54-6CE6F3F5A56B}" type="slidenum">
              <a:rPr lang="en-US" altLang="zh-CN">
                <a:solidFill>
                  <a:srgbClr val="898989"/>
                </a:solidFill>
              </a:rPr>
              <a:pPr algn="ctr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D6263E57-9B0C-43DB-B8B9-2BA35E75A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924175"/>
            <a:ext cx="8229600" cy="1143000"/>
          </a:xfrm>
        </p:spPr>
        <p:txBody>
          <a:bodyPr/>
          <a:lstStyle/>
          <a:p>
            <a:r>
              <a:rPr lang="en-US" altLang="zh-CN" sz="4000" dirty="0">
                <a:ea typeface="华文楷体" panose="02010600040101010101" pitchFamily="2" charset="-122"/>
              </a:rPr>
              <a:t>8.3 Probability Generating Functions</a:t>
            </a:r>
            <a:br>
              <a:rPr lang="en-US" altLang="zh-CN" sz="4000" dirty="0">
                <a:ea typeface="华文楷体" panose="02010600040101010101" pitchFamily="2" charset="-122"/>
              </a:rPr>
            </a:br>
            <a:r>
              <a:rPr lang="zh-CN" altLang="en-US" sz="4000" dirty="0">
                <a:ea typeface="华文楷体" panose="02010600040101010101" pitchFamily="2" charset="-122"/>
              </a:rPr>
              <a:t>概率生成函数</a:t>
            </a:r>
          </a:p>
        </p:txBody>
      </p:sp>
      <p:sp>
        <p:nvSpPr>
          <p:cNvPr id="23557" name="Rectangle 4">
            <a:extLst>
              <a:ext uri="{FF2B5EF4-FFF2-40B4-BE49-F238E27FC236}">
                <a16:creationId xmlns:a16="http://schemas.microsoft.com/office/drawing/2014/main" id="{94E92BA7-A054-4DB3-BECB-F8BF506DC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2B8D1E00-480F-401C-8182-34B804638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F991C47-10BA-4497-9888-0B7DBBA25C2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2022CDAC-542A-4C86-AA4B-8A63ED73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190A6F0-69F4-4FBC-940F-F637B5CD0BBE}" type="slidenum">
              <a:rPr lang="en-US" altLang="zh-CN">
                <a:solidFill>
                  <a:srgbClr val="898989"/>
                </a:solidFill>
              </a:rPr>
              <a:pPr algn="ctr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30" name="Rectangle 2">
            <a:extLst>
              <a:ext uri="{FF2B5EF4-FFF2-40B4-BE49-F238E27FC236}">
                <a16:creationId xmlns:a16="http://schemas.microsoft.com/office/drawing/2014/main" id="{8ABE771E-388A-4402-ADA5-2585865C7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概率生成函数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8E54A80E-1A53-412A-9A4D-E4D6FD475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对于仅取非负整数值的随机变量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的概率生成函数（</a:t>
            </a:r>
            <a:r>
              <a:rPr lang="en-US" altLang="zh-CN" sz="2800" dirty="0" err="1">
                <a:latin typeface="+mj-lt"/>
                <a:ea typeface="华文楷体" pitchFamily="2" charset="-122"/>
              </a:rPr>
              <a:t>pgf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）定义为：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注意：在研究生成函数的时候，我们仅限于使之收敛的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z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值。</a:t>
            </a:r>
            <a:endParaRPr lang="en-US" altLang="zh-CN" sz="28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概率生成函数的意义：</a:t>
            </a:r>
            <a:r>
              <a:rPr lang="zh-CN" altLang="en-US" sz="28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包含了随机变量</a:t>
            </a:r>
            <a:r>
              <a:rPr lang="en-US" altLang="zh-CN" sz="28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的所有信息</a:t>
            </a:r>
            <a:endParaRPr lang="en-US" altLang="zh-CN" sz="2800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</p:txBody>
      </p:sp>
      <p:sp>
        <p:nvSpPr>
          <p:cNvPr id="1032" name="Rectangle 4">
            <a:extLst>
              <a:ext uri="{FF2B5EF4-FFF2-40B4-BE49-F238E27FC236}">
                <a16:creationId xmlns:a16="http://schemas.microsoft.com/office/drawing/2014/main" id="{E586E3EE-502F-462C-802E-1F244A24A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3" name="Rectangle 6">
            <a:extLst>
              <a:ext uri="{FF2B5EF4-FFF2-40B4-BE49-F238E27FC236}">
                <a16:creationId xmlns:a16="http://schemas.microsoft.com/office/drawing/2014/main" id="{94A10E3B-9A6D-4ACA-88F0-CB7125A0D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Object 2">
                <a:extLst>
                  <a:ext uri="{FF2B5EF4-FFF2-40B4-BE49-F238E27FC236}">
                    <a16:creationId xmlns:a16="http://schemas.microsoft.com/office/drawing/2014/main" id="{417541F6-9560-43F5-B959-9F0B881FFAB1}"/>
                  </a:ext>
                </a:extLst>
              </p:cNvPr>
              <p:cNvSpPr txBox="1"/>
              <p:nvPr/>
            </p:nvSpPr>
            <p:spPr bwMode="auto">
              <a:xfrm>
                <a:off x="777793" y="2192262"/>
                <a:ext cx="3866215" cy="102839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26" name="Object 2">
                <a:extLst>
                  <a:ext uri="{FF2B5EF4-FFF2-40B4-BE49-F238E27FC236}">
                    <a16:creationId xmlns:a16="http://schemas.microsoft.com/office/drawing/2014/main" id="{417541F6-9560-43F5-B959-9F0B881FF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793" y="2192262"/>
                <a:ext cx="3866215" cy="10283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Object 3">
                <a:extLst>
                  <a:ext uri="{FF2B5EF4-FFF2-40B4-BE49-F238E27FC236}">
                    <a16:creationId xmlns:a16="http://schemas.microsoft.com/office/drawing/2014/main" id="{57FA9A40-C521-4074-8A71-0826AA4B311B}"/>
                  </a:ext>
                </a:extLst>
              </p:cNvPr>
              <p:cNvSpPr txBox="1"/>
              <p:nvPr/>
            </p:nvSpPr>
            <p:spPr bwMode="auto">
              <a:xfrm>
                <a:off x="739259" y="3212728"/>
                <a:ext cx="5275262" cy="64807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func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sup>
                        </m:sSup>
                      </m:e>
                    </m:nary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27" name="Object 3">
                <a:extLst>
                  <a:ext uri="{FF2B5EF4-FFF2-40B4-BE49-F238E27FC236}">
                    <a16:creationId xmlns:a16="http://schemas.microsoft.com/office/drawing/2014/main" id="{57FA9A40-C521-4074-8A71-0826AA4B3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259" y="3212728"/>
                <a:ext cx="5275262" cy="6480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5C279C01-2C39-4173-B74E-7D2326CA553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2C2B296D-74E4-4F69-A40D-6A0DC671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40B204D-BD40-4B96-9A68-8055F2DB3FEC}" type="slidenum">
              <a:rPr lang="en-US" altLang="zh-CN">
                <a:solidFill>
                  <a:srgbClr val="898989"/>
                </a:solidFill>
              </a:rPr>
              <a:pPr algn="ctr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4" name="Rectangle 2">
            <a:extLst>
              <a:ext uri="{FF2B5EF4-FFF2-40B4-BE49-F238E27FC236}">
                <a16:creationId xmlns:a16="http://schemas.microsoft.com/office/drawing/2014/main" id="{83658490-D305-4C2A-94DC-B8DDD9AC6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概率生成函数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5A1C4929-D6B6-44E9-9D2E-A31ED7801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根据概率分布的定义可知，概率生成函数中所有项的系数都是非负的，而且所有系数之和为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反向来看，任何一个系数非负、且系数之和为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</a:t>
            </a:r>
            <a:r>
              <a:rPr lang="zh-CN" altLang="en-US" sz="2800" dirty="0">
                <a:ea typeface="华文楷体" pitchFamily="2" charset="-122"/>
              </a:rPr>
              <a:t>幂级数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G(z)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都可以看作是某个随机变量的概率生成函数。</a:t>
            </a:r>
          </a:p>
        </p:txBody>
      </p:sp>
      <p:sp>
        <p:nvSpPr>
          <p:cNvPr id="2056" name="Rectangle 4">
            <a:extLst>
              <a:ext uri="{FF2B5EF4-FFF2-40B4-BE49-F238E27FC236}">
                <a16:creationId xmlns:a16="http://schemas.microsoft.com/office/drawing/2014/main" id="{C1427E04-BBB6-43ED-83CC-3F3400AD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57" name="Rectangle 6">
            <a:extLst>
              <a:ext uri="{FF2B5EF4-FFF2-40B4-BE49-F238E27FC236}">
                <a16:creationId xmlns:a16="http://schemas.microsoft.com/office/drawing/2014/main" id="{25C75A13-AECC-4BA7-B224-952DCF602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Object 4">
                <a:extLst>
                  <a:ext uri="{FF2B5EF4-FFF2-40B4-BE49-F238E27FC236}">
                    <a16:creationId xmlns:a16="http://schemas.microsoft.com/office/drawing/2014/main" id="{5B8E4A18-62EB-4EB9-AFE8-8E1565B135A1}"/>
                  </a:ext>
                </a:extLst>
              </p:cNvPr>
              <p:cNvSpPr txBox="1"/>
              <p:nvPr/>
            </p:nvSpPr>
            <p:spPr bwMode="auto">
              <a:xfrm>
                <a:off x="3563888" y="2241889"/>
                <a:ext cx="1872208" cy="64807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51" name="Object 4">
                <a:extLst>
                  <a:ext uri="{FF2B5EF4-FFF2-40B4-BE49-F238E27FC236}">
                    <a16:creationId xmlns:a16="http://schemas.microsoft.com/office/drawing/2014/main" id="{5B8E4A18-62EB-4EB9-AFE8-8E1565B13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888" y="2241889"/>
                <a:ext cx="1872208" cy="6480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33B7FE3B-0A51-4BB5-B31A-01BC48B1512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064943E6-F339-4236-8B8E-ED9249CE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0ADEF09-E5E5-4672-BF99-5662199C52E7}" type="slidenum">
              <a:rPr lang="en-US" altLang="zh-CN">
                <a:solidFill>
                  <a:srgbClr val="898989"/>
                </a:solidFill>
              </a:rPr>
              <a:pPr algn="ctr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9" name="Rectangle 2">
            <a:extLst>
              <a:ext uri="{FF2B5EF4-FFF2-40B4-BE49-F238E27FC236}">
                <a16:creationId xmlns:a16="http://schemas.microsoft.com/office/drawing/2014/main" id="{5744642C-EC7A-4F2C-AE19-9B0C6A0C3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概率生成函数的亮点一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DFCA9FA1-191B-41B5-8CDE-183BC08BC464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4"/>
                <a:ext cx="7920038" cy="5112469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简化均值和方差的计算</a:t>
                </a:r>
                <a:endParaRPr lang="en-US" altLang="zh-CN" sz="2800" dirty="0">
                  <a:solidFill>
                    <a:srgbClr val="0000FF"/>
                  </a:solidFill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均值可以表示成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方差的表示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两个记法：</a:t>
                </a:r>
                <a:r>
                  <a:rPr lang="en-US" altLang="zh-CN" sz="2000" dirty="0">
                    <a:latin typeface="+mj-lt"/>
                    <a:ea typeface="华文楷体" pitchFamily="2" charset="-122"/>
                  </a:rPr>
                  <a:t>Mean(G)=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000" dirty="0" err="1">
                    <a:latin typeface="+mj-lt"/>
                    <a:ea typeface="华文楷体" pitchFamily="2" charset="-122"/>
                  </a:rPr>
                  <a:t>Var</a:t>
                </a:r>
                <a:r>
                  <a:rPr lang="en-US" altLang="zh-CN" sz="2000" dirty="0">
                    <a:ea typeface="华文楷体" pitchFamily="2" charset="-122"/>
                  </a:rPr>
                  <a:t>(G)=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bSup>
                    <m:d>
                      <m:d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p>
                      <m:sSup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DFCA9FA1-191B-41B5-8CDE-183BC08BC4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4"/>
                <a:ext cx="7920038" cy="5112469"/>
              </a:xfrm>
              <a:blipFill>
                <a:blip r:embed="rId2"/>
                <a:stretch>
                  <a:fillRect l="-1386" t="-2148" b="-4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1" name="Rectangle 4">
            <a:extLst>
              <a:ext uri="{FF2B5EF4-FFF2-40B4-BE49-F238E27FC236}">
                <a16:creationId xmlns:a16="http://schemas.microsoft.com/office/drawing/2014/main" id="{1E6DA4DD-66B6-47FF-80E8-93B19541E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2" name="Rectangle 6">
            <a:extLst>
              <a:ext uri="{FF2B5EF4-FFF2-40B4-BE49-F238E27FC236}">
                <a16:creationId xmlns:a16="http://schemas.microsoft.com/office/drawing/2014/main" id="{781034C5-9B2E-43F9-9452-084F295A0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" name="Object 2">
                <a:extLst>
                  <a:ext uri="{FF2B5EF4-FFF2-40B4-BE49-F238E27FC236}">
                    <a16:creationId xmlns:a16="http://schemas.microsoft.com/office/drawing/2014/main" id="{26FFE9E1-A638-4CF6-A317-04852D9B11B7}"/>
                  </a:ext>
                </a:extLst>
              </p:cNvPr>
              <p:cNvSpPr txBox="1"/>
              <p:nvPr/>
            </p:nvSpPr>
            <p:spPr bwMode="auto">
              <a:xfrm>
                <a:off x="2339975" y="2205038"/>
                <a:ext cx="4608513" cy="14557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74" name="Object 2">
                <a:extLst>
                  <a:ext uri="{FF2B5EF4-FFF2-40B4-BE49-F238E27FC236}">
                    <a16:creationId xmlns:a16="http://schemas.microsoft.com/office/drawing/2014/main" id="{26FFE9E1-A638-4CF6-A317-04852D9B1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975" y="2205038"/>
                <a:ext cx="4608513" cy="1455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5" name="Object 3">
                <a:extLst>
                  <a:ext uri="{FF2B5EF4-FFF2-40B4-BE49-F238E27FC236}">
                    <a16:creationId xmlns:a16="http://schemas.microsoft.com/office/drawing/2014/main" id="{0CC4A018-59AA-42CC-9595-82FB2FA983F6}"/>
                  </a:ext>
                </a:extLst>
              </p:cNvPr>
              <p:cNvSpPr txBox="1"/>
              <p:nvPr/>
            </p:nvSpPr>
            <p:spPr bwMode="auto">
              <a:xfrm>
                <a:off x="1258888" y="4076700"/>
                <a:ext cx="7573962" cy="14700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sup>
                                      </m:s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075" name="Object 3">
                <a:extLst>
                  <a:ext uri="{FF2B5EF4-FFF2-40B4-BE49-F238E27FC236}">
                    <a16:creationId xmlns:a16="http://schemas.microsoft.com/office/drawing/2014/main" id="{0CC4A018-59AA-42CC-9595-82FB2FA98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888" y="4076700"/>
                <a:ext cx="7573962" cy="14700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6" name="Object 4">
                <a:extLst>
                  <a:ext uri="{FF2B5EF4-FFF2-40B4-BE49-F238E27FC236}">
                    <a16:creationId xmlns:a16="http://schemas.microsoft.com/office/drawing/2014/main" id="{B2CF3F65-9444-4BF5-9614-9CC33C68DEB5}"/>
                  </a:ext>
                </a:extLst>
              </p:cNvPr>
              <p:cNvSpPr txBox="1"/>
              <p:nvPr/>
            </p:nvSpPr>
            <p:spPr bwMode="auto">
              <a:xfrm>
                <a:off x="1283395" y="5593234"/>
                <a:ext cx="3576637" cy="5000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76" name="Object 4">
                <a:extLst>
                  <a:ext uri="{FF2B5EF4-FFF2-40B4-BE49-F238E27FC236}">
                    <a16:creationId xmlns:a16="http://schemas.microsoft.com/office/drawing/2014/main" id="{B2CF3F65-9444-4BF5-9614-9CC33C68D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3395" y="5593234"/>
                <a:ext cx="3576637" cy="5000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87E9E3E7-5B05-426E-BAE2-528C828C0E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D91232F0-2B0B-4C38-934B-D6106F43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0A2EC978-B8E5-4B03-AB2A-A739C7D17026}" type="slidenum">
              <a:rPr lang="en-US" altLang="zh-CN">
                <a:solidFill>
                  <a:srgbClr val="898989"/>
                </a:solidFill>
              </a:rPr>
              <a:pPr algn="ctr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2" name="Rectangle 2">
            <a:extLst>
              <a:ext uri="{FF2B5EF4-FFF2-40B4-BE49-F238E27FC236}">
                <a16:creationId xmlns:a16="http://schemas.microsoft.com/office/drawing/2014/main" id="{61DC029C-B2D4-4586-8CDA-9AEC6406D0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概率生成函数的亮点二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F883DD21-DD13-417C-B8BE-824521D029C4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很多重要应用的</a:t>
                </a:r>
                <a:r>
                  <a:rPr lang="en-US" altLang="zh-CN" sz="2800" dirty="0" err="1">
                    <a:solidFill>
                      <a:srgbClr val="0000FF"/>
                    </a:solidFill>
                    <a:ea typeface="华文楷体" pitchFamily="2" charset="-122"/>
                  </a:rPr>
                  <a:t>pgf</a:t>
                </a:r>
                <a:r>
                  <a:rPr lang="zh-CN" altLang="en-US" sz="2800" dirty="0">
                    <a:solidFill>
                      <a:srgbClr val="0000FF"/>
                    </a:solidFill>
                    <a:ea typeface="华文楷体" pitchFamily="2" charset="-122"/>
                  </a:rPr>
                  <a:t>的形式非常简单</a:t>
                </a:r>
                <a:endParaRPr lang="en-US" altLang="zh-CN" sz="2800" dirty="0">
                  <a:solidFill>
                    <a:srgbClr val="0000FF"/>
                  </a:solidFill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对于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{0, 1, …, n – 1}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上的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阶均匀分布随机变量，它的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pgf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是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问题：在最重要的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z=1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上，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zh-CN" altLang="en-US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𝑈</m:t>
                        </m:r>
                      </m:e>
                      <m:sub>
                        <m:r>
                          <a:rPr lang="zh-CN" altLang="en-US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的封闭形式及各阶导数无定义，求极限繁琐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解决方法：在</a:t>
                </a:r>
                <a:r>
                  <a:rPr lang="en-US" altLang="zh-CN" sz="2800" dirty="0">
                    <a:ea typeface="华文楷体" pitchFamily="2" charset="-122"/>
                  </a:rPr>
                  <a:t>z=1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上泰勒展开，系数为</a:t>
                </a:r>
                <a:r>
                  <a:rPr lang="en-US" altLang="zh-CN" sz="2800" dirty="0">
                    <a:ea typeface="华文楷体" pitchFamily="2" charset="-122"/>
                  </a:rPr>
                  <a:t>z=1</a:t>
                </a:r>
                <a:r>
                  <a:rPr lang="zh-CN" altLang="en-US" sz="2800" dirty="0">
                    <a:ea typeface="华文楷体" pitchFamily="2" charset="-122"/>
                  </a:rPr>
                  <a:t>上的各阶导数，然后采用适当的方法（非泰勒展开）展开，最后比对系数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′(1)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′′(1)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′′′(1)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800" dirty="0"/>
                  <a:t>+….</a:t>
                </a:r>
                <a:endParaRPr lang="zh-CN" altLang="zh-CN" sz="2800" dirty="0"/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Cambria Math" panose="02040503050406030204" pitchFamily="18" charset="0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883DD21-DD13-417C-B8BE-824521D029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  <a:blipFill rotWithShape="0">
                <a:blip r:embed="rId2"/>
                <a:stretch>
                  <a:fillRect l="-1386" t="-2242" r="-2463"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4" name="Rectangle 4">
            <a:extLst>
              <a:ext uri="{FF2B5EF4-FFF2-40B4-BE49-F238E27FC236}">
                <a16:creationId xmlns:a16="http://schemas.microsoft.com/office/drawing/2014/main" id="{C81E3193-8A38-43F0-A3F9-D5C469901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5" name="Rectangle 6">
            <a:extLst>
              <a:ext uri="{FF2B5EF4-FFF2-40B4-BE49-F238E27FC236}">
                <a16:creationId xmlns:a16="http://schemas.microsoft.com/office/drawing/2014/main" id="{69FB2E8B-7439-473B-9066-868D2D98A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8" name="Object 2">
                <a:extLst>
                  <a:ext uri="{FF2B5EF4-FFF2-40B4-BE49-F238E27FC236}">
                    <a16:creationId xmlns:a16="http://schemas.microsoft.com/office/drawing/2014/main" id="{A8F9C75D-662B-40A9-BECD-87419314903A}"/>
                  </a:ext>
                </a:extLst>
              </p:cNvPr>
              <p:cNvSpPr txBox="1"/>
              <p:nvPr/>
            </p:nvSpPr>
            <p:spPr bwMode="auto">
              <a:xfrm>
                <a:off x="1907704" y="2620341"/>
                <a:ext cx="6048598" cy="943691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8" name="Object 2">
                <a:extLst>
                  <a:ext uri="{FF2B5EF4-FFF2-40B4-BE49-F238E27FC236}">
                    <a16:creationId xmlns:a16="http://schemas.microsoft.com/office/drawing/2014/main" id="{A8F9C75D-662B-40A9-BECD-874193149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704" y="2620341"/>
                <a:ext cx="6048598" cy="9436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87E9E3E7-5B05-426E-BAE2-528C828C0E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D91232F0-2B0B-4C38-934B-D6106F43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0A2EC978-B8E5-4B03-AB2A-A739C7D17026}" type="slidenum">
              <a:rPr lang="en-US" altLang="zh-CN">
                <a:solidFill>
                  <a:srgbClr val="898989"/>
                </a:solidFill>
              </a:rPr>
              <a:pPr algn="ctr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2" name="Rectangle 2">
            <a:extLst>
              <a:ext uri="{FF2B5EF4-FFF2-40B4-BE49-F238E27FC236}">
                <a16:creationId xmlns:a16="http://schemas.microsoft.com/office/drawing/2014/main" id="{61DC029C-B2D4-4586-8CDA-9AEC6406D0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概率生成函数的亮点二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F883DD21-DD13-417C-B8BE-824521D02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Cambria Math" panose="02040503050406030204" pitchFamily="18" charset="0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Cambria Math" panose="02040503050406030204" pitchFamily="18" charset="0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Cambria Math" panose="02040503050406030204" pitchFamily="18" charset="0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Cambria Math" panose="02040503050406030204" pitchFamily="18" charset="0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Cambria Math" panose="02040503050406030204" pitchFamily="18" charset="0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Cambria Math" panose="02040503050406030204" pitchFamily="18" charset="0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Cambria Math" panose="02040503050406030204" pitchFamily="18" charset="0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Cambria Math" panose="02040503050406030204" pitchFamily="18" charset="0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Cambria Math" panose="02040503050406030204" pitchFamily="18" charset="0"/>
              <a:ea typeface="华文楷体" pitchFamily="2" charset="-122"/>
            </a:endParaRPr>
          </a:p>
        </p:txBody>
      </p:sp>
      <p:sp>
        <p:nvSpPr>
          <p:cNvPr id="4104" name="Rectangle 4">
            <a:extLst>
              <a:ext uri="{FF2B5EF4-FFF2-40B4-BE49-F238E27FC236}">
                <a16:creationId xmlns:a16="http://schemas.microsoft.com/office/drawing/2014/main" id="{C81E3193-8A38-43F0-A3F9-D5C469901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5" name="Rectangle 6">
            <a:extLst>
              <a:ext uri="{FF2B5EF4-FFF2-40B4-BE49-F238E27FC236}">
                <a16:creationId xmlns:a16="http://schemas.microsoft.com/office/drawing/2014/main" id="{69FB2E8B-7439-473B-9066-868D2D98A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8" name="Object 2">
                <a:extLst>
                  <a:ext uri="{FF2B5EF4-FFF2-40B4-BE49-F238E27FC236}">
                    <a16:creationId xmlns:a16="http://schemas.microsoft.com/office/drawing/2014/main" id="{A8F9C75D-662B-40A9-BECD-87419314903A}"/>
                  </a:ext>
                </a:extLst>
              </p:cNvPr>
              <p:cNvSpPr txBox="1"/>
              <p:nvPr/>
            </p:nvSpPr>
            <p:spPr bwMode="auto">
              <a:xfrm>
                <a:off x="1377578" y="1508133"/>
                <a:ext cx="5922962" cy="72008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+⋯+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8" name="Object 2">
                <a:extLst>
                  <a:ext uri="{FF2B5EF4-FFF2-40B4-BE49-F238E27FC236}">
                    <a16:creationId xmlns:a16="http://schemas.microsoft.com/office/drawing/2014/main" id="{A8F9C75D-662B-40A9-BECD-874193149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7578" y="1508133"/>
                <a:ext cx="5922962" cy="720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60648" y="2362264"/>
                <a:ext cx="6889285" cy="23488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5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i="1" kern="15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f>
                        <m:f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 kern="1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(1+</m:t>
                              </m:r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altLang="zh-CN" sz="2000" kern="15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:endParaRPr lang="zh-CN" altLang="zh-CN" sz="2000" kern="15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:r>
                  <a:rPr lang="en-US" altLang="zh-CN" sz="2000" kern="150" dirty="0">
                    <a:effectLst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0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000" i="1" kern="1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000" i="1" kern="1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0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000" i="1" kern="1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0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+…+</m:t>
                    </m:r>
                    <m:f>
                      <m:f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000" i="1" kern="1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zh-CN" altLang="zh-CN" sz="20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0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sz="2000" kern="15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:endParaRPr lang="zh-CN" altLang="zh-CN" sz="2000" kern="15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000" i="1" kern="15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=1,</m:t>
                      </m:r>
                      <m:sSub>
                        <m:sSub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000" i="1" kern="15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 kern="15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000" i="1" kern="15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−1)(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−2)</m:t>
                          </m:r>
                        </m:num>
                        <m:den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zh-CN" sz="2000" kern="15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48" y="2362264"/>
                <a:ext cx="6889285" cy="2348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DC982C34-AB9A-4E2D-87EF-659434B08F7F}"/>
                  </a:ext>
                </a:extLst>
              </p:cNvPr>
              <p:cNvSpPr txBox="1"/>
              <p:nvPr/>
            </p:nvSpPr>
            <p:spPr bwMode="auto">
              <a:xfrm>
                <a:off x="3563888" y="2564904"/>
                <a:ext cx="5659232" cy="729109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′(1)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′′(1)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′′′(1)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000" dirty="0"/>
                  <a:t>+….</a:t>
                </a:r>
                <a:endParaRPr lang="zh-CN" altLang="zh-CN" sz="2000" dirty="0"/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DC982C34-AB9A-4E2D-87EF-659434B08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888" y="2564904"/>
                <a:ext cx="5659232" cy="729109"/>
              </a:xfrm>
              <a:prstGeom prst="rect">
                <a:avLst/>
              </a:prstGeom>
              <a:blipFill>
                <a:blip r:embed="rId4"/>
                <a:stretch>
                  <a:fillRect r="-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2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87E9E3E7-5B05-426E-BAE2-528C828C0E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D91232F0-2B0B-4C38-934B-D6106F43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0A2EC978-B8E5-4B03-AB2A-A739C7D17026}" type="slidenum">
              <a:rPr lang="en-US" altLang="zh-CN">
                <a:solidFill>
                  <a:srgbClr val="898989"/>
                </a:solidFill>
              </a:rPr>
              <a:pPr algn="ctr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2" name="Rectangle 2">
            <a:extLst>
              <a:ext uri="{FF2B5EF4-FFF2-40B4-BE49-F238E27FC236}">
                <a16:creationId xmlns:a16="http://schemas.microsoft.com/office/drawing/2014/main" id="{61DC029C-B2D4-4586-8CDA-9AEC6406D0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概率生成函数的亮点三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F883DD21-DD13-417C-B8BE-824521D02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独立变量之和的</a:t>
            </a:r>
            <a:r>
              <a:rPr lang="en-US" altLang="zh-CN" sz="2800" dirty="0" err="1">
                <a:solidFill>
                  <a:srgbClr val="0000FF"/>
                </a:solidFill>
                <a:latin typeface="+mj-lt"/>
                <a:ea typeface="华文楷体" pitchFamily="2" charset="-122"/>
              </a:rPr>
              <a:t>pgf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等于各自</a:t>
            </a:r>
            <a:r>
              <a:rPr lang="en-US" altLang="zh-CN" sz="2800" dirty="0" err="1">
                <a:solidFill>
                  <a:srgbClr val="0000FF"/>
                </a:solidFill>
                <a:latin typeface="+mj-lt"/>
                <a:ea typeface="华文楷体" pitchFamily="2" charset="-122"/>
              </a:rPr>
              <a:t>pgf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的乘积</a:t>
            </a:r>
            <a:endParaRPr lang="en-US" altLang="zh-CN" sz="2800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如果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Y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是独立的，那么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原因在于（假定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Y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只取非负整数）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000" i="1" kern="150" dirty="0">
              <a:latin typeface="Cambria Math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04" name="Rectangle 4">
            <a:extLst>
              <a:ext uri="{FF2B5EF4-FFF2-40B4-BE49-F238E27FC236}">
                <a16:creationId xmlns:a16="http://schemas.microsoft.com/office/drawing/2014/main" id="{C81E3193-8A38-43F0-A3F9-D5C469901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5" name="Rectangle 6">
            <a:extLst>
              <a:ext uri="{FF2B5EF4-FFF2-40B4-BE49-F238E27FC236}">
                <a16:creationId xmlns:a16="http://schemas.microsoft.com/office/drawing/2014/main" id="{69FB2E8B-7439-473B-9066-868D2D98A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Object 3">
                <a:extLst>
                  <a:ext uri="{FF2B5EF4-FFF2-40B4-BE49-F238E27FC236}">
                    <a16:creationId xmlns:a16="http://schemas.microsoft.com/office/drawing/2014/main" id="{50B1B645-C5F8-4B1D-80F1-A8CC215E6B46}"/>
                  </a:ext>
                </a:extLst>
              </p:cNvPr>
              <p:cNvSpPr txBox="1"/>
              <p:nvPr/>
            </p:nvSpPr>
            <p:spPr bwMode="auto">
              <a:xfrm>
                <a:off x="2979293" y="2312191"/>
                <a:ext cx="3472751" cy="54074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9" name="Object 3">
                <a:extLst>
                  <a:ext uri="{FF2B5EF4-FFF2-40B4-BE49-F238E27FC236}">
                    <a16:creationId xmlns:a16="http://schemas.microsoft.com/office/drawing/2014/main" id="{50B1B645-C5F8-4B1D-80F1-A8CC215E6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9293" y="2312191"/>
                <a:ext cx="3472751" cy="540745"/>
              </a:xfrm>
              <a:prstGeom prst="rect">
                <a:avLst/>
              </a:prstGeom>
              <a:blipFill>
                <a:blip r:embed="rId2"/>
                <a:stretch>
                  <a:fillRect l="-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46930" y="3375978"/>
                <a:ext cx="7869486" cy="12549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000" i="1" kern="15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b="0" i="0" kern="15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           </m:t>
                          </m:r>
                          <m:r>
                            <m:rPr>
                              <m:sty m:val="p"/>
                            </m:rPr>
                            <a:rPr lang="en-US" altLang="zh-CN" sz="2000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000" i="1" kern="1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a:rPr lang="en-US" altLang="zh-CN" sz="2000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Y</m:t>
                              </m:r>
                              <m:r>
                                <a:rPr lang="en-US" altLang="zh-CN" sz="2000" i="1" kern="15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e>
                          </m:d>
                        </m:e>
                      </m:func>
                      <m:r>
                        <a:rPr lang="en-US" altLang="zh-CN" sz="2000" kern="15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000" i="1" kern="15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</m:t>
                          </m:r>
                          <m:r>
                            <a:rPr lang="en-US" altLang="zh-CN" sz="2000" b="0" i="1" kern="15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0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000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Pr</m:t>
                          </m:r>
                          <m:r>
                            <a:rPr lang="en-US" altLang="zh-CN" sz="2000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⁡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zh-CN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且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000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zh-CN" sz="2000" kern="15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US" altLang="zh-CN" sz="2000" kern="15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                            </a:t>
                </a:r>
                <a:r>
                  <a:rPr lang="en-US" altLang="zh-CN" sz="2400" i="1" kern="15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0</m:t>
                        </m:r>
                      </m:sub>
                      <m:sup/>
                      <m:e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𝑃𝑟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𝑃𝑟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400" i="1" kern="15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2000" i="1" kern="15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30" y="3375978"/>
                <a:ext cx="7869486" cy="1254959"/>
              </a:xfrm>
              <a:prstGeom prst="rect">
                <a:avLst/>
              </a:prstGeom>
              <a:blipFill>
                <a:blip r:embed="rId3"/>
                <a:stretch>
                  <a:fillRect b="-69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227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925D40B-B2C0-447E-9608-CADB91CDEC4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A7877F63-89BE-42E9-AEE9-B9B5679B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9178411-E77D-4BA7-887D-6CE2BE03C93F}" type="slidenum">
              <a:rPr lang="en-US" altLang="zh-CN">
                <a:solidFill>
                  <a:srgbClr val="898989"/>
                </a:solidFill>
              </a:rPr>
              <a:pPr algn="ctr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7" name="Rectangle 2">
            <a:extLst>
              <a:ext uri="{FF2B5EF4-FFF2-40B4-BE49-F238E27FC236}">
                <a16:creationId xmlns:a16="http://schemas.microsoft.com/office/drawing/2014/main" id="{9CF13938-8B4B-4AC6-9531-25EAAF37D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06761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生成函数标准化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1EF557FC-CBAC-4481-B756-09C19E363AEA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23528" y="1181399"/>
                <a:ext cx="8661722" cy="5127326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假定变量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、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Y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独立，概率生成函数分别为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F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G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H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是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X+Y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的概率生成函数，于是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/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可以验证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对于一般的函数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F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G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，上述性质并不成立；但当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(1)=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altLang="zh-CN" sz="2800" dirty="0"/>
                  <a:t>=1</a:t>
                </a:r>
                <a:r>
                  <a:rPr lang="zh-CN" altLang="en-US" sz="2800" dirty="0"/>
                  <a:t>时，</a:t>
                </a:r>
                <a:r>
                  <a:rPr lang="zh-CN" altLang="en-US" sz="2800" dirty="0">
                    <a:ea typeface="华文楷体" pitchFamily="2" charset="-122"/>
                  </a:rPr>
                  <a:t>上述性质必成立，甚至“概率”也可以不在</a:t>
                </a:r>
                <a:r>
                  <a:rPr lang="en-US" altLang="zh-CN" sz="2800" dirty="0">
                    <a:ea typeface="华文楷体" pitchFamily="2" charset="-122"/>
                  </a:rPr>
                  <a:t>[0, 1]</a:t>
                </a:r>
                <a:r>
                  <a:rPr lang="zh-CN" altLang="en-US" sz="2800" dirty="0">
                    <a:ea typeface="华文楷体" pitchFamily="2" charset="-122"/>
                  </a:rPr>
                  <a:t>中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一般函数</a:t>
                </a:r>
                <a:r>
                  <a:rPr lang="en-US" altLang="zh-CN" sz="2800" dirty="0">
                    <a:ea typeface="华文楷体" pitchFamily="2" charset="-122"/>
                  </a:rPr>
                  <a:t>F</a:t>
                </a:r>
                <a:r>
                  <a:rPr lang="zh-CN" altLang="en-US" sz="2800" dirty="0">
                    <a:ea typeface="华文楷体" pitchFamily="2" charset="-122"/>
                  </a:rPr>
                  <a:t>和</a:t>
                </a:r>
                <a:r>
                  <a:rPr lang="en-US" altLang="zh-CN" sz="2800" dirty="0">
                    <a:ea typeface="华文楷体" pitchFamily="2" charset="-122"/>
                  </a:rPr>
                  <a:t>G</a:t>
                </a:r>
                <a:r>
                  <a:rPr lang="zh-CN" altLang="en-US" sz="2800" dirty="0">
                    <a:ea typeface="华文楷体" pitchFamily="2" charset="-122"/>
                  </a:rPr>
                  <a:t>可通过除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𝐹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(1)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和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𝐺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(1)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华文楷体" pitchFamily="2" charset="-122"/>
                      </a:rPr>
                      <m:t>来</m:t>
                    </m:r>
                  </m:oMath>
                </a14:m>
                <a:r>
                  <a:rPr lang="zh-CN" altLang="en-US" sz="2800" dirty="0">
                    <a:ea typeface="华文楷体" pitchFamily="2" charset="-122"/>
                  </a:rPr>
                  <a:t>标准化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12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可以验证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同样也可验证方差情形。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1EF557FC-CBAC-4481-B756-09C19E363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3528" y="1181399"/>
                <a:ext cx="8661722" cy="5127326"/>
              </a:xfrm>
              <a:blipFill>
                <a:blip r:embed="rId2"/>
                <a:stretch>
                  <a:fillRect l="-1267" t="-2140" r="-422" b="-48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9" name="Rectangle 4">
            <a:extLst>
              <a:ext uri="{FF2B5EF4-FFF2-40B4-BE49-F238E27FC236}">
                <a16:creationId xmlns:a16="http://schemas.microsoft.com/office/drawing/2014/main" id="{36DF1D0C-FA31-4597-AA4C-8EFE6CF47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0" name="Rectangle 6">
            <a:extLst>
              <a:ext uri="{FF2B5EF4-FFF2-40B4-BE49-F238E27FC236}">
                <a16:creationId xmlns:a16="http://schemas.microsoft.com/office/drawing/2014/main" id="{DB5CB418-49BE-4740-B166-9002749E6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Object 3">
                <a:extLst>
                  <a:ext uri="{FF2B5EF4-FFF2-40B4-BE49-F238E27FC236}">
                    <a16:creationId xmlns:a16="http://schemas.microsoft.com/office/drawing/2014/main" id="{DC982C34-AB9A-4E2D-87EF-659434B08F7F}"/>
                  </a:ext>
                </a:extLst>
              </p:cNvPr>
              <p:cNvSpPr txBox="1"/>
              <p:nvPr/>
            </p:nvSpPr>
            <p:spPr bwMode="auto">
              <a:xfrm>
                <a:off x="5580112" y="3563987"/>
                <a:ext cx="3694345" cy="729109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Mean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123" name="Object 3">
                <a:extLst>
                  <a:ext uri="{FF2B5EF4-FFF2-40B4-BE49-F238E27FC236}">
                    <a16:creationId xmlns:a16="http://schemas.microsoft.com/office/drawing/2014/main" id="{DC982C34-AB9A-4E2D-87EF-659434B08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0112" y="3563987"/>
                <a:ext cx="3694345" cy="729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4" name="Object 4">
                <a:extLst>
                  <a:ext uri="{FF2B5EF4-FFF2-40B4-BE49-F238E27FC236}">
                    <a16:creationId xmlns:a16="http://schemas.microsoft.com/office/drawing/2014/main" id="{466467EC-38D2-4B7C-954E-AED968307B80}"/>
                  </a:ext>
                </a:extLst>
              </p:cNvPr>
              <p:cNvSpPr txBox="1"/>
              <p:nvPr/>
            </p:nvSpPr>
            <p:spPr bwMode="auto">
              <a:xfrm>
                <a:off x="1187624" y="2360227"/>
                <a:ext cx="6912768" cy="8953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𝑒𝑎𝑛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(1)+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(1)=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𝑒𝑎𝑛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𝑒𝑎𝑛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124" name="Object 4">
                <a:extLst>
                  <a:ext uri="{FF2B5EF4-FFF2-40B4-BE49-F238E27FC236}">
                    <a16:creationId xmlns:a16="http://schemas.microsoft.com/office/drawing/2014/main" id="{466467EC-38D2-4B7C-954E-AED968307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2360227"/>
                <a:ext cx="6912768" cy="895350"/>
              </a:xfrm>
              <a:prstGeom prst="rect">
                <a:avLst/>
              </a:prstGeom>
              <a:blipFill>
                <a:blip r:embed="rId4"/>
                <a:stretch>
                  <a:fillRect l="-265" b="-27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7177470E-AF23-4DB1-A14F-6A186CF58BFC}"/>
                  </a:ext>
                </a:extLst>
              </p:cNvPr>
              <p:cNvSpPr txBox="1"/>
              <p:nvPr/>
            </p:nvSpPr>
            <p:spPr bwMode="auto">
              <a:xfrm>
                <a:off x="1187624" y="3165560"/>
                <a:ext cx="4752528" cy="120662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baseline="300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CN" sz="2400" b="0" i="1" baseline="300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sz="2400" dirty="0">
                    <a:solidFill>
                      <a:srgbClr val="000000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endParaRPr lang="en-US" altLang="zh-CN" sz="24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400" b="0" dirty="0">
                    <a:solidFill>
                      <a:srgbClr val="00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m:rPr>
                        <m:aln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Object 4">
                <a:extLst>
                  <a:ext uri="{FF2B5EF4-FFF2-40B4-BE49-F238E27FC236}">
                    <a16:creationId xmlns:a16="http://schemas.microsoft.com/office/drawing/2014/main" id="{7177470E-AF23-4DB1-A14F-6A186CF58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624" y="3165560"/>
                <a:ext cx="4752528" cy="1206629"/>
              </a:xfrm>
              <a:prstGeom prst="rect">
                <a:avLst/>
              </a:prstGeom>
              <a:blipFill>
                <a:blip r:embed="rId5"/>
                <a:stretch>
                  <a:fillRect l="-385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33D92CA2-2C22-4A1A-BE70-5DC21B4BB71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2CD33C21-31BE-4385-BD73-0349DA99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CE6F7A0-9F78-4207-8887-85CF227255A9}" type="slidenum">
              <a:rPr lang="en-US" altLang="zh-CN">
                <a:solidFill>
                  <a:srgbClr val="898989"/>
                </a:solidFill>
              </a:rPr>
              <a:pPr algn="ctr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1" name="Rectangle 2">
            <a:extLst>
              <a:ext uri="{FF2B5EF4-FFF2-40B4-BE49-F238E27FC236}">
                <a16:creationId xmlns:a16="http://schemas.microsoft.com/office/drawing/2014/main" id="{7F860CF7-858C-4D51-8773-8BCAA81BD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一般累积量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4D69E514-95EA-4407-A401-D67687FAA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丹麦天文学家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Thorvald Nicolai Thiele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在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1903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年提出了一系列的</a:t>
            </a:r>
            <a:r>
              <a:rPr lang="zh-CN" altLang="en-US" sz="2800" dirty="0">
                <a:solidFill>
                  <a:srgbClr val="0000FF"/>
                </a:solidFill>
                <a:ea typeface="华文楷体" pitchFamily="2" charset="-122"/>
              </a:rPr>
              <a:t>累积统计量</a:t>
            </a:r>
            <a:r>
              <a:rPr lang="zh-CN" altLang="en-US" sz="2800" dirty="0">
                <a:ea typeface="华文楷体" pitchFamily="2" charset="-122"/>
              </a:rPr>
              <a:t>（均值和方差是前两个累积量），它们精巧地描述了概率分布的特性</a:t>
            </a: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累积量的定义来自于泰勒展开（在</a:t>
            </a:r>
            <a:r>
              <a:rPr lang="en-US" altLang="zh-CN" sz="2800" dirty="0">
                <a:ea typeface="华文楷体" pitchFamily="2" charset="-122"/>
              </a:rPr>
              <a:t>0</a:t>
            </a:r>
            <a:r>
              <a:rPr lang="zh-CN" altLang="en-US" sz="2800" dirty="0">
                <a:ea typeface="华文楷体" pitchFamily="2" charset="-122"/>
              </a:rPr>
              <a:t>点）</a:t>
            </a: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1400" dirty="0">
              <a:latin typeface="+mj-lt"/>
              <a:ea typeface="华文楷体" pitchFamily="2" charset="-122"/>
            </a:endParaRP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函数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G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是概率生成函数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11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这里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6153" name="Rectangle 4">
            <a:extLst>
              <a:ext uri="{FF2B5EF4-FFF2-40B4-BE49-F238E27FC236}">
                <a16:creationId xmlns:a16="http://schemas.microsoft.com/office/drawing/2014/main" id="{88303F38-EA72-41E6-A670-F023B840E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4" name="Rectangle 6">
            <a:extLst>
              <a:ext uri="{FF2B5EF4-FFF2-40B4-BE49-F238E27FC236}">
                <a16:creationId xmlns:a16="http://schemas.microsoft.com/office/drawing/2014/main" id="{EFB91C3C-480B-4417-828A-AC0C9B3B4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2">
                <a:extLst>
                  <a:ext uri="{FF2B5EF4-FFF2-40B4-BE49-F238E27FC236}">
                    <a16:creationId xmlns:a16="http://schemas.microsoft.com/office/drawing/2014/main" id="{968000EF-2786-48DB-9CDC-08313DD66C00}"/>
                  </a:ext>
                </a:extLst>
              </p:cNvPr>
              <p:cNvSpPr txBox="1"/>
              <p:nvPr/>
            </p:nvSpPr>
            <p:spPr bwMode="auto">
              <a:xfrm>
                <a:off x="2045482" y="4002155"/>
                <a:ext cx="5340374" cy="930922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func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46" name="Object 2">
                <a:extLst>
                  <a:ext uri="{FF2B5EF4-FFF2-40B4-BE49-F238E27FC236}">
                    <a16:creationId xmlns:a16="http://schemas.microsoft.com/office/drawing/2014/main" id="{968000EF-2786-48DB-9CDC-08313DD66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45482" y="4002155"/>
                <a:ext cx="5340374" cy="9309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33D92CA2-2C22-4A1A-BE70-5DC21B4BB71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2CD33C21-31BE-4385-BD73-0349DA99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CE6F7A0-9F78-4207-8887-85CF227255A9}" type="slidenum">
              <a:rPr lang="en-US" altLang="zh-CN">
                <a:solidFill>
                  <a:srgbClr val="898989"/>
                </a:solidFill>
              </a:rPr>
              <a:pPr algn="ctr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1" name="Rectangle 2">
            <a:extLst>
              <a:ext uri="{FF2B5EF4-FFF2-40B4-BE49-F238E27FC236}">
                <a16:creationId xmlns:a16="http://schemas.microsoft.com/office/drawing/2014/main" id="{7F860CF7-858C-4D51-8773-8BCAA81BD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88" y="145382"/>
            <a:ext cx="8229600" cy="790490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一般累积量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4D69E514-95EA-4407-A401-D67687FAA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先将</a:t>
            </a:r>
            <a:r>
              <a:rPr lang="en-US" altLang="zh-CN" sz="2800" i="1" dirty="0">
                <a:ea typeface="华文楷体" pitchFamily="2" charset="-122"/>
              </a:rPr>
              <a:t>G</a:t>
            </a:r>
            <a:r>
              <a:rPr lang="en-US" altLang="zh-CN" sz="2800" dirty="0">
                <a:ea typeface="华文楷体" pitchFamily="2" charset="-122"/>
              </a:rPr>
              <a:t>(</a:t>
            </a:r>
            <a:r>
              <a:rPr lang="en-US" altLang="zh-CN" sz="2800" i="1" dirty="0">
                <a:ea typeface="华文楷体" pitchFamily="2" charset="-122"/>
              </a:rPr>
              <a:t>e</a:t>
            </a:r>
            <a:r>
              <a:rPr lang="en-US" altLang="zh-CN" sz="2800" i="1" baseline="30000" dirty="0">
                <a:ea typeface="华文楷体" pitchFamily="2" charset="-122"/>
              </a:rPr>
              <a:t>t</a:t>
            </a:r>
            <a:r>
              <a:rPr lang="en-US" altLang="zh-CN" sz="2800" dirty="0">
                <a:ea typeface="华文楷体" pitchFamily="2" charset="-122"/>
              </a:rPr>
              <a:t>)</a:t>
            </a:r>
            <a:r>
              <a:rPr lang="zh-CN" altLang="en-US" sz="2800" dirty="0">
                <a:ea typeface="华文楷体" pitchFamily="2" charset="-122"/>
              </a:rPr>
              <a:t>展开</a:t>
            </a: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11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累积量定义式</a:t>
            </a:r>
            <a:r>
              <a:rPr lang="zh-CN" altLang="en-US" sz="2800" dirty="0">
                <a:ea typeface="华文楷体" pitchFamily="2" charset="-122"/>
              </a:rPr>
              <a:t>两边取指数，展开右边得到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6153" name="Rectangle 4">
            <a:extLst>
              <a:ext uri="{FF2B5EF4-FFF2-40B4-BE49-F238E27FC236}">
                <a16:creationId xmlns:a16="http://schemas.microsoft.com/office/drawing/2014/main" id="{88303F38-EA72-41E6-A670-F023B840E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4" name="Rectangle 6">
            <a:extLst>
              <a:ext uri="{FF2B5EF4-FFF2-40B4-BE49-F238E27FC236}">
                <a16:creationId xmlns:a16="http://schemas.microsoft.com/office/drawing/2014/main" id="{EFB91C3C-480B-4417-828A-AC0C9B3B4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Object 2">
                <a:extLst>
                  <a:ext uri="{FF2B5EF4-FFF2-40B4-BE49-F238E27FC236}">
                    <a16:creationId xmlns:a16="http://schemas.microsoft.com/office/drawing/2014/main" id="{968000EF-2786-48DB-9CDC-08313DD66C00}"/>
                  </a:ext>
                </a:extLst>
              </p:cNvPr>
              <p:cNvSpPr txBox="1"/>
              <p:nvPr/>
            </p:nvSpPr>
            <p:spPr bwMode="auto">
              <a:xfrm>
                <a:off x="3923928" y="858356"/>
                <a:ext cx="5340374" cy="93092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func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46" name="Object 2">
                <a:extLst>
                  <a:ext uri="{FF2B5EF4-FFF2-40B4-BE49-F238E27FC236}">
                    <a16:creationId xmlns:a16="http://schemas.microsoft.com/office/drawing/2014/main" id="{968000EF-2786-48DB-9CDC-08313DD66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3928" y="858356"/>
                <a:ext cx="5340374" cy="9309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Object 3">
                <a:extLst>
                  <a:ext uri="{FF2B5EF4-FFF2-40B4-BE49-F238E27FC236}">
                    <a16:creationId xmlns:a16="http://schemas.microsoft.com/office/drawing/2014/main" id="{5C18DF8E-040F-499C-9E30-E772F1F08CF0}"/>
                  </a:ext>
                </a:extLst>
              </p:cNvPr>
              <p:cNvSpPr txBox="1"/>
              <p:nvPr/>
            </p:nvSpPr>
            <p:spPr bwMode="auto">
              <a:xfrm>
                <a:off x="1586948" y="1751806"/>
                <a:ext cx="6297419" cy="2109241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𝑘𝑡</m:t>
                              </m:r>
                            </m:sup>
                          </m:sSup>
                        </m:e>
                      </m:nary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147" name="Object 3">
                <a:extLst>
                  <a:ext uri="{FF2B5EF4-FFF2-40B4-BE49-F238E27FC236}">
                    <a16:creationId xmlns:a16="http://schemas.microsoft.com/office/drawing/2014/main" id="{5C18DF8E-040F-499C-9E30-E772F1F08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6948" y="1751806"/>
                <a:ext cx="6297419" cy="21092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8" name="Object 4">
                <a:extLst>
                  <a:ext uri="{FF2B5EF4-FFF2-40B4-BE49-F238E27FC236}">
                    <a16:creationId xmlns:a16="http://schemas.microsoft.com/office/drawing/2014/main" id="{939D0883-78DD-4E3D-B416-18B6664BA36D}"/>
                  </a:ext>
                </a:extLst>
              </p:cNvPr>
              <p:cNvSpPr txBox="1"/>
              <p:nvPr/>
            </p:nvSpPr>
            <p:spPr bwMode="auto">
              <a:xfrm>
                <a:off x="1575836" y="3082924"/>
                <a:ext cx="3932268" cy="9309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48" name="Object 4">
                <a:extLst>
                  <a:ext uri="{FF2B5EF4-FFF2-40B4-BE49-F238E27FC236}">
                    <a16:creationId xmlns:a16="http://schemas.microsoft.com/office/drawing/2014/main" id="{939D0883-78DD-4E3D-B416-18B6664BA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5836" y="3082924"/>
                <a:ext cx="3932268" cy="9309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圆角矩形 15">
            <a:extLst>
              <a:ext uri="{FF2B5EF4-FFF2-40B4-BE49-F238E27FC236}">
                <a16:creationId xmlns:a16="http://schemas.microsoft.com/office/drawing/2014/main" id="{A3C55EB1-8498-43C5-9EDF-5C0F2A9F9A35}"/>
              </a:ext>
            </a:extLst>
          </p:cNvPr>
          <p:cNvSpPr/>
          <p:nvPr/>
        </p:nvSpPr>
        <p:spPr>
          <a:xfrm>
            <a:off x="5933226" y="3075622"/>
            <a:ext cx="2449513" cy="6492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>
                <a:solidFill>
                  <a:srgbClr val="FFFF00"/>
                </a:solidFill>
                <a:latin typeface="+mj-lt"/>
                <a:ea typeface="楷体" pitchFamily="49" charset="-122"/>
              </a:rPr>
              <a:t>m</a:t>
            </a:r>
            <a:r>
              <a:rPr lang="zh-CN" altLang="en-US" sz="2400">
                <a:solidFill>
                  <a:srgbClr val="FFFF00"/>
                </a:solidFill>
                <a:latin typeface="+mj-lt"/>
                <a:ea typeface="楷体" pitchFamily="49" charset="-122"/>
              </a:rPr>
              <a:t>阶（原点）矩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022115" y="4602687"/>
                <a:ext cx="4572000" cy="130888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kern="15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5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zh-CN" b="0" i="1" kern="15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kern="15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kern="15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b="0" i="1" kern="15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b="0" i="1" kern="15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zh-CN" i="1" kern="1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i="1" kern="15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i="1" kern="15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1 </m:t>
                                  </m:r>
                                </m:num>
                                <m:den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zh-CN" altLang="zh-CN" i="1" kern="15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zh-CN" i="1" kern="15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+…)</m:t>
                              </m:r>
                            </m:num>
                            <m:den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US" altLang="zh-CN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i="1" kern="1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 kern="15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zh-CN" i="1" kern="15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5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i="1" kern="15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zh-CN" altLang="zh-CN" i="1" kern="15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 kern="15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1 </m:t>
                                      </m:r>
                                    </m:num>
                                    <m:den>
                                      <m:r>
                                        <a:rPr lang="en-US" altLang="zh-CN" i="1" kern="15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zh-CN" altLang="zh-CN" i="1" kern="15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kern="15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altLang="zh-CN" i="1" kern="15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zh-CN" altLang="zh-CN" i="1" kern="15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 kern="15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zh-CN" i="1" kern="150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+…)</m:t>
                                  </m:r>
                                </m:e>
                                <m:sup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US" altLang="zh-CN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+…</m:t>
                          </m:r>
                        </m:e>
                        <m:sub/>
                      </m:sSub>
                    </m:oMath>
                  </m:oMathPara>
                </a14:m>
                <a:endParaRPr lang="zh-CN" altLang="zh-CN" kern="150" dirty="0">
                  <a:effectLst/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kern="15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=1+</m:t>
                          </m:r>
                          <m:sSub>
                            <m:sSubPr>
                              <m:ctrlPr>
                                <a:rPr lang="zh-CN" altLang="zh-CN" i="1" kern="1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i="1" kern="1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1 </m:t>
                              </m:r>
                            </m:num>
                            <m:den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zh-CN" altLang="zh-CN" i="1" kern="1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 kern="1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zh-CN" i="1" kern="15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zh-CN" i="1" kern="15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 kern="15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i="1" kern="15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 kern="15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+…</m:t>
                          </m:r>
                        </m:e>
                        <m:sub/>
                      </m:sSub>
                    </m:oMath>
                  </m:oMathPara>
                </a14:m>
                <a:endParaRPr lang="zh-CN" altLang="zh-CN" kern="150" dirty="0">
                  <a:effectLst/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115" y="4602687"/>
                <a:ext cx="4572000" cy="1308884"/>
              </a:xfrm>
              <a:prstGeom prst="rect">
                <a:avLst/>
              </a:prstGeom>
              <a:blipFill rotWithShape="0">
                <a:blip r:embed="rId5"/>
                <a:stretch>
                  <a:fillRect l="-18533" r="-13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14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EB3DF5B-888E-4F20-A24E-8C3137A41A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FB1D0C90-46E4-4CB9-9993-01AB62D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1DCB120-F0C8-4B9C-AEE8-DB83F4ADFF5B}" type="slidenum">
              <a:rPr lang="en-US" altLang="zh-CN">
                <a:solidFill>
                  <a:srgbClr val="898989"/>
                </a:solidFill>
              </a:rPr>
              <a:pPr algn="ctr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5" name="Rectangle 2">
            <a:extLst>
              <a:ext uri="{FF2B5EF4-FFF2-40B4-BE49-F238E27FC236}">
                <a16:creationId xmlns:a16="http://schemas.microsoft.com/office/drawing/2014/main" id="{39D05D9E-BD4E-40EA-A492-629380E38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8900"/>
            <a:ext cx="8229600" cy="711064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一般累积量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87312A88-4BDB-4648-A92B-5F9860AE9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1412874"/>
            <a:ext cx="8712968" cy="5112469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联立</a:t>
            </a:r>
            <a:r>
              <a:rPr lang="en-US" altLang="zh-CN" sz="2800" i="1" dirty="0">
                <a:ea typeface="华文楷体" pitchFamily="2" charset="-122"/>
              </a:rPr>
              <a:t>G</a:t>
            </a:r>
            <a:r>
              <a:rPr lang="en-US" altLang="zh-CN" sz="2800" dirty="0">
                <a:ea typeface="华文楷体" pitchFamily="2" charset="-122"/>
              </a:rPr>
              <a:t>(</a:t>
            </a:r>
            <a:r>
              <a:rPr lang="en-US" altLang="zh-CN" sz="2800" i="1" dirty="0">
                <a:ea typeface="华文楷体" pitchFamily="2" charset="-122"/>
              </a:rPr>
              <a:t>e</a:t>
            </a:r>
            <a:r>
              <a:rPr lang="en-US" altLang="zh-CN" sz="2800" i="1" baseline="30000" dirty="0">
                <a:ea typeface="华文楷体" pitchFamily="2" charset="-122"/>
              </a:rPr>
              <a:t>t</a:t>
            </a:r>
            <a:r>
              <a:rPr lang="en-US" altLang="zh-CN" sz="2800" dirty="0">
                <a:ea typeface="华文楷体" pitchFamily="2" charset="-122"/>
              </a:rPr>
              <a:t>)</a:t>
            </a:r>
            <a:r>
              <a:rPr lang="zh-CN" altLang="en-US" sz="2800" dirty="0">
                <a:ea typeface="华文楷体" pitchFamily="2" charset="-122"/>
              </a:rPr>
              <a:t>的两个展开式，即可得到使用各阶矩给出的各阶累积统计量</a:t>
            </a: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r>
              <a:rPr lang="zh-CN" altLang="en-US" sz="2800" dirty="0">
                <a:ea typeface="华文楷体" pitchFamily="2" charset="-122"/>
              </a:rPr>
              <a:t>独立随机变量的累积量是可加的（如均值和方差），因为乘积的对数是和，两个概率生成函数乘积的各个累积量是分别的累积量的和</a:t>
            </a:r>
            <a:endParaRPr lang="en-US" altLang="zh-CN" sz="2800" dirty="0">
              <a:ea typeface="华文楷体" pitchFamily="2" charset="-122"/>
            </a:endParaRPr>
          </a:p>
          <a:p>
            <a:endParaRPr lang="en-US" altLang="zh-CN" sz="2800" dirty="0">
              <a:ea typeface="华文楷体" pitchFamily="2" charset="-122"/>
            </a:endParaRPr>
          </a:p>
          <a:p>
            <a:endParaRPr lang="en-US" altLang="zh-CN" sz="2800" dirty="0">
              <a:ea typeface="华文楷体" pitchFamily="2" charset="-122"/>
            </a:endParaRPr>
          </a:p>
          <a:p>
            <a:r>
              <a:rPr lang="zh-CN" altLang="en-US" sz="2800" dirty="0">
                <a:ea typeface="华文楷体" pitchFamily="2" charset="-122"/>
              </a:rPr>
              <a:t>累积量比矩更重要</a:t>
            </a:r>
          </a:p>
        </p:txBody>
      </p:sp>
      <p:sp>
        <p:nvSpPr>
          <p:cNvPr id="7177" name="Rectangle 4">
            <a:extLst>
              <a:ext uri="{FF2B5EF4-FFF2-40B4-BE49-F238E27FC236}">
                <a16:creationId xmlns:a16="http://schemas.microsoft.com/office/drawing/2014/main" id="{E8FA3572-8167-41C6-B486-C257F7864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8" name="Rectangle 6">
            <a:extLst>
              <a:ext uri="{FF2B5EF4-FFF2-40B4-BE49-F238E27FC236}">
                <a16:creationId xmlns:a16="http://schemas.microsoft.com/office/drawing/2014/main" id="{143EBE0C-1585-4D8E-B67F-194A4F9A8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Object 4">
                <a:extLst>
                  <a:ext uri="{FF2B5EF4-FFF2-40B4-BE49-F238E27FC236}">
                    <a16:creationId xmlns:a16="http://schemas.microsoft.com/office/drawing/2014/main" id="{D67B15D9-3DD3-4EE5-8351-CCD68A3C09FF}"/>
                  </a:ext>
                </a:extLst>
              </p:cNvPr>
              <p:cNvSpPr txBox="1"/>
              <p:nvPr/>
            </p:nvSpPr>
            <p:spPr bwMode="auto">
              <a:xfrm>
                <a:off x="4932040" y="1772742"/>
                <a:ext cx="4527550" cy="79216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171" name="Object 4">
                <a:extLst>
                  <a:ext uri="{FF2B5EF4-FFF2-40B4-BE49-F238E27FC236}">
                    <a16:creationId xmlns:a16="http://schemas.microsoft.com/office/drawing/2014/main" id="{D67B15D9-3DD3-4EE5-8351-CCD68A3C0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2040" y="1772742"/>
                <a:ext cx="4527550" cy="7921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2" name="Object 5">
                <a:extLst>
                  <a:ext uri="{FF2B5EF4-FFF2-40B4-BE49-F238E27FC236}">
                    <a16:creationId xmlns:a16="http://schemas.microsoft.com/office/drawing/2014/main" id="{FA6474BF-2FDB-404E-8BB2-CC9D19D248C8}"/>
                  </a:ext>
                </a:extLst>
              </p:cNvPr>
              <p:cNvSpPr txBox="1"/>
              <p:nvPr/>
            </p:nvSpPr>
            <p:spPr bwMode="auto">
              <a:xfrm>
                <a:off x="946497" y="2161381"/>
                <a:ext cx="3337471" cy="130571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Sup>
                        <m:sSub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72" name="Object 5">
                <a:extLst>
                  <a:ext uri="{FF2B5EF4-FFF2-40B4-BE49-F238E27FC236}">
                    <a16:creationId xmlns:a16="http://schemas.microsoft.com/office/drawing/2014/main" id="{FA6474BF-2FDB-404E-8BB2-CC9D19D24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6497" y="2161381"/>
                <a:ext cx="3337471" cy="130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11">
            <a:extLst>
              <a:ext uri="{FF2B5EF4-FFF2-40B4-BE49-F238E27FC236}">
                <a16:creationId xmlns:a16="http://schemas.microsoft.com/office/drawing/2014/main" id="{7E508F34-93F4-4718-BC58-09E3D5EE131E}"/>
              </a:ext>
            </a:extLst>
          </p:cNvPr>
          <p:cNvSpPr/>
          <p:nvPr/>
        </p:nvSpPr>
        <p:spPr>
          <a:xfrm>
            <a:off x="-46832" y="1974783"/>
            <a:ext cx="1008063" cy="503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均值</a:t>
            </a:r>
            <a:endParaRPr lang="zh-CN" altLang="en-US">
              <a:solidFill>
                <a:srgbClr val="FFFF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8D21DCD-D487-4061-B296-2414AAD5D8FC}"/>
              </a:ext>
            </a:extLst>
          </p:cNvPr>
          <p:cNvSpPr/>
          <p:nvPr/>
        </p:nvSpPr>
        <p:spPr>
          <a:xfrm>
            <a:off x="-72678" y="2650264"/>
            <a:ext cx="1008063" cy="5048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方差</a:t>
            </a:r>
            <a:endParaRPr lang="zh-CN" altLang="en-US">
              <a:solidFill>
                <a:srgbClr val="FFFF00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">
                <a:extLst>
                  <a:ext uri="{FF2B5EF4-FFF2-40B4-BE49-F238E27FC236}">
                    <a16:creationId xmlns:a16="http://schemas.microsoft.com/office/drawing/2014/main" id="{99304197-1A4F-461D-A744-A0E33F2AF13D}"/>
                  </a:ext>
                </a:extLst>
              </p:cNvPr>
              <p:cNvSpPr txBox="1"/>
              <p:nvPr/>
            </p:nvSpPr>
            <p:spPr bwMode="auto">
              <a:xfrm>
                <a:off x="4946694" y="2468702"/>
                <a:ext cx="1641530" cy="59997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Object 4">
                <a:extLst>
                  <a:ext uri="{FF2B5EF4-FFF2-40B4-BE49-F238E27FC236}">
                    <a16:creationId xmlns:a16="http://schemas.microsoft.com/office/drawing/2014/main" id="{99304197-1A4F-461D-A744-A0E33F2AF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6694" y="2468702"/>
                <a:ext cx="1641530" cy="5999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776D6671-7424-4519-96B4-14C458127125}"/>
                  </a:ext>
                </a:extLst>
              </p:cNvPr>
              <p:cNvSpPr txBox="1"/>
              <p:nvPr/>
            </p:nvSpPr>
            <p:spPr bwMode="auto">
              <a:xfrm>
                <a:off x="4932040" y="3057277"/>
                <a:ext cx="2592288" cy="46546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zh-C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776D6671-7424-4519-96B4-14C458127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2040" y="3057277"/>
                <a:ext cx="2592288" cy="465462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0EB96149-B365-4752-929F-5A4C7A4A8063}"/>
                  </a:ext>
                </a:extLst>
              </p:cNvPr>
              <p:cNvSpPr txBox="1"/>
              <p:nvPr/>
            </p:nvSpPr>
            <p:spPr bwMode="auto">
              <a:xfrm>
                <a:off x="987891" y="5076254"/>
                <a:ext cx="6912769" cy="116105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func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func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func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4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400" b="0" dirty="0">
                    <a:solidFill>
                      <a:srgbClr val="00000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zh-CN" altLang="en-US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zh-CN" altLang="en-US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1" baseline="-250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zh-CN" sz="2400" b="0" i="1" baseline="-250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zh-CN" sz="2400" b="0" i="1" baseline="-250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zh-CN" sz="2400" b="0" i="1" baseline="-250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altLang="zh-CN" sz="2400" b="0" i="1" baseline="-250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Object 2">
                <a:extLst>
                  <a:ext uri="{FF2B5EF4-FFF2-40B4-BE49-F238E27FC236}">
                    <a16:creationId xmlns:a16="http://schemas.microsoft.com/office/drawing/2014/main" id="{0EB96149-B365-4752-929F-5A4C7A4A8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7891" y="5076254"/>
                <a:ext cx="6912769" cy="1161058"/>
              </a:xfrm>
              <a:prstGeom prst="rect">
                <a:avLst/>
              </a:prstGeom>
              <a:blipFill>
                <a:blip r:embed="rId8"/>
                <a:stretch>
                  <a:fillRect l="-2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5C18DF8E-040F-499C-9E30-E772F1F08CF0}"/>
                  </a:ext>
                </a:extLst>
              </p:cNvPr>
              <p:cNvSpPr txBox="1"/>
              <p:nvPr/>
            </p:nvSpPr>
            <p:spPr bwMode="auto">
              <a:xfrm>
                <a:off x="4971266" y="775724"/>
                <a:ext cx="4068521" cy="57834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5C18DF8E-040F-499C-9E30-E772F1F08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1266" y="775724"/>
                <a:ext cx="4068521" cy="5783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EB3DF5B-888E-4F20-A24E-8C3137A41A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FB1D0C90-46E4-4CB9-9993-01AB62D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1DCB120-F0C8-4B9C-AEE8-DB83F4ADFF5B}" type="slidenum">
              <a:rPr lang="en-US" altLang="zh-CN">
                <a:solidFill>
                  <a:srgbClr val="898989"/>
                </a:solidFill>
              </a:rPr>
              <a:pPr algn="ctr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5" name="Rectangle 2">
            <a:extLst>
              <a:ext uri="{FF2B5EF4-FFF2-40B4-BE49-F238E27FC236}">
                <a16:creationId xmlns:a16="http://schemas.microsoft.com/office/drawing/2014/main" id="{39D05D9E-BD4E-40EA-A492-629380E38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341655"/>
            <a:ext cx="8229600" cy="927103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应用一：随机常量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87312A88-4BDB-4648-A92B-5F9860AE9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9876" y="1556794"/>
            <a:ext cx="8568952" cy="4799556"/>
          </a:xfrm>
        </p:spPr>
        <p:txBody>
          <a:bodyPr rtlCol="0">
            <a:noAutofit/>
          </a:bodyPr>
          <a:lstStyle/>
          <a:p>
            <a:r>
              <a:rPr lang="zh-CN" altLang="en-US" sz="2800" dirty="0">
                <a:ea typeface="华文楷体" pitchFamily="2" charset="-122"/>
              </a:rPr>
              <a:t>随机常数：随机变量</a:t>
            </a:r>
            <a:r>
              <a:rPr lang="en-US" altLang="zh-CN" sz="2800" dirty="0">
                <a:ea typeface="华文楷体" pitchFamily="2" charset="-122"/>
              </a:rPr>
              <a:t>X </a:t>
            </a:r>
            <a:r>
              <a:rPr lang="zh-CN" altLang="en-US" sz="2800" dirty="0">
                <a:ea typeface="华文楷体" pitchFamily="2" charset="-122"/>
              </a:rPr>
              <a:t>以概率</a:t>
            </a:r>
            <a:r>
              <a:rPr lang="en-US" altLang="zh-CN" sz="2800" dirty="0">
                <a:ea typeface="华文楷体" pitchFamily="2" charset="-122"/>
              </a:rPr>
              <a:t>1</a:t>
            </a:r>
            <a:r>
              <a:rPr lang="zh-CN" altLang="en-US" sz="2800" dirty="0">
                <a:ea typeface="华文楷体" pitchFamily="2" charset="-122"/>
              </a:rPr>
              <a:t>取固定值</a:t>
            </a:r>
            <a:r>
              <a:rPr lang="en-US" altLang="zh-CN" sz="2800" dirty="0">
                <a:ea typeface="华文楷体" pitchFamily="2" charset="-122"/>
              </a:rPr>
              <a:t>x</a:t>
            </a:r>
          </a:p>
          <a:p>
            <a:endParaRPr lang="en-US" altLang="zh-CN" sz="2800" dirty="0">
              <a:ea typeface="华文楷体" pitchFamily="2" charset="-122"/>
            </a:endParaRPr>
          </a:p>
          <a:p>
            <a:r>
              <a:rPr lang="zh-CN" altLang="en-US" sz="2800" dirty="0">
                <a:ea typeface="华文楷体" pitchFamily="2" charset="-122"/>
              </a:rPr>
              <a:t>生成函数</a:t>
            </a:r>
            <a:r>
              <a:rPr lang="en-US" altLang="zh-CN" sz="2800" dirty="0" err="1">
                <a:ea typeface="华文楷体" pitchFamily="2" charset="-122"/>
              </a:rPr>
              <a:t>G</a:t>
            </a:r>
            <a:r>
              <a:rPr lang="en-US" altLang="zh-CN" sz="2800" baseline="-25000" dirty="0" err="1">
                <a:ea typeface="华文楷体" pitchFamily="2" charset="-122"/>
              </a:rPr>
              <a:t>x</a:t>
            </a:r>
            <a:r>
              <a:rPr lang="en-US" altLang="zh-CN" sz="2800" dirty="0">
                <a:ea typeface="华文楷体" pitchFamily="2" charset="-122"/>
              </a:rPr>
              <a:t>(z) = </a:t>
            </a:r>
            <a:r>
              <a:rPr lang="en-US" altLang="zh-CN" sz="2800" dirty="0" err="1">
                <a:ea typeface="华文楷体" pitchFamily="2" charset="-122"/>
              </a:rPr>
              <a:t>z</a:t>
            </a:r>
            <a:r>
              <a:rPr lang="en-US" altLang="zh-CN" sz="2800" baseline="30000" dirty="0" err="1">
                <a:ea typeface="华文楷体" pitchFamily="2" charset="-122"/>
              </a:rPr>
              <a:t>x</a:t>
            </a:r>
            <a:r>
              <a:rPr lang="zh-CN" altLang="en-US" sz="2800" dirty="0">
                <a:ea typeface="华文楷体" pitchFamily="2" charset="-122"/>
              </a:rPr>
              <a:t>，</a:t>
            </a:r>
            <a:r>
              <a:rPr lang="en-US" altLang="zh-CN" sz="2800" dirty="0">
                <a:ea typeface="华文楷体" pitchFamily="2" charset="-122"/>
              </a:rPr>
              <a:t> </a:t>
            </a:r>
            <a:r>
              <a:rPr lang="en-US" altLang="zh-CN" sz="2800" dirty="0" err="1">
                <a:ea typeface="华文楷体" pitchFamily="2" charset="-122"/>
              </a:rPr>
              <a:t>lnG</a:t>
            </a:r>
            <a:r>
              <a:rPr lang="en-US" altLang="zh-CN" sz="2800" baseline="-25000" dirty="0" err="1">
                <a:ea typeface="华文楷体" pitchFamily="2" charset="-122"/>
              </a:rPr>
              <a:t>x</a:t>
            </a:r>
            <a:r>
              <a:rPr lang="en-US" altLang="zh-CN" sz="2800" dirty="0">
                <a:ea typeface="华文楷体" pitchFamily="2" charset="-122"/>
              </a:rPr>
              <a:t>(e</a:t>
            </a:r>
            <a:r>
              <a:rPr lang="en-US" altLang="zh-CN" sz="2800" baseline="30000" dirty="0">
                <a:ea typeface="华文楷体" pitchFamily="2" charset="-122"/>
              </a:rPr>
              <a:t>t</a:t>
            </a:r>
            <a:r>
              <a:rPr lang="en-US" altLang="zh-CN" sz="2800" dirty="0">
                <a:ea typeface="华文楷体" pitchFamily="2" charset="-122"/>
              </a:rPr>
              <a:t>) =</a:t>
            </a:r>
            <a:r>
              <a:rPr lang="zh-CN" altLang="en-US" sz="2800" dirty="0">
                <a:ea typeface="华文楷体" pitchFamily="2" charset="-122"/>
              </a:rPr>
              <a:t> </a:t>
            </a:r>
            <a:r>
              <a:rPr lang="en-US" altLang="zh-CN" sz="2800" dirty="0" err="1">
                <a:ea typeface="华文楷体" pitchFamily="2" charset="-122"/>
              </a:rPr>
              <a:t>xt</a:t>
            </a:r>
            <a:endParaRPr lang="en-US" altLang="zh-CN" sz="2800" dirty="0">
              <a:ea typeface="华文楷体" pitchFamily="2" charset="-122"/>
            </a:endParaRPr>
          </a:p>
          <a:p>
            <a:r>
              <a:rPr lang="zh-CN" altLang="en-US" sz="2800" dirty="0">
                <a:ea typeface="华文楷体" pitchFamily="2" charset="-122"/>
              </a:rPr>
              <a:t>均值为</a:t>
            </a:r>
            <a:r>
              <a:rPr lang="en-US" altLang="zh-CN" sz="2800" dirty="0">
                <a:ea typeface="华文楷体" pitchFamily="2" charset="-122"/>
              </a:rPr>
              <a:t>x </a:t>
            </a:r>
            <a:r>
              <a:rPr lang="zh-CN" altLang="en-US" sz="2800" dirty="0">
                <a:ea typeface="华文楷体" pitchFamily="2" charset="-122"/>
              </a:rPr>
              <a:t>，其他所有累积量（包括方差）为零</a:t>
            </a:r>
            <a:endParaRPr lang="en-US" altLang="zh-CN" sz="2800" dirty="0">
              <a:ea typeface="华文楷体" pitchFamily="2" charset="-122"/>
            </a:endParaRPr>
          </a:p>
          <a:p>
            <a:endParaRPr lang="en-US" altLang="zh-CN" sz="2800" dirty="0">
              <a:ea typeface="华文楷体" pitchFamily="2" charset="-122"/>
            </a:endParaRPr>
          </a:p>
          <a:p>
            <a:r>
              <a:rPr lang="zh-CN" altLang="en-US" sz="2800" dirty="0">
                <a:ea typeface="华文楷体" pitchFamily="2" charset="-122"/>
              </a:rPr>
              <a:t>用</a:t>
            </a:r>
            <a:r>
              <a:rPr lang="en-US" altLang="zh-CN" sz="2800" dirty="0" err="1">
                <a:ea typeface="华文楷体" pitchFamily="2" charset="-122"/>
              </a:rPr>
              <a:t>z</a:t>
            </a:r>
            <a:r>
              <a:rPr lang="en-US" altLang="zh-CN" sz="2800" baseline="30000" dirty="0" err="1">
                <a:ea typeface="华文楷体" pitchFamily="2" charset="-122"/>
              </a:rPr>
              <a:t>x</a:t>
            </a:r>
            <a:r>
              <a:rPr lang="en-US" altLang="zh-CN" sz="2800" baseline="30000" dirty="0">
                <a:ea typeface="华文楷体" pitchFamily="2" charset="-122"/>
              </a:rPr>
              <a:t> </a:t>
            </a:r>
            <a:r>
              <a:rPr lang="zh-CN" altLang="en-US" sz="2800" dirty="0">
                <a:ea typeface="华文楷体" pitchFamily="2" charset="-122"/>
              </a:rPr>
              <a:t>乘以任何概率生成函数的运算都使均值增加</a:t>
            </a:r>
            <a:r>
              <a:rPr lang="en-US" altLang="zh-CN" sz="2800" dirty="0">
                <a:ea typeface="华文楷体" pitchFamily="2" charset="-122"/>
              </a:rPr>
              <a:t>x </a:t>
            </a:r>
            <a:r>
              <a:rPr lang="zh-CN" altLang="en-US" sz="2800" dirty="0">
                <a:ea typeface="华文楷体" pitchFamily="2" charset="-122"/>
              </a:rPr>
              <a:t>，保持方差以及所有其他的累积量不变</a:t>
            </a:r>
            <a:endParaRPr lang="en-US" altLang="zh-CN" sz="2800" dirty="0">
              <a:ea typeface="华文楷体" pitchFamily="2" charset="-122"/>
            </a:endParaRPr>
          </a:p>
          <a:p>
            <a:pPr marL="0" indent="0">
              <a:buNone/>
            </a:pPr>
            <a:endParaRPr lang="en-US" altLang="zh-CN" sz="2800" dirty="0">
              <a:ea typeface="华文楷体" pitchFamily="2" charset="-122"/>
            </a:endParaRPr>
          </a:p>
        </p:txBody>
      </p:sp>
      <p:sp>
        <p:nvSpPr>
          <p:cNvPr id="7177" name="Rectangle 4">
            <a:extLst>
              <a:ext uri="{FF2B5EF4-FFF2-40B4-BE49-F238E27FC236}">
                <a16:creationId xmlns:a16="http://schemas.microsoft.com/office/drawing/2014/main" id="{E8FA3572-8167-41C6-B486-C257F7864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8" name="Rectangle 6">
            <a:extLst>
              <a:ext uri="{FF2B5EF4-FFF2-40B4-BE49-F238E27FC236}">
                <a16:creationId xmlns:a16="http://schemas.microsoft.com/office/drawing/2014/main" id="{143EBE0C-1585-4D8E-B67F-194A4F9A8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968000EF-2786-48DB-9CDC-08313DD66C00}"/>
                  </a:ext>
                </a:extLst>
              </p:cNvPr>
              <p:cNvSpPr txBox="1"/>
              <p:nvPr/>
            </p:nvSpPr>
            <p:spPr bwMode="auto">
              <a:xfrm>
                <a:off x="4536504" y="3573016"/>
                <a:ext cx="4788024" cy="6480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func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968000EF-2786-48DB-9CDC-08313DD66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6504" y="3573016"/>
                <a:ext cx="4788024" cy="6480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74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EB3DF5B-888E-4F20-A24E-8C3137A41A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7175" name="Rectangle 2">
            <a:extLst>
              <a:ext uri="{FF2B5EF4-FFF2-40B4-BE49-F238E27FC236}">
                <a16:creationId xmlns:a16="http://schemas.microsoft.com/office/drawing/2014/main" id="{39D05D9E-BD4E-40EA-A492-629380E38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341655"/>
            <a:ext cx="8229600" cy="927103"/>
          </a:xfrm>
        </p:spPr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应用二：骰子点数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87312A88-4BDB-4648-A92B-5F9860AE97B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69876" y="1556793"/>
                <a:ext cx="8568952" cy="4959549"/>
              </a:xfrm>
            </p:spPr>
            <p:txBody>
              <a:bodyPr rtlCol="0">
                <a:noAutofit/>
              </a:bodyPr>
              <a:lstStyle/>
              <a:p>
                <a:r>
                  <a:rPr lang="zh-CN" altLang="en-US" sz="2800" dirty="0">
                    <a:ea typeface="华文楷体" pitchFamily="2" charset="-122"/>
                  </a:rPr>
                  <a:t>随机变量：均匀骰子的点数，概率生成函数：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endParaRPr lang="en-US" altLang="zh-CN" sz="2800" dirty="0">
                  <a:ea typeface="华文楷体" pitchFamily="2" charset="-122"/>
                </a:endParaRPr>
              </a:p>
              <a:p>
                <a:r>
                  <a:rPr lang="zh-CN" altLang="en-US" sz="2800" dirty="0">
                    <a:ea typeface="华文楷体" pitchFamily="2" charset="-122"/>
                  </a:rPr>
                  <a:t>承前面的例子，相对于与</a:t>
                </a:r>
                <a:r>
                  <a:rPr lang="en-US" altLang="zh-CN" sz="2800" dirty="0">
                    <a:ea typeface="华文楷体" pitchFamily="2" charset="-122"/>
                  </a:rPr>
                  <a:t>6</a:t>
                </a:r>
                <a:r>
                  <a:rPr lang="zh-CN" altLang="en-US" sz="2800" dirty="0">
                    <a:ea typeface="华文楷体" pitchFamily="2" charset="-122"/>
                  </a:rPr>
                  <a:t>阶均匀随机变量，均值增加</a:t>
                </a:r>
                <a:r>
                  <a:rPr lang="en-US" altLang="zh-CN" sz="2800" dirty="0">
                    <a:ea typeface="华文楷体" pitchFamily="2" charset="-122"/>
                  </a:rPr>
                  <a:t>1</a:t>
                </a:r>
                <a:r>
                  <a:rPr lang="zh-CN" altLang="en-US" sz="2800" dirty="0">
                    <a:ea typeface="华文楷体" pitchFamily="2" charset="-122"/>
                  </a:rPr>
                  <a:t>，为</a:t>
                </a:r>
                <a:r>
                  <a:rPr lang="en-US" altLang="zh-CN" sz="2800" dirty="0">
                    <a:ea typeface="华文楷体" pitchFamily="2" charset="-122"/>
                  </a:rPr>
                  <a:t>3.5</a:t>
                </a:r>
                <a:r>
                  <a:rPr lang="zh-CN" altLang="en-US" sz="2800" dirty="0">
                    <a:ea typeface="华文楷体" pitchFamily="2" charset="-122"/>
                  </a:rPr>
                  <a:t>，方差不变，仍为</a:t>
                </a:r>
                <a:r>
                  <a:rPr lang="en-US" altLang="zh-CN" sz="2800" dirty="0">
                    <a:ea typeface="华文楷体" pitchFamily="2" charset="-122"/>
                  </a:rPr>
                  <a:t>35/12</a:t>
                </a:r>
              </a:p>
              <a:p>
                <a:endParaRPr lang="en-US" altLang="zh-CN" sz="2800" dirty="0">
                  <a:ea typeface="华文楷体" pitchFamily="2" charset="-122"/>
                </a:endParaRPr>
              </a:p>
              <a:p>
                <a:r>
                  <a:rPr lang="zh-CN" altLang="en-US" sz="2800" dirty="0">
                    <a:ea typeface="华文楷体" pitchFamily="2" charset="-122"/>
                  </a:rPr>
                  <a:t>随机变量</a:t>
                </a:r>
                <a:r>
                  <a:rPr lang="en-US" altLang="zh-CN" sz="2800" dirty="0">
                    <a:ea typeface="华文楷体" pitchFamily="2" charset="-122"/>
                  </a:rPr>
                  <a:t>S</a:t>
                </a:r>
                <a:r>
                  <a:rPr lang="zh-CN" altLang="en-US" sz="2800" dirty="0">
                    <a:ea typeface="华文楷体" pitchFamily="2" charset="-122"/>
                  </a:rPr>
                  <a:t>：掷骰子</a:t>
                </a:r>
                <a:r>
                  <a:rPr lang="en-US" altLang="zh-CN" sz="2800" dirty="0"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ea typeface="华文楷体" pitchFamily="2" charset="-122"/>
                  </a:rPr>
                  <a:t>次的总点数，概率生成函数：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800" dirty="0"/>
                  <a:t>=z</a:t>
                </a:r>
                <a:r>
                  <a:rPr lang="en-US" altLang="zh-CN" sz="2800" baseline="30000" dirty="0"/>
                  <a:t>2</a:t>
                </a:r>
                <a:r>
                  <a:rPr lang="en-US" altLang="zh-CN" sz="2800" dirty="0"/>
                  <a:t>U</a:t>
                </a:r>
                <a:r>
                  <a:rPr lang="en-US" altLang="zh-CN" sz="2800" baseline="-25000" dirty="0"/>
                  <a:t>6</a:t>
                </a:r>
                <a:r>
                  <a:rPr lang="en-US" altLang="zh-CN" sz="2800" dirty="0"/>
                  <a:t>(z)</a:t>
                </a:r>
                <a:r>
                  <a:rPr lang="en-US" altLang="zh-CN" sz="2800" baseline="30000" dirty="0"/>
                  <a:t>2</a:t>
                </a:r>
                <a:r>
                  <a:rPr lang="zh-CN" altLang="en-US" sz="2800" dirty="0">
                    <a:ea typeface="华文楷体" pitchFamily="2" charset="-122"/>
                  </a:rPr>
                  <a:t>，均值是</a:t>
                </a:r>
                <a:r>
                  <a:rPr lang="en-US" altLang="zh-CN" sz="2800" dirty="0">
                    <a:ea typeface="华文楷体" pitchFamily="2" charset="-122"/>
                  </a:rPr>
                  <a:t>U</a:t>
                </a:r>
                <a:r>
                  <a:rPr lang="en-US" altLang="zh-CN" sz="2800" baseline="-25000" dirty="0"/>
                  <a:t>6</a:t>
                </a:r>
                <a:r>
                  <a:rPr lang="zh-CN" altLang="en-US" sz="2800" dirty="0">
                    <a:ea typeface="华文楷体" pitchFamily="2" charset="-122"/>
                  </a:rPr>
                  <a:t>的</a:t>
                </a:r>
                <a:r>
                  <a:rPr lang="en-US" altLang="zh-CN" sz="2800" dirty="0"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ea typeface="华文楷体" pitchFamily="2" charset="-122"/>
                  </a:rPr>
                  <a:t>倍</a:t>
                </a:r>
                <a:r>
                  <a:rPr lang="en-US" altLang="zh-CN" sz="2800" dirty="0">
                    <a:ea typeface="华文楷体" pitchFamily="2" charset="-122"/>
                  </a:rPr>
                  <a:t>+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2</a:t>
                </a:r>
                <a:r>
                  <a:rPr lang="zh-CN" altLang="en-US" sz="2800" dirty="0">
                    <a:ea typeface="华文楷体" pitchFamily="2" charset="-122"/>
                    <a:sym typeface="Symbol" panose="05050102010706020507" pitchFamily="18" charset="2"/>
                  </a:rPr>
                  <a:t>，</a:t>
                </a:r>
                <a:r>
                  <a:rPr lang="zh-CN" altLang="en-US" sz="2800" dirty="0">
                    <a:ea typeface="华文楷体" pitchFamily="2" charset="-122"/>
                  </a:rPr>
                  <a:t>方差是</a:t>
                </a:r>
                <a:r>
                  <a:rPr lang="en-US" altLang="zh-CN" sz="2800" dirty="0">
                    <a:ea typeface="华文楷体" pitchFamily="2" charset="-122"/>
                  </a:rPr>
                  <a:t>U</a:t>
                </a:r>
                <a:r>
                  <a:rPr lang="en-US" altLang="zh-CN" sz="2800" baseline="-25000" dirty="0"/>
                  <a:t>6</a:t>
                </a:r>
                <a:r>
                  <a:rPr lang="zh-CN" altLang="en-US" sz="2800" dirty="0">
                    <a:ea typeface="华文楷体" pitchFamily="2" charset="-122"/>
                  </a:rPr>
                  <a:t>的</a:t>
                </a:r>
                <a:r>
                  <a:rPr lang="en-US" altLang="zh-CN" sz="2800" dirty="0"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ea typeface="华文楷体" pitchFamily="2" charset="-122"/>
                  </a:rPr>
                  <a:t>倍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marL="0" indent="0">
                  <a:buNone/>
                </a:pPr>
                <a:endParaRPr lang="en-US" altLang="zh-CN" sz="2800" dirty="0">
                  <a:ea typeface="华文楷体" pitchFamily="2" charset="-122"/>
                </a:endParaRPr>
              </a:p>
              <a:p>
                <a:r>
                  <a:rPr lang="zh-CN" altLang="en-US" sz="2800" dirty="0">
                    <a:ea typeface="华文楷体" pitchFamily="2" charset="-122"/>
                  </a:rPr>
                  <a:t>随机变量：掷两个骰子</a:t>
                </a:r>
                <a:r>
                  <a:rPr lang="en-US" altLang="zh-CN" sz="2800" dirty="0"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ea typeface="华文楷体" pitchFamily="2" charset="-122"/>
                  </a:rPr>
                  <a:t>次的总点数，概率生成函数：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zh-CN" sz="28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800" dirty="0"/>
                  <a:t>=z</a:t>
                </a:r>
                <a:r>
                  <a:rPr lang="en-US" altLang="zh-CN" sz="2800" baseline="30000" dirty="0"/>
                  <a:t>2n</a:t>
                </a:r>
                <a:r>
                  <a:rPr lang="en-US" altLang="zh-CN" sz="2800" dirty="0"/>
                  <a:t>U</a:t>
                </a:r>
                <a:r>
                  <a:rPr lang="en-US" altLang="zh-CN" sz="2800" baseline="-25000" dirty="0"/>
                  <a:t>6</a:t>
                </a:r>
                <a:r>
                  <a:rPr lang="en-US" altLang="zh-CN" sz="2800" dirty="0"/>
                  <a:t>(z)</a:t>
                </a:r>
                <a:r>
                  <a:rPr lang="en-US" altLang="zh-CN" sz="2800" baseline="30000" dirty="0"/>
                  <a:t>2n</a:t>
                </a:r>
                <a:r>
                  <a:rPr lang="en-US" altLang="zh-CN" sz="2800" dirty="0">
                    <a:ea typeface="华文楷体" pitchFamily="2" charset="-122"/>
                  </a:rPr>
                  <a:t> </a:t>
                </a:r>
                <a:r>
                  <a:rPr lang="zh-CN" altLang="en-US" sz="2800" dirty="0">
                    <a:ea typeface="华文楷体" pitchFamily="2" charset="-122"/>
                  </a:rPr>
                  <a:t>均值是</a:t>
                </a:r>
                <a:r>
                  <a:rPr lang="en-US" altLang="zh-CN" sz="2800" dirty="0">
                    <a:ea typeface="华文楷体" pitchFamily="2" charset="-122"/>
                  </a:rPr>
                  <a:t>U</a:t>
                </a:r>
                <a:r>
                  <a:rPr lang="zh-CN" altLang="en-US" sz="2800" dirty="0">
                    <a:ea typeface="华文楷体" pitchFamily="2" charset="-122"/>
                  </a:rPr>
                  <a:t>的</a:t>
                </a:r>
                <a:r>
                  <a:rPr lang="en-US" altLang="zh-CN" sz="2800" dirty="0">
                    <a:ea typeface="华文楷体" pitchFamily="2" charset="-122"/>
                  </a:rPr>
                  <a:t>2n</a:t>
                </a:r>
                <a:r>
                  <a:rPr lang="zh-CN" altLang="en-US" sz="2800" dirty="0">
                    <a:ea typeface="华文楷体" pitchFamily="2" charset="-122"/>
                  </a:rPr>
                  <a:t>倍</a:t>
                </a:r>
                <a:r>
                  <a:rPr lang="en-US" altLang="zh-CN" sz="2800" dirty="0">
                    <a:ea typeface="华文楷体" pitchFamily="2" charset="-122"/>
                  </a:rPr>
                  <a:t>+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2n</a:t>
                </a:r>
                <a:r>
                  <a:rPr lang="zh-CN" altLang="en-US" sz="2800" dirty="0">
                    <a:ea typeface="华文楷体" pitchFamily="2" charset="-122"/>
                    <a:sym typeface="Symbol" panose="05050102010706020507" pitchFamily="18" charset="2"/>
                  </a:rPr>
                  <a:t>，</a:t>
                </a:r>
                <a:r>
                  <a:rPr lang="zh-CN" altLang="en-US" sz="2800" dirty="0">
                    <a:ea typeface="华文楷体" pitchFamily="2" charset="-122"/>
                  </a:rPr>
                  <a:t>方差是</a:t>
                </a:r>
                <a:r>
                  <a:rPr lang="en-US" altLang="zh-CN" sz="2800" dirty="0">
                    <a:ea typeface="华文楷体" pitchFamily="2" charset="-122"/>
                  </a:rPr>
                  <a:t>U</a:t>
                </a:r>
                <a:r>
                  <a:rPr lang="zh-CN" altLang="en-US" sz="2800" dirty="0">
                    <a:ea typeface="华文楷体" pitchFamily="2" charset="-122"/>
                  </a:rPr>
                  <a:t>的</a:t>
                </a:r>
                <a:r>
                  <a:rPr lang="en-US" altLang="zh-CN" sz="2800" dirty="0">
                    <a:ea typeface="华文楷体" pitchFamily="2" charset="-122"/>
                  </a:rPr>
                  <a:t>2n</a:t>
                </a:r>
                <a:r>
                  <a:rPr lang="zh-CN" altLang="en-US" sz="2800" dirty="0">
                    <a:ea typeface="华文楷体" pitchFamily="2" charset="-122"/>
                  </a:rPr>
                  <a:t>倍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endParaRPr lang="en-US" altLang="zh-CN" sz="2800" dirty="0">
                  <a:ea typeface="华文楷体" pitchFamily="2" charset="-122"/>
                </a:endParaRPr>
              </a:p>
              <a:p>
                <a:endParaRPr lang="en-US" altLang="zh-CN" sz="2800" dirty="0"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87312A88-4BDB-4648-A92B-5F9860AE9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9876" y="1556793"/>
                <a:ext cx="8568952" cy="4959549"/>
              </a:xfrm>
              <a:blipFill>
                <a:blip r:embed="rId2"/>
                <a:stretch>
                  <a:fillRect l="-1281" t="-1229" r="-5196" b="-50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7" name="Rectangle 4">
            <a:extLst>
              <a:ext uri="{FF2B5EF4-FFF2-40B4-BE49-F238E27FC236}">
                <a16:creationId xmlns:a16="http://schemas.microsoft.com/office/drawing/2014/main" id="{E8FA3572-8167-41C6-B486-C257F7864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8" name="Rectangle 6">
            <a:extLst>
              <a:ext uri="{FF2B5EF4-FFF2-40B4-BE49-F238E27FC236}">
                <a16:creationId xmlns:a16="http://schemas.microsoft.com/office/drawing/2014/main" id="{143EBE0C-1585-4D8E-B67F-194A4F9A8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524000" y="2088523"/>
                <a:ext cx="5568280" cy="6727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1143000" algn="just">
                  <a:spcAft>
                    <a:spcPts val="0"/>
                  </a:spcAft>
                </a:pPr>
                <a:r>
                  <a:rPr lang="en-US" altLang="zh-CN" sz="2400" kern="15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G(z)=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altLang="zh-CN" sz="24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400" i="1" kern="1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400" i="1" kern="1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4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400" i="1" kern="1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4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400" i="1" kern="1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US" altLang="zh-CN" sz="24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400" i="1" kern="15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i="1" kern="15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altLang="zh-CN" sz="24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  <m:r>
                      <a:rPr lang="en-US" altLang="zh-CN" sz="24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sSub>
                      <m:sSubPr>
                        <m:ctrlPr>
                          <a:rPr lang="zh-CN" altLang="zh-CN" sz="2400" i="1" kern="15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400" i="1" kern="15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sz="24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i="1" kern="15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2400" kern="150" dirty="0">
                  <a:effectLst/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088523"/>
                <a:ext cx="5568280" cy="672748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DC982C34-AB9A-4E2D-87EF-659434B08F7F}"/>
                  </a:ext>
                </a:extLst>
              </p:cNvPr>
              <p:cNvSpPr txBox="1"/>
              <p:nvPr/>
            </p:nvSpPr>
            <p:spPr bwMode="auto">
              <a:xfrm>
                <a:off x="5184576" y="3429000"/>
                <a:ext cx="4067944" cy="611925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 kern="15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CN" sz="2000" b="0" i="1" kern="15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 kern="15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000" i="1" kern="15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 kern="15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kern="15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000" i="1" kern="15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 kern="15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′′</m:t>
                          </m:r>
                        </m:e>
                        <m:sub>
                          <m:r>
                            <a:rPr lang="en-US" altLang="zh-CN" sz="2000" b="0" i="1" kern="15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sub>
                      </m:sSub>
                      <m:d>
                        <m:dPr>
                          <m:ctrlPr>
                            <a:rPr lang="zh-CN" altLang="zh-CN" sz="2000" i="1" kern="15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000" i="1" kern="15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 kern="15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b="0" i="1" kern="15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−1)(</m:t>
                          </m:r>
                          <m:r>
                            <a:rPr lang="en-US" altLang="zh-CN" sz="2000" b="0" i="1" kern="15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−2)</m:t>
                          </m:r>
                        </m:num>
                        <m:den>
                          <m:r>
                            <a:rPr lang="en-US" altLang="zh-CN" sz="2000" i="1" kern="15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DC982C34-AB9A-4E2D-87EF-659434B08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4576" y="3429000"/>
                <a:ext cx="4067944" cy="6119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2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1FAB9153-3E6C-4687-9539-FF4A664E1E0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1840541C-4DE2-4ADC-9879-B925E97E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7C99B3D-DC90-4752-A16F-957F25CA041B}" type="slidenum">
              <a:rPr lang="en-US" altLang="zh-CN">
                <a:solidFill>
                  <a:srgbClr val="898989"/>
                </a:solidFill>
              </a:rPr>
              <a:pPr algn="ctr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0CD41A6A-08C7-498E-B35D-F8A0BDD84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36838"/>
            <a:ext cx="8229600" cy="1358900"/>
          </a:xfrm>
        </p:spPr>
        <p:txBody>
          <a:bodyPr/>
          <a:lstStyle/>
          <a:p>
            <a:r>
              <a:rPr lang="en-US" altLang="zh-CN" sz="4800" dirty="0">
                <a:ea typeface="华文楷体" panose="02010600040101010101" pitchFamily="2" charset="-122"/>
              </a:rPr>
              <a:t>8.4 </a:t>
            </a:r>
            <a:r>
              <a:rPr lang="zh-CN" altLang="en-US" sz="4800" dirty="0">
                <a:ea typeface="华文楷体" panose="02010600040101010101" pitchFamily="2" charset="-122"/>
              </a:rPr>
              <a:t>抛掷硬币</a:t>
            </a:r>
            <a:br>
              <a:rPr lang="en-US" altLang="zh-CN" sz="4800" dirty="0">
                <a:ea typeface="华文楷体" panose="02010600040101010101" pitchFamily="2" charset="-122"/>
              </a:rPr>
            </a:br>
            <a:r>
              <a:rPr lang="en-US" altLang="zh-CN" sz="4800" dirty="0">
                <a:ea typeface="华文楷体" panose="02010600040101010101" pitchFamily="2" charset="-122"/>
              </a:rPr>
              <a:t>Flipping Coins</a:t>
            </a:r>
            <a:endParaRPr lang="zh-CN" altLang="en-US" sz="4800" dirty="0">
              <a:ea typeface="华文楷体" panose="02010600040101010101" pitchFamily="2" charset="-122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F4737684-5628-4D15-B1D6-315578D2C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63C8620A-972E-43BE-92E8-EFCB3979D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57FFC406-7C3C-4B6D-912A-B5AEEE688E5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892EC565-AF91-46E7-8D09-1EAEB208E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D45D902-F322-4AB3-8C74-55630B73D09E}" type="slidenum">
              <a:rPr lang="en-US" altLang="zh-CN">
                <a:solidFill>
                  <a:srgbClr val="898989"/>
                </a:solidFill>
              </a:rPr>
              <a:pPr algn="ctr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200" name="Rectangle 2">
            <a:extLst>
              <a:ext uri="{FF2B5EF4-FFF2-40B4-BE49-F238E27FC236}">
                <a16:creationId xmlns:a16="http://schemas.microsoft.com/office/drawing/2014/main" id="{6A3A53B3-284C-4672-8CD7-CDA1076E6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正面朝上次数的概率生成函数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DB006B6E-00DA-495C-8DA0-CFDD3475F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968875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记硬币在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落下后正面朝上的概率为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p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，反面朝上的概率为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q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。那么                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仅扔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次硬币的话，正面朝上次数的变量为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，那么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的概率生成函数为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那么，扔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次硬币的话，如果每次之间是独立的，那么总的硬币朝上次数的变量的</a:t>
            </a:r>
            <a:r>
              <a:rPr lang="en-US" altLang="zh-CN" sz="2800" dirty="0" err="1">
                <a:latin typeface="+mj-lt"/>
                <a:ea typeface="华文楷体" pitchFamily="2" charset="-122"/>
              </a:rPr>
              <a:t>pgf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为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所以，正面朝上次数为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的概率为</a:t>
            </a:r>
          </a:p>
        </p:txBody>
      </p:sp>
      <p:sp>
        <p:nvSpPr>
          <p:cNvPr id="8202" name="Rectangle 4">
            <a:extLst>
              <a:ext uri="{FF2B5EF4-FFF2-40B4-BE49-F238E27FC236}">
                <a16:creationId xmlns:a16="http://schemas.microsoft.com/office/drawing/2014/main" id="{2FBCDB74-5DE5-4F46-926F-94324F509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3" name="Rectangle 6">
            <a:extLst>
              <a:ext uri="{FF2B5EF4-FFF2-40B4-BE49-F238E27FC236}">
                <a16:creationId xmlns:a16="http://schemas.microsoft.com/office/drawing/2014/main" id="{99481629-0713-468D-8B52-E2B3E2FBC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Object 2">
                <a:extLst>
                  <a:ext uri="{FF2B5EF4-FFF2-40B4-BE49-F238E27FC236}">
                    <a16:creationId xmlns:a16="http://schemas.microsoft.com/office/drawing/2014/main" id="{90B09D41-6DF3-45C3-A250-428AF189339F}"/>
                  </a:ext>
                </a:extLst>
              </p:cNvPr>
              <p:cNvSpPr txBox="1"/>
              <p:nvPr/>
            </p:nvSpPr>
            <p:spPr bwMode="auto">
              <a:xfrm>
                <a:off x="3851275" y="1773238"/>
                <a:ext cx="1284288" cy="4651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4" name="Object 2">
                <a:extLst>
                  <a:ext uri="{FF2B5EF4-FFF2-40B4-BE49-F238E27FC236}">
                    <a16:creationId xmlns:a16="http://schemas.microsoft.com/office/drawing/2014/main" id="{90B09D41-6DF3-45C3-A250-428AF1893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1275" y="1773238"/>
                <a:ext cx="1284288" cy="4651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Object 3">
                <a:extLst>
                  <a:ext uri="{FF2B5EF4-FFF2-40B4-BE49-F238E27FC236}">
                    <a16:creationId xmlns:a16="http://schemas.microsoft.com/office/drawing/2014/main" id="{2C49F429-4B86-4224-A825-351E07CF5549}"/>
                  </a:ext>
                </a:extLst>
              </p:cNvPr>
              <p:cNvSpPr txBox="1"/>
              <p:nvPr/>
            </p:nvSpPr>
            <p:spPr bwMode="auto">
              <a:xfrm>
                <a:off x="3563938" y="3141663"/>
                <a:ext cx="2043112" cy="4651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𝑝𝑧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5" name="Object 3">
                <a:extLst>
                  <a:ext uri="{FF2B5EF4-FFF2-40B4-BE49-F238E27FC236}">
                    <a16:creationId xmlns:a16="http://schemas.microsoft.com/office/drawing/2014/main" id="{2C49F429-4B86-4224-A825-351E07CF5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938" y="3141663"/>
                <a:ext cx="2043112" cy="465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222E1598-F64A-4283-BE96-BF34DDA79D5E}"/>
                  </a:ext>
                </a:extLst>
              </p:cNvPr>
              <p:cNvSpPr txBox="1"/>
              <p:nvPr/>
            </p:nvSpPr>
            <p:spPr bwMode="auto">
              <a:xfrm>
                <a:off x="2124075" y="4365625"/>
                <a:ext cx="5137150" cy="10461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𝑝𝑧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≥0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eqArr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222E1598-F64A-4283-BE96-BF34DDA79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4365625"/>
                <a:ext cx="5137150" cy="10461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圆角矩形 10">
            <a:extLst>
              <a:ext uri="{FF2B5EF4-FFF2-40B4-BE49-F238E27FC236}">
                <a16:creationId xmlns:a16="http://schemas.microsoft.com/office/drawing/2014/main" id="{4EB2A419-FE07-4187-9A14-BBE79295F943}"/>
              </a:ext>
            </a:extLst>
          </p:cNvPr>
          <p:cNvSpPr/>
          <p:nvPr/>
        </p:nvSpPr>
        <p:spPr>
          <a:xfrm>
            <a:off x="7308850" y="4581525"/>
            <a:ext cx="1439863" cy="719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为什么？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7" name="Object 5">
                <a:extLst>
                  <a:ext uri="{FF2B5EF4-FFF2-40B4-BE49-F238E27FC236}">
                    <a16:creationId xmlns:a16="http://schemas.microsoft.com/office/drawing/2014/main" id="{D27A66F1-7E42-4BD8-BC9B-4237535F6AB2}"/>
                  </a:ext>
                </a:extLst>
              </p:cNvPr>
              <p:cNvSpPr txBox="1"/>
              <p:nvPr/>
            </p:nvSpPr>
            <p:spPr bwMode="auto">
              <a:xfrm>
                <a:off x="6300788" y="5262563"/>
                <a:ext cx="1547812" cy="10461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197" name="Object 5">
                <a:extLst>
                  <a:ext uri="{FF2B5EF4-FFF2-40B4-BE49-F238E27FC236}">
                    <a16:creationId xmlns:a16="http://schemas.microsoft.com/office/drawing/2014/main" id="{D27A66F1-7E42-4BD8-BC9B-4237535F6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0788" y="5262563"/>
                <a:ext cx="1547812" cy="10461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>
            <a:extLst>
              <a:ext uri="{FF2B5EF4-FFF2-40B4-BE49-F238E27FC236}">
                <a16:creationId xmlns:a16="http://schemas.microsoft.com/office/drawing/2014/main" id="{CD84DE3D-2FC0-490B-A66D-72D1023498C1}"/>
              </a:ext>
            </a:extLst>
          </p:cNvPr>
          <p:cNvSpPr/>
          <p:nvPr/>
        </p:nvSpPr>
        <p:spPr>
          <a:xfrm>
            <a:off x="7164388" y="6021388"/>
            <a:ext cx="1728787" cy="7207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二项分布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65980B6C-A092-4FD6-9917-E28BBB05C6A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AF620548-B79D-47DD-B2FB-CC7DC9C1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AC962F57-7D46-4513-804E-9682BF49C517}" type="slidenum">
              <a:rPr lang="en-US" altLang="zh-CN">
                <a:solidFill>
                  <a:srgbClr val="898989"/>
                </a:solidFill>
              </a:rPr>
              <a:pPr algn="ctr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3" name="Rectangle 2">
            <a:extLst>
              <a:ext uri="{FF2B5EF4-FFF2-40B4-BE49-F238E27FC236}">
                <a16:creationId xmlns:a16="http://schemas.microsoft.com/office/drawing/2014/main" id="{D3BE93B9-A380-4EDE-9428-4E02D9AA2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特殊的扔法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4E5CFF47-4939-4DAD-8CB3-9BD804D03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25538"/>
            <a:ext cx="7920038" cy="5183187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现在考虑一种特殊的扔法：一直扔到出现正面朝上为止。那么，需要扔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次的概率是多少？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显然，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 = 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的概率为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p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；而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 = 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的概率为</a:t>
            </a:r>
            <a:r>
              <a:rPr lang="en-US" altLang="zh-CN" sz="2800" dirty="0" err="1">
                <a:latin typeface="+mj-lt"/>
                <a:ea typeface="华文楷体" pitchFamily="2" charset="-122"/>
              </a:rPr>
              <a:t>qp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；顺着来，在一般的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上的概率为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q</a:t>
            </a:r>
            <a:r>
              <a:rPr lang="en-US" altLang="zh-CN" sz="2800" baseline="30000" dirty="0">
                <a:latin typeface="+mj-lt"/>
                <a:ea typeface="华文楷体" pitchFamily="2" charset="-122"/>
              </a:rPr>
              <a:t>k-1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p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。那么，对应的</a:t>
            </a:r>
            <a:r>
              <a:rPr lang="en-US" altLang="zh-CN" sz="2800" dirty="0" err="1">
                <a:latin typeface="+mj-lt"/>
                <a:ea typeface="华文楷体" pitchFamily="2" charset="-122"/>
              </a:rPr>
              <a:t>pgf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为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0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再推广一下，出现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次正面朝上的概率生成函数为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由此引出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负二项分布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</a:t>
            </a:r>
            <a:r>
              <a:rPr lang="en-US" altLang="zh-CN" sz="2800" dirty="0" err="1">
                <a:latin typeface="+mj-lt"/>
                <a:ea typeface="华文楷体" pitchFamily="2" charset="-122"/>
              </a:rPr>
              <a:t>pgf</a:t>
            </a: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9225" name="Rectangle 4">
            <a:extLst>
              <a:ext uri="{FF2B5EF4-FFF2-40B4-BE49-F238E27FC236}">
                <a16:creationId xmlns:a16="http://schemas.microsoft.com/office/drawing/2014/main" id="{3C2BB1FE-476D-4D21-92AE-C15F4DFCC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6" name="Rectangle 6">
            <a:extLst>
              <a:ext uri="{FF2B5EF4-FFF2-40B4-BE49-F238E27FC236}">
                <a16:creationId xmlns:a16="http://schemas.microsoft.com/office/drawing/2014/main" id="{11CEB827-C408-4FB3-ADA8-B575AE139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Object 2">
                <a:extLst>
                  <a:ext uri="{FF2B5EF4-FFF2-40B4-BE49-F238E27FC236}">
                    <a16:creationId xmlns:a16="http://schemas.microsoft.com/office/drawing/2014/main" id="{0F87EFAB-D18B-4321-A3B1-76D2F3E29756}"/>
                  </a:ext>
                </a:extLst>
              </p:cNvPr>
              <p:cNvSpPr txBox="1"/>
              <p:nvPr/>
            </p:nvSpPr>
            <p:spPr bwMode="auto">
              <a:xfrm>
                <a:off x="2484438" y="2708275"/>
                <a:ext cx="4175125" cy="9239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𝑞𝑝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𝑝𝑧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𝑞𝑧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218" name="Object 2">
                <a:extLst>
                  <a:ext uri="{FF2B5EF4-FFF2-40B4-BE49-F238E27FC236}">
                    <a16:creationId xmlns:a16="http://schemas.microsoft.com/office/drawing/2014/main" id="{0F87EFAB-D18B-4321-A3B1-76D2F3E29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438" y="2708275"/>
                <a:ext cx="4175125" cy="9239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19" name="Object 3">
                <a:extLst>
                  <a:ext uri="{FF2B5EF4-FFF2-40B4-BE49-F238E27FC236}">
                    <a16:creationId xmlns:a16="http://schemas.microsoft.com/office/drawing/2014/main" id="{B64999DF-6CF0-4173-AE94-F314A1E5BB9C}"/>
                  </a:ext>
                </a:extLst>
              </p:cNvPr>
              <p:cNvSpPr txBox="1"/>
              <p:nvPr/>
            </p:nvSpPr>
            <p:spPr bwMode="auto">
              <a:xfrm>
                <a:off x="1403350" y="3933825"/>
                <a:ext cx="7056438" cy="9969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𝑝𝑧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eqArr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𝑞𝑧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eqArr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219" name="Object 3">
                <a:extLst>
                  <a:ext uri="{FF2B5EF4-FFF2-40B4-BE49-F238E27FC236}">
                    <a16:creationId xmlns:a16="http://schemas.microsoft.com/office/drawing/2014/main" id="{B64999DF-6CF0-4173-AE94-F314A1E5B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3350" y="3933825"/>
                <a:ext cx="7056438" cy="9969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0" name="Object 4">
                <a:extLst>
                  <a:ext uri="{FF2B5EF4-FFF2-40B4-BE49-F238E27FC236}">
                    <a16:creationId xmlns:a16="http://schemas.microsoft.com/office/drawing/2014/main" id="{6135CF4A-FF61-4415-8694-26C5B03F9EA3}"/>
                  </a:ext>
                </a:extLst>
              </p:cNvPr>
              <p:cNvSpPr txBox="1"/>
              <p:nvPr/>
            </p:nvSpPr>
            <p:spPr bwMode="auto">
              <a:xfrm>
                <a:off x="1547813" y="5445125"/>
                <a:ext cx="4054475" cy="9969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eqArr>
                            </m:e>
                          </m:d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220" name="Object 4">
                <a:extLst>
                  <a:ext uri="{FF2B5EF4-FFF2-40B4-BE49-F238E27FC236}">
                    <a16:creationId xmlns:a16="http://schemas.microsoft.com/office/drawing/2014/main" id="{6135CF4A-FF61-4415-8694-26C5B03F9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813" y="5445125"/>
                <a:ext cx="4054475" cy="996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圆角矩形 10">
            <a:extLst>
              <a:ext uri="{FF2B5EF4-FFF2-40B4-BE49-F238E27FC236}">
                <a16:creationId xmlns:a16="http://schemas.microsoft.com/office/drawing/2014/main" id="{E718E7F3-74B9-4ABA-9EB8-5441D382BE63}"/>
              </a:ext>
            </a:extLst>
          </p:cNvPr>
          <p:cNvSpPr/>
          <p:nvPr/>
        </p:nvSpPr>
        <p:spPr>
          <a:xfrm>
            <a:off x="5651500" y="5084763"/>
            <a:ext cx="3241675" cy="1439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负二项分布：在正向事件发生次数达到某个定值之前，负向事件发生次数为</a:t>
            </a:r>
            <a:r>
              <a:rPr lang="en-US" altLang="zh-CN" sz="24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k</a:t>
            </a:r>
            <a:r>
              <a:rPr lang="zh-CN" altLang="en-US" sz="24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的概率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D5A228F5-DBD2-4041-B9DB-3370A53329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15DFC9EA-CE00-4528-95DE-1A65A0BE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A9BE4FA6-3838-425A-9461-2A7EB925D9C8}" type="slidenum">
              <a:rPr lang="en-US" altLang="zh-CN">
                <a:solidFill>
                  <a:srgbClr val="898989"/>
                </a:solidFill>
              </a:rPr>
              <a:pPr algn="ctr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BB465A82-A62F-4209-AE5A-E1A59A0C1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特殊的扔法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F830A699-2898-4693-BF8C-606D6FF1AA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在这种特殊的扔法中，概率空间与此前遇到的概率空间有些不同。</a:t>
            </a:r>
            <a:r>
              <a:rPr lang="zh-CN" altLang="en-US" sz="2800">
                <a:solidFill>
                  <a:srgbClr val="0000FF"/>
                </a:solidFill>
                <a:latin typeface="+mj-lt"/>
                <a:ea typeface="华文楷体" pitchFamily="2" charset="-122"/>
              </a:rPr>
              <a:t>现在的概率空间中包含无限个元素</a:t>
            </a:r>
            <a:r>
              <a:rPr lang="zh-CN" altLang="en-US" sz="2800">
                <a:latin typeface="+mj-lt"/>
                <a:ea typeface="华文楷体" pitchFamily="2" charset="-122"/>
              </a:rPr>
              <a:t>，其中每个元素都是正面</a:t>
            </a:r>
            <a:r>
              <a:rPr lang="en-US" altLang="zh-CN" sz="2800">
                <a:latin typeface="+mj-lt"/>
                <a:ea typeface="华文楷体" pitchFamily="2" charset="-122"/>
              </a:rPr>
              <a:t>/</a:t>
            </a:r>
            <a:r>
              <a:rPr lang="zh-CN" altLang="en-US" sz="2800">
                <a:latin typeface="+mj-lt"/>
                <a:ea typeface="华文楷体" pitchFamily="2" charset="-122"/>
              </a:rPr>
              <a:t>反面组成的的一个序列，其中包含</a:t>
            </a:r>
            <a:r>
              <a:rPr lang="en-US" altLang="zh-CN" sz="28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个正面，而且序列的最后一个值是正面，相应的概率为</a:t>
            </a:r>
            <a:r>
              <a:rPr lang="en-US" altLang="zh-CN" sz="2800">
                <a:latin typeface="+mj-lt"/>
                <a:ea typeface="华文楷体" pitchFamily="2" charset="-122"/>
              </a:rPr>
              <a:t>p</a:t>
            </a:r>
            <a:r>
              <a:rPr lang="en-US" altLang="zh-CN" sz="2800" baseline="30000">
                <a:latin typeface="+mj-lt"/>
                <a:ea typeface="华文楷体" pitchFamily="2" charset="-122"/>
              </a:rPr>
              <a:t>n</a:t>
            </a:r>
            <a:r>
              <a:rPr lang="en-US" altLang="zh-CN" sz="2800">
                <a:latin typeface="+mj-lt"/>
                <a:ea typeface="华文楷体" pitchFamily="2" charset="-122"/>
              </a:rPr>
              <a:t>q</a:t>
            </a:r>
            <a:r>
              <a:rPr lang="en-US" altLang="zh-CN" sz="2800" baseline="30000">
                <a:latin typeface="+mj-lt"/>
                <a:ea typeface="华文楷体" pitchFamily="2" charset="-122"/>
              </a:rPr>
              <a:t>k-n</a:t>
            </a:r>
            <a:r>
              <a:rPr lang="zh-CN" altLang="en-US" sz="2800">
                <a:latin typeface="+mj-lt"/>
                <a:ea typeface="华文楷体" pitchFamily="2" charset="-122"/>
              </a:rPr>
              <a:t>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例如，对于</a:t>
            </a:r>
            <a:r>
              <a:rPr lang="en-US" altLang="zh-CN" sz="2800">
                <a:latin typeface="+mj-lt"/>
                <a:ea typeface="华文楷体" pitchFamily="2" charset="-122"/>
              </a:rPr>
              <a:t>n = 3</a:t>
            </a:r>
            <a:r>
              <a:rPr lang="zh-CN" altLang="en-US" sz="2800">
                <a:latin typeface="+mj-lt"/>
                <a:ea typeface="华文楷体" pitchFamily="2" charset="-122"/>
              </a:rPr>
              <a:t>，如果用</a:t>
            </a:r>
            <a:r>
              <a:rPr lang="en-US" altLang="zh-CN" sz="2800">
                <a:latin typeface="+mj-lt"/>
                <a:ea typeface="华文楷体" pitchFamily="2" charset="-122"/>
              </a:rPr>
              <a:t>H</a:t>
            </a:r>
            <a:r>
              <a:rPr lang="zh-CN" altLang="en-US" sz="2800">
                <a:latin typeface="+mj-lt"/>
                <a:ea typeface="华文楷体" pitchFamily="2" charset="-122"/>
              </a:rPr>
              <a:t>和</a:t>
            </a:r>
            <a:r>
              <a:rPr lang="en-US" altLang="zh-CN" sz="2800">
                <a:latin typeface="+mj-lt"/>
                <a:ea typeface="华文楷体" pitchFamily="2" charset="-122"/>
              </a:rPr>
              <a:t>T</a:t>
            </a:r>
            <a:r>
              <a:rPr lang="zh-CN" altLang="en-US" sz="2800">
                <a:latin typeface="+mj-lt"/>
                <a:ea typeface="华文楷体" pitchFamily="2" charset="-122"/>
              </a:rPr>
              <a:t>表示正面</a:t>
            </a:r>
            <a:r>
              <a:rPr lang="en-US" altLang="zh-CN" sz="2800">
                <a:latin typeface="+mj-lt"/>
                <a:ea typeface="华文楷体" pitchFamily="2" charset="-122"/>
              </a:rPr>
              <a:t>/</a:t>
            </a:r>
            <a:r>
              <a:rPr lang="zh-CN" altLang="en-US" sz="2800">
                <a:latin typeface="+mj-lt"/>
                <a:ea typeface="华文楷体" pitchFamily="2" charset="-122"/>
              </a:rPr>
              <a:t>反面的话，那么序列</a:t>
            </a:r>
            <a:r>
              <a:rPr lang="en-US" altLang="zh-CN" sz="2800">
                <a:latin typeface="+mj-lt"/>
                <a:ea typeface="华文楷体" pitchFamily="2" charset="-122"/>
              </a:rPr>
              <a:t>THTTTHH</a:t>
            </a:r>
            <a:r>
              <a:rPr lang="zh-CN" altLang="en-US" sz="2800">
                <a:latin typeface="+mj-lt"/>
                <a:ea typeface="华文楷体" pitchFamily="2" charset="-122"/>
              </a:rPr>
              <a:t>就是此概率空间中的一个元素，其对应的概率值为</a:t>
            </a:r>
            <a:r>
              <a:rPr lang="en-US" altLang="zh-CN" sz="2800">
                <a:latin typeface="+mj-lt"/>
                <a:ea typeface="华文楷体" pitchFamily="2" charset="-122"/>
              </a:rPr>
              <a:t>qpqqqpp = p</a:t>
            </a:r>
            <a:r>
              <a:rPr lang="en-US" altLang="zh-CN" sz="2800" baseline="30000">
                <a:latin typeface="+mj-lt"/>
                <a:ea typeface="华文楷体" pitchFamily="2" charset="-122"/>
              </a:rPr>
              <a:t>3</a:t>
            </a:r>
            <a:r>
              <a:rPr lang="en-US" altLang="zh-CN" sz="2800">
                <a:latin typeface="+mj-lt"/>
                <a:ea typeface="华文楷体" pitchFamily="2" charset="-122"/>
              </a:rPr>
              <a:t>q</a:t>
            </a:r>
            <a:r>
              <a:rPr lang="en-US" altLang="zh-CN" sz="2800" baseline="30000">
                <a:latin typeface="+mj-lt"/>
                <a:ea typeface="华文楷体" pitchFamily="2" charset="-122"/>
              </a:rPr>
              <a:t>4</a:t>
            </a:r>
            <a:r>
              <a:rPr lang="zh-CN" altLang="en-US" sz="2800">
                <a:latin typeface="+mj-lt"/>
                <a:ea typeface="华文楷体" pitchFamily="2" charset="-122"/>
              </a:rPr>
              <a:t>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2BFA4001-3973-4493-BD78-F13F193B4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FCB8E58C-9836-47F5-9686-4380FA6AE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CFDC03E2-F66B-4E67-B4D7-E494860B71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93429819-9543-4F60-9567-539DDCEB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9907D10-D8A8-4B6D-8410-E27BD16C8F50}" type="slidenum">
              <a:rPr lang="en-US" altLang="zh-CN">
                <a:solidFill>
                  <a:srgbClr val="898989"/>
                </a:solidFill>
              </a:rPr>
              <a:pPr algn="ctr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8" name="Rectangle 2">
            <a:extLst>
              <a:ext uri="{FF2B5EF4-FFF2-40B4-BE49-F238E27FC236}">
                <a16:creationId xmlns:a16="http://schemas.microsoft.com/office/drawing/2014/main" id="{A2CF48F1-A66A-4B3A-BC0C-0FFEAD26B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二项分布的</a:t>
            </a:r>
            <a:r>
              <a:rPr lang="en-US" altLang="zh-CN" sz="4800">
                <a:ea typeface="华文楷体" panose="02010600040101010101" pitchFamily="2" charset="-122"/>
              </a:rPr>
              <a:t>pgf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2030AF0E-D862-461C-8B70-BD8759961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假设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Y</a:t>
            </a:r>
            <a:r>
              <a:rPr lang="zh-CN" altLang="en-US" sz="2800">
                <a:latin typeface="+mj-lt"/>
                <a:ea typeface="华文楷体" pitchFamily="2" charset="-122"/>
              </a:rPr>
              <a:t>分别服从</a:t>
            </a:r>
            <a:r>
              <a:rPr lang="en-US" altLang="zh-CN" sz="28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和</a:t>
            </a:r>
            <a:r>
              <a:rPr lang="en-US" altLang="zh-CN" sz="2800">
                <a:latin typeface="+mj-lt"/>
                <a:ea typeface="华文楷体" pitchFamily="2" charset="-122"/>
              </a:rPr>
              <a:t>p</a:t>
            </a:r>
            <a:r>
              <a:rPr lang="zh-CN" altLang="en-US" sz="2800">
                <a:latin typeface="+mj-lt"/>
                <a:ea typeface="华文楷体" pitchFamily="2" charset="-122"/>
              </a:rPr>
              <a:t>决定的二项分布和负二项分布。由于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的</a:t>
            </a:r>
            <a:r>
              <a:rPr lang="en-US" altLang="zh-CN" sz="2800">
                <a:latin typeface="+mj-lt"/>
                <a:ea typeface="华文楷体" pitchFamily="2" charset="-122"/>
              </a:rPr>
              <a:t>pgf</a:t>
            </a:r>
            <a:r>
              <a:rPr lang="zh-CN" altLang="en-US" sz="2800">
                <a:latin typeface="+mj-lt"/>
                <a:ea typeface="华文楷体" pitchFamily="2" charset="-122"/>
              </a:rPr>
              <a:t>为</a:t>
            </a:r>
            <a:r>
              <a:rPr lang="en-US" altLang="zh-CN" sz="2800">
                <a:latin typeface="+mj-lt"/>
                <a:ea typeface="华文楷体" pitchFamily="2" charset="-122"/>
              </a:rPr>
              <a:t>H(z)</a:t>
            </a:r>
            <a:r>
              <a:rPr lang="en-US" altLang="zh-CN" sz="2800" baseline="300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，因此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的期望值为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的方差为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的标准差为        ，因此扔</a:t>
            </a:r>
            <a:r>
              <a:rPr lang="en-US" altLang="zh-CN" sz="28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次硬币的话，正面朝上的次数大约为</a:t>
            </a:r>
            <a:endParaRPr lang="en-US" altLang="zh-CN" sz="2800">
              <a:latin typeface="+mj-lt"/>
              <a:ea typeface="华文楷体" pitchFamily="2" charset="-122"/>
            </a:endParaRPr>
          </a:p>
        </p:txBody>
      </p:sp>
      <p:sp>
        <p:nvSpPr>
          <p:cNvPr id="10250" name="Rectangle 4">
            <a:extLst>
              <a:ext uri="{FF2B5EF4-FFF2-40B4-BE49-F238E27FC236}">
                <a16:creationId xmlns:a16="http://schemas.microsoft.com/office/drawing/2014/main" id="{39AC44B7-8AD6-491C-B673-7ECB77ECE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1" name="Rectangle 6">
            <a:extLst>
              <a:ext uri="{FF2B5EF4-FFF2-40B4-BE49-F238E27FC236}">
                <a16:creationId xmlns:a16="http://schemas.microsoft.com/office/drawing/2014/main" id="{6AA19865-3FF9-409F-9CFC-908AC907C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2" name="Object 2">
                <a:extLst>
                  <a:ext uri="{FF2B5EF4-FFF2-40B4-BE49-F238E27FC236}">
                    <a16:creationId xmlns:a16="http://schemas.microsoft.com/office/drawing/2014/main" id="{A84A4D4E-0E02-4C76-80E4-65B80708CBD0}"/>
                  </a:ext>
                </a:extLst>
              </p:cNvPr>
              <p:cNvSpPr txBox="1"/>
              <p:nvPr/>
            </p:nvSpPr>
            <p:spPr bwMode="auto">
              <a:xfrm>
                <a:off x="3779838" y="2349500"/>
                <a:ext cx="1722437" cy="4651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242" name="Object 2">
                <a:extLst>
                  <a:ext uri="{FF2B5EF4-FFF2-40B4-BE49-F238E27FC236}">
                    <a16:creationId xmlns:a16="http://schemas.microsoft.com/office/drawing/2014/main" id="{A84A4D4E-0E02-4C76-80E4-65B80708C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9838" y="2349500"/>
                <a:ext cx="1722437" cy="4651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Object 3">
                <a:extLst>
                  <a:ext uri="{FF2B5EF4-FFF2-40B4-BE49-F238E27FC236}">
                    <a16:creationId xmlns:a16="http://schemas.microsoft.com/office/drawing/2014/main" id="{B26BA9DC-92E3-461D-92C0-325ECA0C49E9}"/>
                  </a:ext>
                </a:extLst>
              </p:cNvPr>
              <p:cNvSpPr txBox="1"/>
              <p:nvPr/>
            </p:nvSpPr>
            <p:spPr bwMode="auto">
              <a:xfrm>
                <a:off x="2987675" y="3357563"/>
                <a:ext cx="4408488" cy="5238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(1)+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(1)−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𝑛𝑝𝑞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243" name="Object 3">
                <a:extLst>
                  <a:ext uri="{FF2B5EF4-FFF2-40B4-BE49-F238E27FC236}">
                    <a16:creationId xmlns:a16="http://schemas.microsoft.com/office/drawing/2014/main" id="{B26BA9DC-92E3-461D-92C0-325ECA0C4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675" y="3357563"/>
                <a:ext cx="4408488" cy="523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Object 4">
                <a:extLst>
                  <a:ext uri="{FF2B5EF4-FFF2-40B4-BE49-F238E27FC236}">
                    <a16:creationId xmlns:a16="http://schemas.microsoft.com/office/drawing/2014/main" id="{34CEE9F8-0B7B-411B-8BDD-8CD5E5A65F31}"/>
                  </a:ext>
                </a:extLst>
              </p:cNvPr>
              <p:cNvSpPr txBox="1"/>
              <p:nvPr/>
            </p:nvSpPr>
            <p:spPr bwMode="auto">
              <a:xfrm>
                <a:off x="3059113" y="4141788"/>
                <a:ext cx="792162" cy="5111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𝑛𝑝𝑞</m:t>
                          </m:r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244" name="Object 4">
                <a:extLst>
                  <a:ext uri="{FF2B5EF4-FFF2-40B4-BE49-F238E27FC236}">
                    <a16:creationId xmlns:a16="http://schemas.microsoft.com/office/drawing/2014/main" id="{34CEE9F8-0B7B-411B-8BDD-8CD5E5A65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113" y="4141788"/>
                <a:ext cx="792162" cy="5111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5" name="Object 5">
                <a:extLst>
                  <a:ext uri="{FF2B5EF4-FFF2-40B4-BE49-F238E27FC236}">
                    <a16:creationId xmlns:a16="http://schemas.microsoft.com/office/drawing/2014/main" id="{46F829E8-768F-4E00-93B8-B9B75695B99A}"/>
                  </a:ext>
                </a:extLst>
              </p:cNvPr>
              <p:cNvSpPr txBox="1"/>
              <p:nvPr/>
            </p:nvSpPr>
            <p:spPr bwMode="auto">
              <a:xfrm>
                <a:off x="4067175" y="5157788"/>
                <a:ext cx="1800225" cy="668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𝑛𝑝𝑞</m:t>
                          </m:r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245" name="Object 5">
                <a:extLst>
                  <a:ext uri="{FF2B5EF4-FFF2-40B4-BE49-F238E27FC236}">
                    <a16:creationId xmlns:a16="http://schemas.microsoft.com/office/drawing/2014/main" id="{46F829E8-768F-4E00-93B8-B9B75695B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7175" y="5157788"/>
                <a:ext cx="1800225" cy="6683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1C93F544-1F38-4552-AC01-0C96018537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077441A1-15B7-47B7-A85A-B1FEB398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0A383E0-1FCF-479F-9D22-009524504068}" type="slidenum">
              <a:rPr lang="en-US" altLang="zh-CN">
                <a:solidFill>
                  <a:srgbClr val="898989"/>
                </a:solidFill>
              </a:rPr>
              <a:pPr algn="ctr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71" name="Rectangle 2">
            <a:extLst>
              <a:ext uri="{FF2B5EF4-FFF2-40B4-BE49-F238E27FC236}">
                <a16:creationId xmlns:a16="http://schemas.microsoft.com/office/drawing/2014/main" id="{96732720-0845-4CCE-B815-895FCA1DB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负二项分布的</a:t>
            </a:r>
            <a:r>
              <a:rPr lang="en-US" altLang="zh-CN" sz="4800">
                <a:ea typeface="华文楷体" panose="02010600040101010101" pitchFamily="2" charset="-122"/>
              </a:rPr>
              <a:t>pgf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EEF72517-8B92-42EE-A607-F6916F81B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对于服从负二项分布的</a:t>
            </a:r>
            <a:r>
              <a:rPr lang="en-US" altLang="zh-CN" sz="2800">
                <a:latin typeface="+mj-lt"/>
                <a:ea typeface="华文楷体" pitchFamily="2" charset="-122"/>
              </a:rPr>
              <a:t>Y</a:t>
            </a:r>
            <a:r>
              <a:rPr lang="zh-CN" altLang="en-US" sz="2800">
                <a:latin typeface="+mj-lt"/>
                <a:ea typeface="华文楷体" pitchFamily="2" charset="-122"/>
              </a:rPr>
              <a:t>，我们知道它的</a:t>
            </a:r>
            <a:r>
              <a:rPr lang="en-US" altLang="zh-CN" sz="2800">
                <a:latin typeface="+mj-lt"/>
                <a:ea typeface="华文楷体" pitchFamily="2" charset="-122"/>
              </a:rPr>
              <a:t>pgf</a:t>
            </a:r>
            <a:r>
              <a:rPr lang="zh-CN" altLang="en-US" sz="2800">
                <a:latin typeface="+mj-lt"/>
                <a:ea typeface="华文楷体" pitchFamily="2" charset="-122"/>
              </a:rPr>
              <a:t>为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首先，我们来看一个简单的</a:t>
            </a:r>
            <a:r>
              <a:rPr lang="en-US" altLang="zh-CN" sz="2800">
                <a:latin typeface="+mj-lt"/>
                <a:ea typeface="华文楷体" pitchFamily="2" charset="-122"/>
              </a:rPr>
              <a:t>pgf</a:t>
            </a:r>
            <a:r>
              <a:rPr lang="zh-CN" altLang="en-US" sz="2800">
                <a:latin typeface="+mj-lt"/>
                <a:ea typeface="华文楷体" pitchFamily="2" charset="-122"/>
              </a:rPr>
              <a:t>（事实上是</a:t>
            </a:r>
            <a:r>
              <a:rPr lang="en-US" altLang="zh-CN" sz="2800">
                <a:latin typeface="+mj-lt"/>
                <a:ea typeface="华文楷体" pitchFamily="2" charset="-122"/>
              </a:rPr>
              <a:t>n=1</a:t>
            </a:r>
            <a:r>
              <a:rPr lang="zh-CN" altLang="en-US" sz="2800">
                <a:latin typeface="+mj-lt"/>
                <a:ea typeface="华文楷体" pitchFamily="2" charset="-122"/>
              </a:rPr>
              <a:t>时的负二项分布）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显然有</a:t>
            </a:r>
          </a:p>
        </p:txBody>
      </p:sp>
      <p:sp>
        <p:nvSpPr>
          <p:cNvPr id="11273" name="Rectangle 4">
            <a:extLst>
              <a:ext uri="{FF2B5EF4-FFF2-40B4-BE49-F238E27FC236}">
                <a16:creationId xmlns:a16="http://schemas.microsoft.com/office/drawing/2014/main" id="{D12A511A-1731-4278-867F-B3FF4820A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4" name="Rectangle 6">
            <a:extLst>
              <a:ext uri="{FF2B5EF4-FFF2-40B4-BE49-F238E27FC236}">
                <a16:creationId xmlns:a16="http://schemas.microsoft.com/office/drawing/2014/main" id="{574F917C-12FD-4388-851A-66B5FC63E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6" name="Object 2">
                <a:extLst>
                  <a:ext uri="{FF2B5EF4-FFF2-40B4-BE49-F238E27FC236}">
                    <a16:creationId xmlns:a16="http://schemas.microsoft.com/office/drawing/2014/main" id="{3B74DA7E-7C36-4FF1-8A64-F26550823670}"/>
                  </a:ext>
                </a:extLst>
              </p:cNvPr>
              <p:cNvSpPr txBox="1"/>
              <p:nvPr/>
            </p:nvSpPr>
            <p:spPr bwMode="auto">
              <a:xfrm>
                <a:off x="3995738" y="1773238"/>
                <a:ext cx="1246187" cy="10318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𝑞𝑧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266" name="Object 2">
                <a:extLst>
                  <a:ext uri="{FF2B5EF4-FFF2-40B4-BE49-F238E27FC236}">
                    <a16:creationId xmlns:a16="http://schemas.microsoft.com/office/drawing/2014/main" id="{3B74DA7E-7C36-4FF1-8A64-F26550823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738" y="1773238"/>
                <a:ext cx="1246187" cy="10318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Object 3">
                <a:extLst>
                  <a:ext uri="{FF2B5EF4-FFF2-40B4-BE49-F238E27FC236}">
                    <a16:creationId xmlns:a16="http://schemas.microsoft.com/office/drawing/2014/main" id="{02A91847-1588-42E0-9F05-B86A538DC9C0}"/>
                  </a:ext>
                </a:extLst>
              </p:cNvPr>
              <p:cNvSpPr txBox="1"/>
              <p:nvPr/>
            </p:nvSpPr>
            <p:spPr bwMode="auto">
              <a:xfrm>
                <a:off x="3611563" y="3716338"/>
                <a:ext cx="2014537" cy="952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𝑞𝑧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267" name="Object 3">
                <a:extLst>
                  <a:ext uri="{FF2B5EF4-FFF2-40B4-BE49-F238E27FC236}">
                    <a16:creationId xmlns:a16="http://schemas.microsoft.com/office/drawing/2014/main" id="{02A91847-1588-42E0-9F05-B86A538DC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1563" y="3716338"/>
                <a:ext cx="2014537" cy="952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68" name="Object 4">
                <a:extLst>
                  <a:ext uri="{FF2B5EF4-FFF2-40B4-BE49-F238E27FC236}">
                    <a16:creationId xmlns:a16="http://schemas.microsoft.com/office/drawing/2014/main" id="{A425BDC2-22C8-43BC-B1B0-9F8FD0DCBFAF}"/>
                  </a:ext>
                </a:extLst>
              </p:cNvPr>
              <p:cNvSpPr txBox="1"/>
              <p:nvPr/>
            </p:nvSpPr>
            <p:spPr bwMode="auto">
              <a:xfrm>
                <a:off x="2627313" y="5084763"/>
                <a:ext cx="4321175" cy="952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𝑝𝑞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𝑞𝑧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𝑞𝑧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268" name="Object 4">
                <a:extLst>
                  <a:ext uri="{FF2B5EF4-FFF2-40B4-BE49-F238E27FC236}">
                    <a16:creationId xmlns:a16="http://schemas.microsoft.com/office/drawing/2014/main" id="{A425BDC2-22C8-43BC-B1B0-9F8FD0DCB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3" y="5084763"/>
                <a:ext cx="4321175" cy="952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424E2DBE-5E52-4E1C-80E4-54D5C0EF5C3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F3D0F828-35CA-416B-AD33-191EED35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A9548BD1-1FD1-46F5-A5C7-FA0860CEC1AC}" type="slidenum">
              <a:rPr lang="en-US" altLang="zh-CN">
                <a:solidFill>
                  <a:srgbClr val="898989"/>
                </a:solidFill>
              </a:rPr>
              <a:pPr algn="ctr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2295" name="Rectangle 2">
            <a:extLst>
              <a:ext uri="{FF2B5EF4-FFF2-40B4-BE49-F238E27FC236}">
                <a16:creationId xmlns:a16="http://schemas.microsoft.com/office/drawing/2014/main" id="{0A7F9807-F09E-4281-A02E-463BA79B73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负二项分布的</a:t>
            </a:r>
            <a:r>
              <a:rPr lang="en-US" altLang="zh-CN" sz="4800">
                <a:ea typeface="华文楷体" panose="02010600040101010101" pitchFamily="2" charset="-122"/>
              </a:rPr>
              <a:t>pgf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B4E7886A-6CDC-4614-82C4-74539FFA0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由于</a:t>
            </a:r>
            <a:r>
              <a:rPr lang="en-US" altLang="zh-CN" sz="2800">
                <a:latin typeface="+mj-lt"/>
                <a:ea typeface="华文楷体" pitchFamily="2" charset="-122"/>
              </a:rPr>
              <a:t>p + q = 1</a:t>
            </a:r>
            <a:r>
              <a:rPr lang="zh-CN" altLang="en-US" sz="2800">
                <a:latin typeface="+mj-lt"/>
                <a:ea typeface="华文楷体" pitchFamily="2" charset="-122"/>
              </a:rPr>
              <a:t>，因此继续化简得到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回到</a:t>
            </a:r>
            <a:r>
              <a:rPr lang="en-US" altLang="zh-CN" sz="2800">
                <a:latin typeface="+mj-lt"/>
                <a:ea typeface="华文楷体" pitchFamily="2" charset="-122"/>
              </a:rPr>
              <a:t>Y</a:t>
            </a:r>
            <a:r>
              <a:rPr lang="zh-CN" altLang="en-US" sz="2800">
                <a:latin typeface="+mj-lt"/>
                <a:ea typeface="华文楷体" pitchFamily="2" charset="-122"/>
              </a:rPr>
              <a:t>的</a:t>
            </a:r>
            <a:r>
              <a:rPr lang="en-US" altLang="zh-CN" sz="2800">
                <a:latin typeface="+mj-lt"/>
                <a:ea typeface="华文楷体" pitchFamily="2" charset="-122"/>
              </a:rPr>
              <a:t>pgf</a:t>
            </a:r>
            <a:r>
              <a:rPr lang="zh-CN" altLang="en-US" sz="2800">
                <a:latin typeface="+mj-lt"/>
                <a:ea typeface="华文楷体" pitchFamily="2" charset="-122"/>
              </a:rPr>
              <a:t>，可以得到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还有没有更简单的计算方法？让我们观察一下</a:t>
            </a:r>
            <a:r>
              <a:rPr lang="en-US" altLang="zh-CN" sz="2800">
                <a:latin typeface="+mj-lt"/>
                <a:ea typeface="华文楷体" pitchFamily="2" charset="-122"/>
              </a:rPr>
              <a:t>pgf G</a:t>
            </a:r>
            <a:r>
              <a:rPr lang="zh-CN" altLang="en-US" sz="2800">
                <a:latin typeface="+mj-lt"/>
                <a:ea typeface="华文楷体" pitchFamily="2" charset="-122"/>
              </a:rPr>
              <a:t>的倒数形式，记为</a:t>
            </a:r>
            <a:r>
              <a:rPr lang="en-US" altLang="zh-CN" sz="2800">
                <a:latin typeface="+mj-lt"/>
                <a:ea typeface="华文楷体" pitchFamily="2" charset="-122"/>
              </a:rPr>
              <a:t>F(z)</a:t>
            </a:r>
          </a:p>
        </p:txBody>
      </p:sp>
      <p:sp>
        <p:nvSpPr>
          <p:cNvPr id="12297" name="Rectangle 4">
            <a:extLst>
              <a:ext uri="{FF2B5EF4-FFF2-40B4-BE49-F238E27FC236}">
                <a16:creationId xmlns:a16="http://schemas.microsoft.com/office/drawing/2014/main" id="{B09400C4-D3A6-4F39-9419-AD94047AE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98" name="Rectangle 6">
            <a:extLst>
              <a:ext uri="{FF2B5EF4-FFF2-40B4-BE49-F238E27FC236}">
                <a16:creationId xmlns:a16="http://schemas.microsoft.com/office/drawing/2014/main" id="{71B46260-90C6-4329-9A55-DF616A9E3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0" name="Object 3">
                <a:extLst>
                  <a:ext uri="{FF2B5EF4-FFF2-40B4-BE49-F238E27FC236}">
                    <a16:creationId xmlns:a16="http://schemas.microsoft.com/office/drawing/2014/main" id="{DD3F93E7-8258-45F9-948E-F887723BCEF7}"/>
                  </a:ext>
                </a:extLst>
              </p:cNvPr>
              <p:cNvSpPr txBox="1"/>
              <p:nvPr/>
            </p:nvSpPr>
            <p:spPr bwMode="auto">
              <a:xfrm>
                <a:off x="3060700" y="1928813"/>
                <a:ext cx="3022600" cy="9271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90" name="Object 3">
                <a:extLst>
                  <a:ext uri="{FF2B5EF4-FFF2-40B4-BE49-F238E27FC236}">
                    <a16:creationId xmlns:a16="http://schemas.microsoft.com/office/drawing/2014/main" id="{DD3F93E7-8258-45F9-948E-F887723BC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0700" y="1928813"/>
                <a:ext cx="3022600" cy="927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Object 4">
                <a:extLst>
                  <a:ext uri="{FF2B5EF4-FFF2-40B4-BE49-F238E27FC236}">
                    <a16:creationId xmlns:a16="http://schemas.microsoft.com/office/drawing/2014/main" id="{2CDDB4AC-5880-47CD-9674-07D17C7F2E5D}"/>
                  </a:ext>
                </a:extLst>
              </p:cNvPr>
              <p:cNvSpPr txBox="1"/>
              <p:nvPr/>
            </p:nvSpPr>
            <p:spPr bwMode="auto">
              <a:xfrm>
                <a:off x="2741613" y="3382963"/>
                <a:ext cx="3659187" cy="8747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𝑀𝑒𝑎𝑛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𝑛𝑞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𝑛𝑞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91" name="Object 4">
                <a:extLst>
                  <a:ext uri="{FF2B5EF4-FFF2-40B4-BE49-F238E27FC236}">
                    <a16:creationId xmlns:a16="http://schemas.microsoft.com/office/drawing/2014/main" id="{2CDDB4AC-5880-47CD-9674-07D17C7F2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1613" y="3382963"/>
                <a:ext cx="3659187" cy="874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2" name="Object 5">
                <a:extLst>
                  <a:ext uri="{FF2B5EF4-FFF2-40B4-BE49-F238E27FC236}">
                    <a16:creationId xmlns:a16="http://schemas.microsoft.com/office/drawing/2014/main" id="{68B75AFA-3D92-4439-8F9B-57CD341BE351}"/>
                  </a:ext>
                </a:extLst>
              </p:cNvPr>
              <p:cNvSpPr txBox="1"/>
              <p:nvPr/>
            </p:nvSpPr>
            <p:spPr bwMode="auto">
              <a:xfrm>
                <a:off x="3048000" y="5197475"/>
                <a:ext cx="3048000" cy="8731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𝑞𝑧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92" name="Object 5">
                <a:extLst>
                  <a:ext uri="{FF2B5EF4-FFF2-40B4-BE49-F238E27FC236}">
                    <a16:creationId xmlns:a16="http://schemas.microsoft.com/office/drawing/2014/main" id="{68B75AFA-3D92-4439-8F9B-57CD341BE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0" y="5197475"/>
                <a:ext cx="3048000" cy="873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F4F0B284-E654-474B-AB9F-F83F18E67B2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448AAB18-D6E3-4305-A6FB-C73A6C73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669DFAD-511E-4801-B1F5-D8FB593C1246}" type="slidenum">
              <a:rPr lang="en-US" altLang="zh-CN">
                <a:solidFill>
                  <a:srgbClr val="898989"/>
                </a:solidFill>
              </a:rPr>
              <a:pPr algn="ctr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BA44BF42-631E-4019-AC9B-BAC254AD06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负二项分布的</a:t>
            </a:r>
            <a:r>
              <a:rPr lang="en-US" altLang="zh-CN" sz="4800">
                <a:ea typeface="华文楷体" panose="02010600040101010101" pitchFamily="2" charset="-122"/>
              </a:rPr>
              <a:t>pgf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1DA1315A-5D62-44D8-8E88-813A3E538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因此有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很遗憾，这里的函数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F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并不是任何概率分布的生成函数，因为它的一个系数（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-q/p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）是负数。然而，它仍然满足所有系数之和等于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的要求，也就是说，如果仍然用硬币来举例的话，可以看成，在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F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对应的概率分布上，正面朝上的概率为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-q/p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，正面朝下的概率为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1/p=1+q/p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。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这样处理起来，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G(z)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就可以认为是：用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F(z)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所决定的概率分布，扔了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- 1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次硬币。</a:t>
            </a:r>
          </a:p>
        </p:txBody>
      </p:sp>
      <p:sp>
        <p:nvSpPr>
          <p:cNvPr id="13319" name="Rectangle 4">
            <a:extLst>
              <a:ext uri="{FF2B5EF4-FFF2-40B4-BE49-F238E27FC236}">
                <a16:creationId xmlns:a16="http://schemas.microsoft.com/office/drawing/2014/main" id="{19B6B245-6D7A-47E9-8839-7789C5AC1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0" name="Rectangle 6">
            <a:extLst>
              <a:ext uri="{FF2B5EF4-FFF2-40B4-BE49-F238E27FC236}">
                <a16:creationId xmlns:a16="http://schemas.microsoft.com/office/drawing/2014/main" id="{68532D8F-149E-45A6-BA7C-3DF5570FF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Object 2">
                <a:extLst>
                  <a:ext uri="{FF2B5EF4-FFF2-40B4-BE49-F238E27FC236}">
                    <a16:creationId xmlns:a16="http://schemas.microsoft.com/office/drawing/2014/main" id="{FDA6C47A-99DD-4139-A76A-98616368AD62}"/>
                  </a:ext>
                </a:extLst>
              </p:cNvPr>
              <p:cNvSpPr txBox="1"/>
              <p:nvPr/>
            </p:nvSpPr>
            <p:spPr bwMode="auto">
              <a:xfrm>
                <a:off x="3419475" y="1700213"/>
                <a:ext cx="2160588" cy="5540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3314" name="Object 2">
                <a:extLst>
                  <a:ext uri="{FF2B5EF4-FFF2-40B4-BE49-F238E27FC236}">
                    <a16:creationId xmlns:a16="http://schemas.microsoft.com/office/drawing/2014/main" id="{FDA6C47A-99DD-4139-A76A-98616368A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475" y="1700213"/>
                <a:ext cx="2160588" cy="5540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5DB06626-17EC-4B0B-8052-C11398DCCF7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68C59869-AC49-4622-8249-D5DCB8E1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F6D7E77-1CBE-4960-88C1-2403A8248200}" type="slidenum">
              <a:rPr lang="en-US" altLang="zh-CN">
                <a:solidFill>
                  <a:srgbClr val="898989"/>
                </a:solidFill>
              </a:rPr>
              <a:pPr algn="ctr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3F319C9A-DF1B-49C7-AAA3-6A2C6D19A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负二项分布的</a:t>
            </a:r>
            <a:r>
              <a:rPr lang="en-US" altLang="zh-CN" sz="4800">
                <a:ea typeface="华文楷体" panose="02010600040101010101" pitchFamily="2" charset="-122"/>
              </a:rPr>
              <a:t>pgf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993ED1BC-E001-4822-81B9-040A24134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ea typeface="华文楷体" pitchFamily="2" charset="-122"/>
              </a:rPr>
              <a:t>相应地，参数为</a:t>
            </a:r>
            <a:r>
              <a:rPr lang="en-US" altLang="zh-CN" sz="2800">
                <a:ea typeface="华文楷体" pitchFamily="2" charset="-122"/>
              </a:rPr>
              <a:t>(n, p)</a:t>
            </a:r>
            <a:r>
              <a:rPr lang="zh-CN" altLang="en-US" sz="2800">
                <a:ea typeface="华文楷体" pitchFamily="2" charset="-122"/>
              </a:rPr>
              <a:t>的负二项分布就等同于参数为</a:t>
            </a:r>
            <a:r>
              <a:rPr lang="en-US" altLang="zh-CN" sz="2800">
                <a:ea typeface="华文楷体" pitchFamily="2" charset="-122"/>
              </a:rPr>
              <a:t>(-n, -q/p)</a:t>
            </a:r>
            <a:r>
              <a:rPr lang="zh-CN" altLang="en-US" sz="2800">
                <a:ea typeface="华文楷体" pitchFamily="2" charset="-122"/>
              </a:rPr>
              <a:t>的（普通）二项分布。另一方面，二项分布的均值和方差很容易计算，那么对这个“负”二项分布，就有</a:t>
            </a:r>
            <a:endParaRPr lang="en-US" altLang="zh-CN" sz="280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ea typeface="华文楷体" pitchFamily="2" charset="-122"/>
              </a:rPr>
              <a:t>负参数下的普通二项分布！！！这也是“负”二项分布名称的来历。</a:t>
            </a:r>
            <a:endParaRPr lang="en-US" altLang="zh-CN" sz="280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</p:txBody>
      </p:sp>
      <p:sp>
        <p:nvSpPr>
          <p:cNvPr id="14343" name="Rectangle 4">
            <a:extLst>
              <a:ext uri="{FF2B5EF4-FFF2-40B4-BE49-F238E27FC236}">
                <a16:creationId xmlns:a16="http://schemas.microsoft.com/office/drawing/2014/main" id="{00F98A5A-37CA-409E-A28C-D976CD7E9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4" name="Rectangle 6">
            <a:extLst>
              <a:ext uri="{FF2B5EF4-FFF2-40B4-BE49-F238E27FC236}">
                <a16:creationId xmlns:a16="http://schemas.microsoft.com/office/drawing/2014/main" id="{9B0A0D09-D24C-4EED-B9D7-34F03A529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8" name="Object 2">
                <a:extLst>
                  <a:ext uri="{FF2B5EF4-FFF2-40B4-BE49-F238E27FC236}">
                    <a16:creationId xmlns:a16="http://schemas.microsoft.com/office/drawing/2014/main" id="{09E982A2-2FE0-450E-936C-D59982EFEB16}"/>
                  </a:ext>
                </a:extLst>
              </p:cNvPr>
              <p:cNvSpPr txBox="1"/>
              <p:nvPr/>
            </p:nvSpPr>
            <p:spPr bwMode="auto">
              <a:xfrm>
                <a:off x="2627313" y="3141663"/>
                <a:ext cx="4070350" cy="20875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𝑛𝑞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var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𝑛𝑞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4338" name="Object 2">
                <a:extLst>
                  <a:ext uri="{FF2B5EF4-FFF2-40B4-BE49-F238E27FC236}">
                    <a16:creationId xmlns:a16="http://schemas.microsoft.com/office/drawing/2014/main" id="{09E982A2-2FE0-450E-936C-D59982EFE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313" y="3141663"/>
                <a:ext cx="4070350" cy="20875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B90C75FB-A9B1-4EE3-A6A2-F00793DDC9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C6AC77EC-A27C-4B62-B552-8079CB1E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8423429-721A-4B0E-ABBE-34461336A40E}" type="slidenum">
              <a:rPr lang="en-US" altLang="zh-CN">
                <a:solidFill>
                  <a:srgbClr val="898989"/>
                </a:solidFill>
              </a:rPr>
              <a:pPr algn="ctr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8B45A87D-6815-49AD-B91E-10CE0ED6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负二项分布的</a:t>
            </a:r>
            <a:r>
              <a:rPr lang="en-US" altLang="zh-CN" sz="4800">
                <a:ea typeface="华文楷体" panose="02010600040101010101" pitchFamily="2" charset="-122"/>
              </a:rPr>
              <a:t>pgf</a:t>
            </a:r>
            <a:endParaRPr lang="zh-CN" altLang="en-US" sz="4800">
              <a:ea typeface="华文楷体" panose="02010600040101010101" pitchFamily="2" charset="-122"/>
            </a:endParaRP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C70FAC26-0C7A-47C1-A7F9-07FB62AF71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回顾这种解决思路</a:t>
            </a:r>
          </a:p>
        </p:txBody>
      </p:sp>
      <p:sp>
        <p:nvSpPr>
          <p:cNvPr id="26630" name="Rectangle 4">
            <a:extLst>
              <a:ext uri="{FF2B5EF4-FFF2-40B4-BE49-F238E27FC236}">
                <a16:creationId xmlns:a16="http://schemas.microsoft.com/office/drawing/2014/main" id="{3943DB34-3EB4-4920-A689-C8E2C12F8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294D24D7-4D18-4465-A48C-689EE111F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9D19D72-17C8-459C-8840-BF54469A27F9}"/>
              </a:ext>
            </a:extLst>
          </p:cNvPr>
          <p:cNvSpPr/>
          <p:nvPr/>
        </p:nvSpPr>
        <p:spPr>
          <a:xfrm>
            <a:off x="971550" y="2060575"/>
            <a:ext cx="3168650" cy="165576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在数值上</a:t>
            </a:r>
            <a:endParaRPr lang="en-US" altLang="zh-CN" sz="2800" b="1">
              <a:solidFill>
                <a:srgbClr val="FFFF00"/>
              </a:solidFill>
              <a:latin typeface="楷体" pitchFamily="49" charset="-122"/>
              <a:ea typeface="楷体" pitchFamily="49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发现</a:t>
            </a:r>
            <a:r>
              <a:rPr lang="en-US" altLang="zh-CN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次负二项分布与普通二项分布的联系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4C63D8F-0F71-43D7-B370-C8EAAD9B7C8F}"/>
              </a:ext>
            </a:extLst>
          </p:cNvPr>
          <p:cNvSpPr/>
          <p:nvPr/>
        </p:nvSpPr>
        <p:spPr>
          <a:xfrm>
            <a:off x="5148263" y="2060575"/>
            <a:ext cx="3168650" cy="165576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将</a:t>
            </a:r>
            <a:r>
              <a:rPr lang="en-US" altLang="zh-CN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次负二项分布看成负参数的普通二项分布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0240CD7-AD94-4B05-A768-241A0EFD0939}"/>
              </a:ext>
            </a:extLst>
          </p:cNvPr>
          <p:cNvSpPr/>
          <p:nvPr/>
        </p:nvSpPr>
        <p:spPr>
          <a:xfrm>
            <a:off x="971550" y="4365625"/>
            <a:ext cx="3168650" cy="165576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将</a:t>
            </a:r>
            <a:r>
              <a:rPr lang="en-US" altLang="zh-CN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(n,p)</a:t>
            </a:r>
            <a:r>
              <a:rPr lang="zh-CN" altLang="en-US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负二项分布看成</a:t>
            </a:r>
            <a:r>
              <a:rPr lang="en-US" altLang="zh-CN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(-n,-q/p)</a:t>
            </a:r>
            <a:r>
              <a:rPr lang="zh-CN" altLang="en-US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的普通二项分布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53AD818-DB20-438F-8152-0CEE8F9325E5}"/>
              </a:ext>
            </a:extLst>
          </p:cNvPr>
          <p:cNvSpPr/>
          <p:nvPr/>
        </p:nvSpPr>
        <p:spPr>
          <a:xfrm>
            <a:off x="5148263" y="4365625"/>
            <a:ext cx="3168650" cy="165576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借用求二项分布均值方差的简便方法，得到结果</a:t>
            </a: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7C55EC2B-98E7-4201-BEEE-FFCE3FF4EF69}"/>
              </a:ext>
            </a:extLst>
          </p:cNvPr>
          <p:cNvSpPr/>
          <p:nvPr/>
        </p:nvSpPr>
        <p:spPr>
          <a:xfrm>
            <a:off x="4140200" y="2636838"/>
            <a:ext cx="1008063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9" name="左箭头 18">
            <a:extLst>
              <a:ext uri="{FF2B5EF4-FFF2-40B4-BE49-F238E27FC236}">
                <a16:creationId xmlns:a16="http://schemas.microsoft.com/office/drawing/2014/main" id="{557F3CD7-6355-4A35-8673-660B5E8CA539}"/>
              </a:ext>
            </a:extLst>
          </p:cNvPr>
          <p:cNvSpPr/>
          <p:nvPr/>
        </p:nvSpPr>
        <p:spPr>
          <a:xfrm rot="19536969">
            <a:off x="3900488" y="3849688"/>
            <a:ext cx="1431925" cy="36036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4568C570-64E8-4796-823C-F287371CD5CC}"/>
              </a:ext>
            </a:extLst>
          </p:cNvPr>
          <p:cNvSpPr/>
          <p:nvPr/>
        </p:nvSpPr>
        <p:spPr>
          <a:xfrm>
            <a:off x="4140200" y="4941888"/>
            <a:ext cx="1008063" cy="431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54ADDEF-D43C-4B09-853F-D348598984C1}"/>
              </a:ext>
            </a:extLst>
          </p:cNvPr>
          <p:cNvSpPr/>
          <p:nvPr/>
        </p:nvSpPr>
        <p:spPr>
          <a:xfrm>
            <a:off x="468313" y="1916113"/>
            <a:ext cx="719137" cy="7207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b="1">
                <a:solidFill>
                  <a:srgbClr val="002060"/>
                </a:solidFill>
              </a:rPr>
              <a:t>1</a:t>
            </a:r>
            <a:endParaRPr lang="zh-CN" altLang="en-US" sz="2800" b="1">
              <a:solidFill>
                <a:srgbClr val="002060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2079C1E-6665-46C6-929A-46970A1453B7}"/>
              </a:ext>
            </a:extLst>
          </p:cNvPr>
          <p:cNvSpPr/>
          <p:nvPr/>
        </p:nvSpPr>
        <p:spPr>
          <a:xfrm>
            <a:off x="8027988" y="1844675"/>
            <a:ext cx="720725" cy="7207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b="1">
                <a:solidFill>
                  <a:srgbClr val="002060"/>
                </a:solidFill>
              </a:rPr>
              <a:t>2</a:t>
            </a:r>
            <a:endParaRPr lang="zh-CN" altLang="en-US" sz="2800" b="1">
              <a:solidFill>
                <a:srgbClr val="002060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260EE24-6700-470C-BA99-0CDAAC267478}"/>
              </a:ext>
            </a:extLst>
          </p:cNvPr>
          <p:cNvSpPr/>
          <p:nvPr/>
        </p:nvSpPr>
        <p:spPr>
          <a:xfrm>
            <a:off x="468313" y="4005263"/>
            <a:ext cx="719137" cy="719137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b="1">
                <a:solidFill>
                  <a:srgbClr val="002060"/>
                </a:solidFill>
              </a:rPr>
              <a:t>3</a:t>
            </a:r>
            <a:endParaRPr lang="zh-CN" altLang="en-US" sz="2800" b="1">
              <a:solidFill>
                <a:srgbClr val="002060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93CA3195-11EB-4F48-8384-6E13423AA78A}"/>
              </a:ext>
            </a:extLst>
          </p:cNvPr>
          <p:cNvSpPr/>
          <p:nvPr/>
        </p:nvSpPr>
        <p:spPr>
          <a:xfrm>
            <a:off x="8027988" y="4076700"/>
            <a:ext cx="720725" cy="72072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b="1">
                <a:solidFill>
                  <a:srgbClr val="002060"/>
                </a:solidFill>
              </a:rPr>
              <a:t>4</a:t>
            </a:r>
            <a:endParaRPr lang="zh-CN" altLang="en-US" sz="28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E5AF8E14-D574-44E4-8866-83F9C754DF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C65C5C34-2C3F-4AAF-AA72-839722AA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E7346C5-319F-4318-88B8-80E07E3B8C98}" type="slidenum">
              <a:rPr lang="en-US" altLang="zh-CN">
                <a:solidFill>
                  <a:srgbClr val="898989"/>
                </a:solidFill>
              </a:rPr>
              <a:pPr algn="ctr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6" name="Rectangle 2">
            <a:extLst>
              <a:ext uri="{FF2B5EF4-FFF2-40B4-BE49-F238E27FC236}">
                <a16:creationId xmlns:a16="http://schemas.microsoft.com/office/drawing/2014/main" id="{2CFE6AEE-C84B-4EF6-BDCD-D4239D60B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连续两次正面的扔硬币游戏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01082AEF-0CB7-4B5B-9CF1-C2BF6C9BE9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考虑一个更复杂的扔硬币游戏：我们需要扔多少次硬币，才能出现连续两次正面朝上的结果？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很显然，在这个游戏对应的概率模型中，概率空间中的元素是</a:t>
            </a:r>
            <a:r>
              <a:rPr lang="en-US" altLang="zh-CN" sz="2800">
                <a:latin typeface="+mj-lt"/>
                <a:ea typeface="华文楷体" pitchFamily="2" charset="-122"/>
              </a:rPr>
              <a:t>H/T</a:t>
            </a:r>
            <a:r>
              <a:rPr lang="zh-CN" altLang="en-US" sz="2800">
                <a:latin typeface="+mj-lt"/>
                <a:ea typeface="华文楷体" pitchFamily="2" charset="-122"/>
              </a:rPr>
              <a:t>构成的、以</a:t>
            </a:r>
            <a:r>
              <a:rPr lang="en-US" altLang="zh-CN" sz="2800">
                <a:latin typeface="+mj-lt"/>
                <a:ea typeface="华文楷体" pitchFamily="2" charset="-122"/>
              </a:rPr>
              <a:t>HH</a:t>
            </a:r>
            <a:r>
              <a:rPr lang="zh-CN" altLang="en-US" sz="2800">
                <a:latin typeface="+mj-lt"/>
                <a:ea typeface="华文楷体" pitchFamily="2" charset="-122"/>
              </a:rPr>
              <a:t>结尾的序列：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对概率空间中的任一元素，其概率等于</a:t>
            </a:r>
            <a:r>
              <a:rPr lang="en-US" altLang="zh-CN" sz="2800">
                <a:latin typeface="+mj-lt"/>
                <a:ea typeface="华文楷体" pitchFamily="2" charset="-122"/>
              </a:rPr>
              <a:t>H</a:t>
            </a:r>
            <a:r>
              <a:rPr lang="zh-CN" altLang="en-US" sz="2800">
                <a:latin typeface="+mj-lt"/>
                <a:ea typeface="华文楷体" pitchFamily="2" charset="-122"/>
              </a:rPr>
              <a:t>换成</a:t>
            </a:r>
            <a:r>
              <a:rPr lang="en-US" altLang="zh-CN" sz="2800">
                <a:latin typeface="+mj-lt"/>
                <a:ea typeface="华文楷体" pitchFamily="2" charset="-122"/>
              </a:rPr>
              <a:t>p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T</a:t>
            </a:r>
            <a:r>
              <a:rPr lang="zh-CN" altLang="en-US" sz="2800">
                <a:latin typeface="+mj-lt"/>
                <a:ea typeface="华文楷体" pitchFamily="2" charset="-122"/>
              </a:rPr>
              <a:t>换成</a:t>
            </a:r>
            <a:r>
              <a:rPr lang="en-US" altLang="zh-CN" sz="2800">
                <a:latin typeface="+mj-lt"/>
                <a:ea typeface="华文楷体" pitchFamily="2" charset="-122"/>
              </a:rPr>
              <a:t>q</a:t>
            </a:r>
            <a:r>
              <a:rPr lang="zh-CN" altLang="en-US" sz="2800">
                <a:latin typeface="+mj-lt"/>
                <a:ea typeface="华文楷体" pitchFamily="2" charset="-122"/>
              </a:rPr>
              <a:t>的乘积。例如对于</a:t>
            </a:r>
            <a:r>
              <a:rPr lang="en-US" altLang="zh-CN" sz="2800">
                <a:latin typeface="+mj-lt"/>
                <a:ea typeface="华文楷体" pitchFamily="2" charset="-122"/>
              </a:rPr>
              <a:t>THTHH</a:t>
            </a:r>
            <a:r>
              <a:rPr lang="zh-CN" altLang="en-US" sz="2800">
                <a:latin typeface="+mj-lt"/>
                <a:ea typeface="华文楷体" pitchFamily="2" charset="-122"/>
              </a:rPr>
              <a:t>，其概率为</a:t>
            </a:r>
          </a:p>
        </p:txBody>
      </p:sp>
      <p:sp>
        <p:nvSpPr>
          <p:cNvPr id="15368" name="Rectangle 4">
            <a:extLst>
              <a:ext uri="{FF2B5EF4-FFF2-40B4-BE49-F238E27FC236}">
                <a16:creationId xmlns:a16="http://schemas.microsoft.com/office/drawing/2014/main" id="{F37694AE-B120-44BB-80A1-2FF947E59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69" name="Rectangle 6">
            <a:extLst>
              <a:ext uri="{FF2B5EF4-FFF2-40B4-BE49-F238E27FC236}">
                <a16:creationId xmlns:a16="http://schemas.microsoft.com/office/drawing/2014/main" id="{409AFA57-83DF-46DC-BD45-F7445D26C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Object 2">
                <a:extLst>
                  <a:ext uri="{FF2B5EF4-FFF2-40B4-BE49-F238E27FC236}">
                    <a16:creationId xmlns:a16="http://schemas.microsoft.com/office/drawing/2014/main" id="{C4A40AD4-84CB-4961-9DF4-FAAAA32A4CAD}"/>
                  </a:ext>
                </a:extLst>
              </p:cNvPr>
              <p:cNvSpPr txBox="1"/>
              <p:nvPr/>
            </p:nvSpPr>
            <p:spPr bwMode="auto">
              <a:xfrm>
                <a:off x="2268538" y="3284538"/>
                <a:ext cx="5183187" cy="10334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𝑇𝑇𝑇𝐻𝐻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𝑇𝐻𝑇𝐻𝐻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𝐻𝑇𝑇𝐻𝐻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,⋯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362" name="Object 2">
                <a:extLst>
                  <a:ext uri="{FF2B5EF4-FFF2-40B4-BE49-F238E27FC236}">
                    <a16:creationId xmlns:a16="http://schemas.microsoft.com/office/drawing/2014/main" id="{C4A40AD4-84CB-4961-9DF4-FAAAA32A4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8538" y="3284538"/>
                <a:ext cx="5183187" cy="10334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Object 3">
                <a:extLst>
                  <a:ext uri="{FF2B5EF4-FFF2-40B4-BE49-F238E27FC236}">
                    <a16:creationId xmlns:a16="http://schemas.microsoft.com/office/drawing/2014/main" id="{EEA9DDE8-5B70-4C61-B2D3-2DE393AD961B}"/>
                  </a:ext>
                </a:extLst>
              </p:cNvPr>
              <p:cNvSpPr txBox="1"/>
              <p:nvPr/>
            </p:nvSpPr>
            <p:spPr bwMode="auto">
              <a:xfrm>
                <a:off x="2843213" y="5589588"/>
                <a:ext cx="4032250" cy="5207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𝑇𝐻𝑇𝐻𝐻</m:t>
                              </m:r>
                            </m:e>
                          </m:d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𝑞𝑝𝑞𝑝𝑝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363" name="Object 3">
                <a:extLst>
                  <a:ext uri="{FF2B5EF4-FFF2-40B4-BE49-F238E27FC236}">
                    <a16:creationId xmlns:a16="http://schemas.microsoft.com/office/drawing/2014/main" id="{EEA9DDE8-5B70-4C61-B2D3-2DE393AD9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213" y="5589588"/>
                <a:ext cx="4032250" cy="520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2AE9A2FA-B8AE-4CB4-8858-2A83DE27192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C141778D-1D46-4186-8374-D54FF4F9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D323B02-2156-4711-9803-820AC569B960}" type="slidenum">
              <a:rPr lang="en-US" altLang="zh-CN">
                <a:solidFill>
                  <a:srgbClr val="898989"/>
                </a:solidFill>
              </a:rPr>
              <a:pPr algn="ctr"/>
              <a:t>26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6A3215A3-B6DF-4878-ABB3-5DCA5419F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连续两次正面的扔硬币游戏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2F53121D-4171-49C7-80BA-FB4365FE7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仔细观察所有序列，有什么共同的结构特征？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9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、每个序列末尾两位都是</a:t>
            </a:r>
            <a:r>
              <a:rPr lang="en-US" altLang="zh-CN" sz="2800">
                <a:latin typeface="+mj-lt"/>
                <a:ea typeface="华文楷体" pitchFamily="2" charset="-122"/>
              </a:rPr>
              <a:t>HH</a:t>
            </a:r>
            <a:r>
              <a:rPr lang="zh-CN" altLang="en-US" sz="2800">
                <a:latin typeface="+mj-lt"/>
                <a:ea typeface="华文楷体" pitchFamily="2" charset="-122"/>
              </a:rPr>
              <a:t>；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2</a:t>
            </a:r>
            <a:r>
              <a:rPr lang="zh-CN" altLang="en-US" sz="2800">
                <a:latin typeface="+mj-lt"/>
                <a:ea typeface="华文楷体" pitchFamily="2" charset="-122"/>
              </a:rPr>
              <a:t>、除末尾以外的其他部分不包含</a:t>
            </a:r>
            <a:r>
              <a:rPr lang="en-US" altLang="zh-CN" sz="2800">
                <a:latin typeface="+mj-lt"/>
                <a:ea typeface="华文楷体" pitchFamily="2" charset="-122"/>
              </a:rPr>
              <a:t>HH</a:t>
            </a:r>
            <a:r>
              <a:rPr lang="zh-CN" altLang="en-US" sz="2800">
                <a:latin typeface="+mj-lt"/>
                <a:ea typeface="华文楷体" pitchFamily="2" charset="-122"/>
              </a:rPr>
              <a:t>；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11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第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个特征很简单。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第</a:t>
            </a:r>
            <a:r>
              <a:rPr lang="en-US" altLang="zh-CN" sz="2800">
                <a:latin typeface="+mj-lt"/>
                <a:ea typeface="华文楷体" pitchFamily="2" charset="-122"/>
              </a:rPr>
              <a:t>2</a:t>
            </a:r>
            <a:r>
              <a:rPr lang="zh-CN" altLang="en-US" sz="2800">
                <a:latin typeface="+mj-lt"/>
                <a:ea typeface="华文楷体" pitchFamily="2" charset="-122"/>
              </a:rPr>
              <a:t>个特征呢？假设序列长度为</a:t>
            </a:r>
            <a:r>
              <a:rPr lang="en-US" altLang="zh-CN" sz="28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，我们在中间位置上遇到了</a:t>
            </a:r>
            <a:r>
              <a:rPr lang="en-US" altLang="zh-CN" sz="2800">
                <a:latin typeface="+mj-lt"/>
                <a:ea typeface="华文楷体" pitchFamily="2" charset="-122"/>
              </a:rPr>
              <a:t>H</a:t>
            </a:r>
            <a:r>
              <a:rPr lang="zh-CN" altLang="en-US" sz="2800">
                <a:latin typeface="+mj-lt"/>
                <a:ea typeface="华文楷体" pitchFamily="2" charset="-122"/>
              </a:rPr>
              <a:t>，那么</a:t>
            </a:r>
            <a:r>
              <a:rPr lang="en-US" altLang="zh-CN" sz="2800">
                <a:latin typeface="+mj-lt"/>
                <a:ea typeface="华文楷体" pitchFamily="2" charset="-122"/>
              </a:rPr>
              <a:t>H</a:t>
            </a:r>
            <a:r>
              <a:rPr lang="zh-CN" altLang="en-US" sz="2800">
                <a:latin typeface="+mj-lt"/>
                <a:ea typeface="华文楷体" pitchFamily="2" charset="-122"/>
              </a:rPr>
              <a:t>的前后必定都是</a:t>
            </a:r>
            <a:r>
              <a:rPr lang="en-US" altLang="zh-CN" sz="2800">
                <a:latin typeface="+mj-lt"/>
                <a:ea typeface="华文楷体" pitchFamily="2" charset="-122"/>
              </a:rPr>
              <a:t>T</a:t>
            </a:r>
            <a:r>
              <a:rPr lang="zh-CN" altLang="en-US" sz="2800">
                <a:latin typeface="+mj-lt"/>
                <a:ea typeface="华文楷体" pitchFamily="2" charset="-122"/>
              </a:rPr>
              <a:t>。</a:t>
            </a:r>
          </a:p>
        </p:txBody>
      </p:sp>
      <p:sp>
        <p:nvSpPr>
          <p:cNvPr id="16391" name="Rectangle 4">
            <a:extLst>
              <a:ext uri="{FF2B5EF4-FFF2-40B4-BE49-F238E27FC236}">
                <a16:creationId xmlns:a16="http://schemas.microsoft.com/office/drawing/2014/main" id="{7F9C7B23-CC75-4F05-B100-B7746A97F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392" name="Rectangle 6">
            <a:extLst>
              <a:ext uri="{FF2B5EF4-FFF2-40B4-BE49-F238E27FC236}">
                <a16:creationId xmlns:a16="http://schemas.microsoft.com/office/drawing/2014/main" id="{DE5072E1-5181-40A3-A467-0414E64D9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6" name="Object 3">
                <a:extLst>
                  <a:ext uri="{FF2B5EF4-FFF2-40B4-BE49-F238E27FC236}">
                    <a16:creationId xmlns:a16="http://schemas.microsoft.com/office/drawing/2014/main" id="{17C050FA-AC48-45AF-A432-02E65C813F7D}"/>
                  </a:ext>
                </a:extLst>
              </p:cNvPr>
              <p:cNvSpPr txBox="1"/>
              <p:nvPr/>
            </p:nvSpPr>
            <p:spPr bwMode="auto">
              <a:xfrm>
                <a:off x="1979613" y="1916113"/>
                <a:ext cx="5183187" cy="10334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𝑇𝑇𝑇𝐻𝐻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𝑇𝐻𝑇𝐻𝐻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𝐻𝑇𝑇𝐻𝐻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,⋯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386" name="Object 3">
                <a:extLst>
                  <a:ext uri="{FF2B5EF4-FFF2-40B4-BE49-F238E27FC236}">
                    <a16:creationId xmlns:a16="http://schemas.microsoft.com/office/drawing/2014/main" id="{17C050FA-AC48-45AF-A432-02E65C813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613" y="1916113"/>
                <a:ext cx="5183187" cy="10334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393" name="组合 13">
            <a:extLst>
              <a:ext uri="{FF2B5EF4-FFF2-40B4-BE49-F238E27FC236}">
                <a16:creationId xmlns:a16="http://schemas.microsoft.com/office/drawing/2014/main" id="{358BBC40-ED80-46AE-AE7B-99E2F2643369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5373688"/>
            <a:ext cx="2847975" cy="830262"/>
            <a:chOff x="3265310" y="5661248"/>
            <a:chExt cx="2848472" cy="83099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3117269-14DE-419E-ACEF-BD29AE77F163}"/>
                </a:ext>
              </a:extLst>
            </p:cNvPr>
            <p:cNvSpPr/>
            <p:nvPr/>
          </p:nvSpPr>
          <p:spPr>
            <a:xfrm>
              <a:off x="3265310" y="5661248"/>
              <a:ext cx="2848472" cy="830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800" b="1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latin typeface="+mn-lt"/>
                  <a:ea typeface="+mn-ea"/>
                </a:rPr>
                <a:t>...THT…HH</a:t>
              </a:r>
              <a:endParaRPr lang="zh-CN" altLang="en-US" sz="4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AB002FD6-347E-433B-A8D3-4105504146B7}"/>
                </a:ext>
              </a:extLst>
            </p:cNvPr>
            <p:cNvSpPr/>
            <p:nvPr/>
          </p:nvSpPr>
          <p:spPr>
            <a:xfrm>
              <a:off x="3708299" y="5732748"/>
              <a:ext cx="1224177" cy="721363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>
              <a:solidFill>
                <a:srgbClr val="FF000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E07E3DE5-F059-4023-B61D-4915BE93FC6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BFA12008-E61D-48F0-BB5D-F3549C599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5325647-B6A6-4C28-AFC0-2FE66F2C8B06}" type="slidenum">
              <a:rPr lang="en-US" altLang="zh-CN">
                <a:solidFill>
                  <a:srgbClr val="898989"/>
                </a:solidFill>
              </a:rPr>
              <a:pPr algn="ctr"/>
              <a:t>27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37857B3F-EB74-4917-8FE7-C9F3FB44D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连续两次正面的扔硬币游戏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1BC59448-D48E-46B8-8888-3CA057D01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继续分析第</a:t>
            </a:r>
            <a:r>
              <a:rPr lang="en-US" altLang="zh-CN" sz="2800">
                <a:latin typeface="+mj-lt"/>
                <a:ea typeface="华文楷体" pitchFamily="2" charset="-122"/>
              </a:rPr>
              <a:t>2</a:t>
            </a:r>
            <a:r>
              <a:rPr lang="zh-CN" altLang="en-US" sz="2800">
                <a:latin typeface="+mj-lt"/>
                <a:ea typeface="华文楷体" pitchFamily="2" charset="-122"/>
              </a:rPr>
              <a:t>个特征：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除了结尾处以外，序列的其他片断都是由</a:t>
            </a:r>
            <a:r>
              <a:rPr lang="en-US" altLang="zh-CN" sz="2800">
                <a:latin typeface="+mj-lt"/>
                <a:ea typeface="华文楷体" pitchFamily="2" charset="-122"/>
              </a:rPr>
              <a:t>T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HT</a:t>
            </a:r>
            <a:r>
              <a:rPr lang="zh-CN" altLang="en-US" sz="2800">
                <a:latin typeface="+mj-lt"/>
                <a:ea typeface="华文楷体" pitchFamily="2" charset="-122"/>
              </a:rPr>
              <a:t>组成的。注意，</a:t>
            </a:r>
            <a:r>
              <a:rPr lang="en-US" altLang="zh-CN" sz="2800">
                <a:latin typeface="+mj-lt"/>
                <a:ea typeface="华文楷体" pitchFamily="2" charset="-122"/>
              </a:rPr>
              <a:t>HT</a:t>
            </a:r>
            <a:r>
              <a:rPr lang="zh-CN" altLang="en-US" sz="2800">
                <a:latin typeface="+mj-lt"/>
                <a:ea typeface="华文楷体" pitchFamily="2" charset="-122"/>
              </a:rPr>
              <a:t>是绑定在一起的。换句话说，我们可以写出一个“生成文法”，给出序列的组装方法：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小问题：能否将上面的</a:t>
            </a:r>
            <a:r>
              <a:rPr lang="en-US" altLang="zh-CN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{T</a:t>
            </a:r>
            <a:r>
              <a:rPr lang="zh-CN" altLang="en-US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HT}</a:t>
            </a:r>
            <a:r>
              <a:rPr lang="zh-CN" altLang="en-US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换成</a:t>
            </a:r>
            <a:r>
              <a:rPr lang="en-US" altLang="zh-CN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{TH</a:t>
            </a:r>
            <a:r>
              <a:rPr lang="zh-CN" altLang="en-US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T}</a:t>
            </a:r>
            <a:r>
              <a:rPr lang="zh-CN" altLang="en-US" sz="2800">
                <a:solidFill>
                  <a:srgbClr val="FF0000"/>
                </a:solidFill>
                <a:latin typeface="+mj-lt"/>
                <a:ea typeface="华文楷体" pitchFamily="2" charset="-122"/>
              </a:rPr>
              <a:t> ？</a:t>
            </a:r>
          </a:p>
        </p:txBody>
      </p:sp>
      <p:sp>
        <p:nvSpPr>
          <p:cNvPr id="17415" name="Rectangle 4">
            <a:extLst>
              <a:ext uri="{FF2B5EF4-FFF2-40B4-BE49-F238E27FC236}">
                <a16:creationId xmlns:a16="http://schemas.microsoft.com/office/drawing/2014/main" id="{B3974F12-61CF-47DA-8C2C-9BAA3459C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6" name="Rectangle 6">
            <a:extLst>
              <a:ext uri="{FF2B5EF4-FFF2-40B4-BE49-F238E27FC236}">
                <a16:creationId xmlns:a16="http://schemas.microsoft.com/office/drawing/2014/main" id="{0DFEC744-2349-4719-A9B4-35EB01D3F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7417" name="组合 9">
            <a:extLst>
              <a:ext uri="{FF2B5EF4-FFF2-40B4-BE49-F238E27FC236}">
                <a16:creationId xmlns:a16="http://schemas.microsoft.com/office/drawing/2014/main" id="{B757E980-2942-42C3-A805-1012CA59DAE1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1844675"/>
            <a:ext cx="2847975" cy="831850"/>
            <a:chOff x="3265310" y="5661248"/>
            <a:chExt cx="2848472" cy="83099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463AF93-A615-492D-AFC4-18B4AB1D91CA}"/>
                </a:ext>
              </a:extLst>
            </p:cNvPr>
            <p:cNvSpPr/>
            <p:nvPr/>
          </p:nvSpPr>
          <p:spPr>
            <a:xfrm>
              <a:off x="3265310" y="5661248"/>
              <a:ext cx="2848472" cy="8309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4800" b="1">
                  <a:ln w="10541" cmpd="sng">
                    <a:solidFill>
                      <a:schemeClr val="accent1">
                        <a:shade val="88000"/>
                        <a:satMod val="110000"/>
                      </a:schemeClr>
                    </a:solidFill>
                    <a:prstDash val="solid"/>
                  </a:ln>
                  <a:gradFill>
                    <a:gsLst>
                      <a:gs pos="0">
                        <a:schemeClr val="accent1">
                          <a:tint val="40000"/>
                          <a:satMod val="250000"/>
                        </a:schemeClr>
                      </a:gs>
                      <a:gs pos="9000">
                        <a:schemeClr val="accent1">
                          <a:tint val="52000"/>
                          <a:satMod val="300000"/>
                        </a:schemeClr>
                      </a:gs>
                      <a:gs pos="50000">
                        <a:schemeClr val="accent1">
                          <a:shade val="20000"/>
                          <a:satMod val="300000"/>
                        </a:schemeClr>
                      </a:gs>
                      <a:gs pos="79000">
                        <a:schemeClr val="accent1">
                          <a:tint val="52000"/>
                          <a:satMod val="300000"/>
                        </a:schemeClr>
                      </a:gs>
                      <a:gs pos="100000">
                        <a:schemeClr val="accent1">
                          <a:tint val="40000"/>
                          <a:satMod val="250000"/>
                        </a:schemeClr>
                      </a:gs>
                    </a:gsLst>
                    <a:lin ang="5400000"/>
                  </a:gradFill>
                  <a:latin typeface="+mn-lt"/>
                  <a:ea typeface="+mn-ea"/>
                </a:rPr>
                <a:t>...THT…HH</a:t>
              </a:r>
              <a:endParaRPr lang="zh-CN" altLang="en-US" sz="48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ea typeface="+mn-ea"/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5C391813-5FA8-4B5A-AA70-32C7BBDA99B8}"/>
                </a:ext>
              </a:extLst>
            </p:cNvPr>
            <p:cNvSpPr/>
            <p:nvPr/>
          </p:nvSpPr>
          <p:spPr>
            <a:xfrm>
              <a:off x="3708299" y="5732613"/>
              <a:ext cx="1224177" cy="719986"/>
            </a:xfrm>
            <a:prstGeom prst="roundRect">
              <a:avLst/>
            </a:prstGeom>
            <a:solidFill>
              <a:srgbClr val="FF0000">
                <a:alpha val="30000"/>
              </a:srgbClr>
            </a:solidFill>
            <a:ln>
              <a:solidFill>
                <a:srgbClr val="FF000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410" name="Object 4">
                <a:extLst>
                  <a:ext uri="{FF2B5EF4-FFF2-40B4-BE49-F238E27FC236}">
                    <a16:creationId xmlns:a16="http://schemas.microsoft.com/office/drawing/2014/main" id="{E9F6B3B2-F50D-4FA2-A86F-4DD1C12661E3}"/>
                  </a:ext>
                </a:extLst>
              </p:cNvPr>
              <p:cNvSpPr txBox="1"/>
              <p:nvPr/>
            </p:nvSpPr>
            <p:spPr bwMode="auto">
              <a:xfrm>
                <a:off x="3419475" y="4221163"/>
                <a:ext cx="2217738" cy="9763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𝐻𝐻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410" name="Object 4">
                <a:extLst>
                  <a:ext uri="{FF2B5EF4-FFF2-40B4-BE49-F238E27FC236}">
                    <a16:creationId xmlns:a16="http://schemas.microsoft.com/office/drawing/2014/main" id="{E9F6B3B2-F50D-4FA2-A86F-4DD1C1266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475" y="4221163"/>
                <a:ext cx="2217738" cy="9763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D9C035F0-49FA-48F7-9A43-13D85D27F0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8182B1E6-18D1-460F-9BEA-0B1795A7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90E0537-F91E-4187-8DF9-B682F4C43102}" type="slidenum">
              <a:rPr lang="en-US" altLang="zh-CN">
                <a:solidFill>
                  <a:srgbClr val="898989"/>
                </a:solidFill>
              </a:rPr>
              <a:pPr algn="ctr"/>
              <a:t>28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14E9A576-46E8-4FBF-940B-AF6DE938C5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连续两次正面的扔硬币游戏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3384648F-512D-46BD-8470-3D92B08307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OK</a:t>
            </a:r>
            <a:r>
              <a:rPr lang="zh-CN" altLang="en-US" sz="2800">
                <a:latin typeface="+mj-lt"/>
                <a:ea typeface="华文楷体" pitchFamily="2" charset="-122"/>
              </a:rPr>
              <a:t>。根据前面的组装方法，我们可以将所有的序列按照其“长度”的递增顺序排列起来（当然，</a:t>
            </a:r>
            <a:r>
              <a:rPr lang="en-US" altLang="zh-CN" sz="2800">
                <a:latin typeface="+mj-lt"/>
                <a:ea typeface="华文楷体" pitchFamily="2" charset="-122"/>
              </a:rPr>
              <a:t>HT</a:t>
            </a:r>
            <a:r>
              <a:rPr lang="zh-CN" altLang="en-US" sz="2800">
                <a:latin typeface="+mj-lt"/>
                <a:ea typeface="华文楷体" pitchFamily="2" charset="-122"/>
              </a:rPr>
              <a:t>被看做是“</a:t>
            </a:r>
            <a:r>
              <a:rPr lang="en-US" altLang="zh-CN" sz="2800">
                <a:latin typeface="+mj-lt"/>
                <a:ea typeface="华文楷体" pitchFamily="2" charset="-122"/>
              </a:rPr>
              <a:t>1</a:t>
            </a:r>
            <a:r>
              <a:rPr lang="zh-CN" altLang="en-US" sz="2800">
                <a:latin typeface="+mj-lt"/>
                <a:ea typeface="华文楷体" pitchFamily="2" charset="-122"/>
              </a:rPr>
              <a:t>个字母”）：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12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依次考虑这些序列的对应概率，很容易得到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</p:txBody>
      </p:sp>
      <p:sp>
        <p:nvSpPr>
          <p:cNvPr id="18440" name="Rectangle 4">
            <a:extLst>
              <a:ext uri="{FF2B5EF4-FFF2-40B4-BE49-F238E27FC236}">
                <a16:creationId xmlns:a16="http://schemas.microsoft.com/office/drawing/2014/main" id="{01FE370E-8A7F-4225-94DF-AC362CF0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441" name="Rectangle 6">
            <a:extLst>
              <a:ext uri="{FF2B5EF4-FFF2-40B4-BE49-F238E27FC236}">
                <a16:creationId xmlns:a16="http://schemas.microsoft.com/office/drawing/2014/main" id="{69F03DF9-79D8-458A-B19C-4477FEABA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Object 3">
                <a:extLst>
                  <a:ext uri="{FF2B5EF4-FFF2-40B4-BE49-F238E27FC236}">
                    <a16:creationId xmlns:a16="http://schemas.microsoft.com/office/drawing/2014/main" id="{C73567C6-3AF7-4A7B-A6C9-C2783D6D732B}"/>
                  </a:ext>
                </a:extLst>
              </p:cNvPr>
              <p:cNvSpPr txBox="1"/>
              <p:nvPr/>
            </p:nvSpPr>
            <p:spPr bwMode="auto">
              <a:xfrm>
                <a:off x="1258888" y="2636838"/>
                <a:ext cx="6796087" cy="16637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2:</m:t>
                      </m:r>
                      <m:bar>
                        <m:bar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ba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bar>
                        <m:bar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𝐻𝑇</m:t>
                          </m:r>
                        </m:e>
                      </m:d>
                      <m:bar>
                        <m:bar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ba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𝑇𝑇</m:t>
                      </m:r>
                      <m:bar>
                        <m:bar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𝐻𝑇</m:t>
                          </m:r>
                        </m:e>
                      </m:d>
                      <m:bar>
                        <m:bar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𝐻𝑇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bar>
                        <m:bar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𝐻𝑇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𝐻𝑇</m:t>
                          </m:r>
                        </m:e>
                      </m:d>
                      <m:bar>
                        <m:bar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434" name="Object 3">
                <a:extLst>
                  <a:ext uri="{FF2B5EF4-FFF2-40B4-BE49-F238E27FC236}">
                    <a16:creationId xmlns:a16="http://schemas.microsoft.com/office/drawing/2014/main" id="{C73567C6-3AF7-4A7B-A6C9-C2783D6D7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888" y="2636838"/>
                <a:ext cx="6796087" cy="16637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Object 4">
                <a:extLst>
                  <a:ext uri="{FF2B5EF4-FFF2-40B4-BE49-F238E27FC236}">
                    <a16:creationId xmlns:a16="http://schemas.microsoft.com/office/drawing/2014/main" id="{1A0C2B9D-4547-4B5E-95F0-9512F44CB4E4}"/>
                  </a:ext>
                </a:extLst>
              </p:cNvPr>
              <p:cNvSpPr txBox="1"/>
              <p:nvPr/>
            </p:nvSpPr>
            <p:spPr bwMode="auto">
              <a:xfrm>
                <a:off x="1517650" y="4883150"/>
                <a:ext cx="6278563" cy="14922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𝑝𝑝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𝑝𝑝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𝑝𝑞</m:t>
                          </m: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𝑝𝑞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𝑝𝑝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435" name="Object 4">
                <a:extLst>
                  <a:ext uri="{FF2B5EF4-FFF2-40B4-BE49-F238E27FC236}">
                    <a16:creationId xmlns:a16="http://schemas.microsoft.com/office/drawing/2014/main" id="{1A0C2B9D-4547-4B5E-95F0-9512F44CB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7650" y="4883150"/>
                <a:ext cx="6278563" cy="1492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7A7A8E9C-F9AB-4324-99BB-A5A2266F60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87C8AFFC-A310-4FF8-AB78-FAAFFB74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FE105E0-09DB-4AD2-B544-B1E5490403D9}" type="slidenum">
              <a:rPr lang="en-US" altLang="zh-CN">
                <a:solidFill>
                  <a:srgbClr val="898989"/>
                </a:solidFill>
              </a:rPr>
              <a:pPr algn="ctr"/>
              <a:t>29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5170D337-0473-434D-88D3-67C03495E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连续两次正面的扔硬币游戏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5998FB6D-6552-4770-9187-304DD73B1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也就是说，对于“长度”为</a:t>
            </a:r>
            <a:r>
              <a:rPr lang="en-US" altLang="zh-CN" sz="28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的所有序列，其概率的一般形式为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好的，如果我们关注反应</a:t>
            </a:r>
            <a:r>
              <a:rPr lang="el-GR" altLang="zh-CN" sz="2800">
                <a:ea typeface="华文楷体" pitchFamily="2" charset="-122"/>
              </a:rPr>
              <a:t>Ω</a:t>
            </a:r>
            <a:r>
              <a:rPr lang="zh-CN" altLang="en-US" sz="2800">
                <a:ea typeface="华文楷体" pitchFamily="2" charset="-122"/>
              </a:rPr>
              <a:t>中序列长度的随机变量</a:t>
            </a:r>
            <a:r>
              <a:rPr lang="en-US" altLang="zh-CN" sz="2800">
                <a:ea typeface="华文楷体" pitchFamily="2" charset="-122"/>
              </a:rPr>
              <a:t>X</a:t>
            </a:r>
            <a:r>
              <a:rPr lang="zh-CN" altLang="en-US" sz="2800">
                <a:ea typeface="华文楷体" pitchFamily="2" charset="-122"/>
              </a:rPr>
              <a:t>，那么</a:t>
            </a:r>
            <a:r>
              <a:rPr lang="zh-CN" altLang="en-US" sz="2800">
                <a:latin typeface="+mj-lt"/>
                <a:ea typeface="华文楷体" pitchFamily="2" charset="-122"/>
              </a:rPr>
              <a:t>现在我们可以写出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的</a:t>
            </a:r>
            <a:r>
              <a:rPr lang="en-US" altLang="zh-CN" sz="2800">
                <a:latin typeface="+mj-lt"/>
                <a:ea typeface="华文楷体" pitchFamily="2" charset="-122"/>
              </a:rPr>
              <a:t>pgf</a:t>
            </a:r>
            <a:r>
              <a:rPr lang="zh-CN" altLang="en-US" sz="2800">
                <a:latin typeface="+mj-lt"/>
                <a:ea typeface="华文楷体" pitchFamily="2" charset="-122"/>
              </a:rPr>
              <a:t>了：</a:t>
            </a:r>
          </a:p>
        </p:txBody>
      </p:sp>
      <p:sp>
        <p:nvSpPr>
          <p:cNvPr id="19464" name="Rectangle 4">
            <a:extLst>
              <a:ext uri="{FF2B5EF4-FFF2-40B4-BE49-F238E27FC236}">
                <a16:creationId xmlns:a16="http://schemas.microsoft.com/office/drawing/2014/main" id="{4039063D-524B-4E92-A5ED-93660D34C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5" name="Rectangle 6">
            <a:extLst>
              <a:ext uri="{FF2B5EF4-FFF2-40B4-BE49-F238E27FC236}">
                <a16:creationId xmlns:a16="http://schemas.microsoft.com/office/drawing/2014/main" id="{FDCA15A1-D16A-4AE3-8A17-E9D41812E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58" name="Object 3">
                <a:extLst>
                  <a:ext uri="{FF2B5EF4-FFF2-40B4-BE49-F238E27FC236}">
                    <a16:creationId xmlns:a16="http://schemas.microsoft.com/office/drawing/2014/main" id="{CC841A60-AC16-40A1-9731-A5CC884B2F82}"/>
                  </a:ext>
                </a:extLst>
              </p:cNvPr>
              <p:cNvSpPr txBox="1"/>
              <p:nvPr/>
            </p:nvSpPr>
            <p:spPr bwMode="auto">
              <a:xfrm>
                <a:off x="3851275" y="2133600"/>
                <a:ext cx="2189163" cy="5461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𝑝𝑞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458" name="Object 3">
                <a:extLst>
                  <a:ext uri="{FF2B5EF4-FFF2-40B4-BE49-F238E27FC236}">
                    <a16:creationId xmlns:a16="http://schemas.microsoft.com/office/drawing/2014/main" id="{CC841A60-AC16-40A1-9731-A5CC884B2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1275" y="2133600"/>
                <a:ext cx="2189163" cy="546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59" name="Object 4">
                <a:extLst>
                  <a:ext uri="{FF2B5EF4-FFF2-40B4-BE49-F238E27FC236}">
                    <a16:creationId xmlns:a16="http://schemas.microsoft.com/office/drawing/2014/main" id="{91A6493F-ABAB-48D8-A6A3-DF7A820A903A}"/>
                  </a:ext>
                </a:extLst>
              </p:cNvPr>
              <p:cNvSpPr txBox="1"/>
              <p:nvPr/>
            </p:nvSpPr>
            <p:spPr bwMode="auto">
              <a:xfrm>
                <a:off x="1763713" y="3573463"/>
                <a:ext cx="6048375" cy="26193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eqArr>
                                        <m:eqArr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&amp;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e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&amp;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eqArr>
                                    </m:e>
                                  </m:d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𝑝𝑞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+2⋅</m:t>
                                      </m:r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e>
                                      </m:d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eqArr>
                                        <m:eqArr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&amp;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−2</m:t>
                                          </m:r>
                                        </m:e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&amp;</m:t>
                                          </m:r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eqArr>
                                    </m:e>
                                  </m:d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𝑞𝑧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𝑝𝑞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𝑞𝑧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𝑝𝑞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𝑞𝑧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𝑝𝑞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459" name="Object 4">
                <a:extLst>
                  <a:ext uri="{FF2B5EF4-FFF2-40B4-BE49-F238E27FC236}">
                    <a16:creationId xmlns:a16="http://schemas.microsoft.com/office/drawing/2014/main" id="{91A6493F-ABAB-48D8-A6A3-DF7A820A9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713" y="3573463"/>
                <a:ext cx="6048375" cy="2619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圆角矩形 10">
            <a:extLst>
              <a:ext uri="{FF2B5EF4-FFF2-40B4-BE49-F238E27FC236}">
                <a16:creationId xmlns:a16="http://schemas.microsoft.com/office/drawing/2014/main" id="{53FBA221-A697-4666-A4DF-0175DE108E7A}"/>
              </a:ext>
            </a:extLst>
          </p:cNvPr>
          <p:cNvSpPr/>
          <p:nvPr/>
        </p:nvSpPr>
        <p:spPr>
          <a:xfrm>
            <a:off x="6948488" y="5516563"/>
            <a:ext cx="2016125" cy="792162"/>
          </a:xfrm>
          <a:prstGeom prst="roundRect">
            <a:avLst/>
          </a:prstGeom>
          <a:solidFill>
            <a:srgbClr val="002060">
              <a:alpha val="7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dirty="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生成函数的对应级数默认收敛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0ED45A7-7366-4E7F-9E14-9F618B821470}"/>
              </a:ext>
            </a:extLst>
          </p:cNvPr>
          <p:cNvCxnSpPr/>
          <p:nvPr/>
        </p:nvCxnSpPr>
        <p:spPr>
          <a:xfrm>
            <a:off x="2627313" y="6237288"/>
            <a:ext cx="4248150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DA4D0397-5070-4587-96C3-D32EB051D50D}"/>
              </a:ext>
            </a:extLst>
          </p:cNvPr>
          <p:cNvSpPr/>
          <p:nvPr/>
        </p:nvSpPr>
        <p:spPr>
          <a:xfrm>
            <a:off x="107950" y="4292600"/>
            <a:ext cx="2160588" cy="1584325"/>
          </a:xfrm>
          <a:prstGeom prst="roundRect">
            <a:avLst/>
          </a:prstGeom>
          <a:solidFill>
            <a:srgbClr val="002060">
              <a:alpha val="7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>
                <a:solidFill>
                  <a:srgbClr val="FFFF00"/>
                </a:solidFill>
                <a:latin typeface="+mj-lt"/>
                <a:ea typeface="楷体" pitchFamily="49" charset="-122"/>
              </a:rPr>
              <a:t>CM</a:t>
            </a:r>
            <a:r>
              <a:rPr lang="zh-CN" altLang="en-US" sz="2800" b="1">
                <a:solidFill>
                  <a:srgbClr val="FFFF00"/>
                </a:solidFill>
                <a:latin typeface="+mj-lt"/>
                <a:ea typeface="楷体" pitchFamily="49" charset="-122"/>
              </a:rPr>
              <a:t>用了另外一种方法</a:t>
            </a:r>
            <a:r>
              <a:rPr lang="en-US" altLang="zh-CN" sz="2800" b="1">
                <a:solidFill>
                  <a:srgbClr val="FFFF00"/>
                </a:solidFill>
                <a:latin typeface="+mj-lt"/>
                <a:ea typeface="楷体" pitchFamily="49" charset="-122"/>
              </a:rPr>
              <a:t>,</a:t>
            </a:r>
            <a:r>
              <a:rPr lang="zh-CN" altLang="en-US" sz="2800" b="1">
                <a:solidFill>
                  <a:srgbClr val="FFFF00"/>
                </a:solidFill>
                <a:latin typeface="+mj-lt"/>
                <a:ea typeface="楷体" pitchFamily="49" charset="-122"/>
              </a:rPr>
              <a:t>参看</a:t>
            </a:r>
            <a:r>
              <a:rPr lang="en-US" altLang="zh-CN" sz="2800" b="1">
                <a:solidFill>
                  <a:srgbClr val="FFFF00"/>
                </a:solidFill>
                <a:latin typeface="+mj-lt"/>
                <a:ea typeface="楷体" pitchFamily="49" charset="-122"/>
              </a:rPr>
              <a:t>Chap7</a:t>
            </a:r>
            <a:endParaRPr lang="zh-CN" altLang="en-US" sz="2800" b="1">
              <a:solidFill>
                <a:srgbClr val="FFFF00"/>
              </a:solidFill>
              <a:latin typeface="+mj-lt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487A20FD-A2AE-4C89-8931-6B33830EB8E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F1931810-8900-4AD2-BC31-E9BCA51B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4BB35D6-758C-4B28-8AB5-579789618363}" type="slidenum">
              <a:rPr lang="en-US" altLang="zh-CN">
                <a:solidFill>
                  <a:srgbClr val="898989"/>
                </a:solidFill>
              </a:rPr>
              <a:pPr algn="ctr"/>
              <a:t>30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C759013C-201B-444E-98B7-28D4959481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连续两次正面的扔硬币游戏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C7504412-A9F1-47BF-85E5-0F755EF88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在得到了</a:t>
            </a:r>
            <a:r>
              <a:rPr lang="en-US" altLang="zh-CN" sz="2800">
                <a:latin typeface="+mj-lt"/>
                <a:ea typeface="华文楷体" pitchFamily="2" charset="-122"/>
              </a:rPr>
              <a:t>pgf</a:t>
            </a:r>
            <a:r>
              <a:rPr lang="zh-CN" altLang="en-US" sz="2800">
                <a:latin typeface="+mj-lt"/>
                <a:ea typeface="华文楷体" pitchFamily="2" charset="-122"/>
              </a:rPr>
              <a:t>之后，就可以很容易地算出序列长度变量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的均值和方差：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例如对均匀的硬币，均值和方差分别为</a:t>
            </a:r>
            <a:r>
              <a:rPr lang="en-US" altLang="zh-CN" sz="2800">
                <a:latin typeface="+mj-lt"/>
                <a:ea typeface="华文楷体" pitchFamily="2" charset="-122"/>
              </a:rPr>
              <a:t>6</a:t>
            </a:r>
            <a:r>
              <a:rPr lang="zh-CN" altLang="en-US" sz="2800">
                <a:latin typeface="+mj-lt"/>
                <a:ea typeface="华文楷体" pitchFamily="2" charset="-122"/>
              </a:rPr>
              <a:t>和</a:t>
            </a:r>
            <a:r>
              <a:rPr lang="en-US" altLang="zh-CN" sz="2800">
                <a:latin typeface="+mj-lt"/>
                <a:ea typeface="华文楷体" pitchFamily="2" charset="-122"/>
              </a:rPr>
              <a:t>22</a:t>
            </a:r>
            <a:r>
              <a:rPr lang="zh-CN" altLang="en-US" sz="2800">
                <a:latin typeface="+mj-lt"/>
                <a:ea typeface="华文楷体" pitchFamily="2" charset="-122"/>
              </a:rPr>
              <a:t>。也就是说，平均起来，需要扔</a:t>
            </a:r>
            <a:r>
              <a:rPr lang="en-US" altLang="zh-CN" sz="2800">
                <a:latin typeface="+mj-lt"/>
                <a:ea typeface="华文楷体" pitchFamily="2" charset="-122"/>
              </a:rPr>
              <a:t>6</a:t>
            </a:r>
            <a:r>
              <a:rPr lang="zh-CN" altLang="en-US" sz="2800">
                <a:latin typeface="+mj-lt"/>
                <a:ea typeface="华文楷体" pitchFamily="2" charset="-122"/>
              </a:rPr>
              <a:t>次能够得到连续两次正面朝上的结果。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</p:txBody>
      </p:sp>
      <p:sp>
        <p:nvSpPr>
          <p:cNvPr id="20487" name="Rectangle 4">
            <a:extLst>
              <a:ext uri="{FF2B5EF4-FFF2-40B4-BE49-F238E27FC236}">
                <a16:creationId xmlns:a16="http://schemas.microsoft.com/office/drawing/2014/main" id="{3423DD03-A584-4E80-801B-73B592F8E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88" name="Rectangle 6">
            <a:extLst>
              <a:ext uri="{FF2B5EF4-FFF2-40B4-BE49-F238E27FC236}">
                <a16:creationId xmlns:a16="http://schemas.microsoft.com/office/drawing/2014/main" id="{11DF614E-B975-4639-A36D-B949FEAA4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Object 2">
                <a:extLst>
                  <a:ext uri="{FF2B5EF4-FFF2-40B4-BE49-F238E27FC236}">
                    <a16:creationId xmlns:a16="http://schemas.microsoft.com/office/drawing/2014/main" id="{D8945F6D-44F9-4C92-B488-797B4D136436}"/>
                  </a:ext>
                </a:extLst>
              </p:cNvPr>
              <p:cNvSpPr txBox="1"/>
              <p:nvPr/>
            </p:nvSpPr>
            <p:spPr bwMode="auto">
              <a:xfrm>
                <a:off x="2051050" y="2276475"/>
                <a:ext cx="5019675" cy="11080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𝑀𝑒𝑎𝑛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482" name="Object 2">
                <a:extLst>
                  <a:ext uri="{FF2B5EF4-FFF2-40B4-BE49-F238E27FC236}">
                    <a16:creationId xmlns:a16="http://schemas.microsoft.com/office/drawing/2014/main" id="{D8945F6D-44F9-4C92-B488-797B4D136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1050" y="2276475"/>
                <a:ext cx="5019675" cy="11080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24A2C0EE-248F-4225-B35F-D3D2139046E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C572E79E-EC90-42BE-A459-DBFDB824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4BA60579-FD5E-4C56-AF16-E4032388DBF3}" type="slidenum">
              <a:rPr lang="en-US" altLang="zh-CN">
                <a:solidFill>
                  <a:srgbClr val="898989"/>
                </a:solidFill>
              </a:rPr>
              <a:pPr algn="ctr"/>
              <a:t>31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C574B923-29A3-439C-B3C7-6AE53D8F4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更复杂的硬币游戏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F3FAA1BE-BAFC-476C-9108-E352B1D99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600" dirty="0">
                <a:latin typeface="+mj-lt"/>
                <a:ea typeface="华文楷体" pitchFamily="2" charset="-122"/>
              </a:rPr>
              <a:t>在</a:t>
            </a:r>
            <a:r>
              <a:rPr lang="en-US" altLang="zh-CN" sz="26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Chap. 7</a:t>
            </a:r>
            <a:r>
              <a:rPr lang="zh-CN" altLang="en-US" sz="26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给出的生成函数方法</a:t>
            </a:r>
            <a:r>
              <a:rPr lang="zh-CN" altLang="en-US" sz="2600" dirty="0">
                <a:latin typeface="+mj-lt"/>
                <a:ea typeface="华文楷体" pitchFamily="2" charset="-122"/>
              </a:rPr>
              <a:t>的基础上，可以考虑更复杂的硬币游戏：</a:t>
            </a:r>
            <a:r>
              <a:rPr lang="en-US" altLang="zh-CN" sz="2600" dirty="0">
                <a:latin typeface="+mj-lt"/>
                <a:ea typeface="华文楷体" pitchFamily="2" charset="-122"/>
              </a:rPr>
              <a:t>Sheldon</a:t>
            </a:r>
            <a:r>
              <a:rPr lang="zh-CN" altLang="en-US" sz="26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600" dirty="0">
                <a:latin typeface="+mj-lt"/>
                <a:ea typeface="华文楷体" pitchFamily="2" charset="-122"/>
              </a:rPr>
              <a:t>Leonard</a:t>
            </a:r>
            <a:r>
              <a:rPr lang="zh-CN" altLang="en-US" sz="26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600" dirty="0">
                <a:latin typeface="+mj-lt"/>
                <a:ea typeface="华文楷体" pitchFamily="2" charset="-122"/>
              </a:rPr>
              <a:t>Penny</a:t>
            </a:r>
            <a:r>
              <a:rPr lang="zh-CN" altLang="en-US" sz="2600" dirty="0">
                <a:latin typeface="+mj-lt"/>
                <a:ea typeface="华文楷体" pitchFamily="2" charset="-122"/>
              </a:rPr>
              <a:t>分别选定模式</a:t>
            </a:r>
            <a:r>
              <a:rPr lang="en-US" altLang="zh-CN" sz="2600" dirty="0">
                <a:latin typeface="+mj-lt"/>
                <a:ea typeface="华文楷体" pitchFamily="2" charset="-122"/>
              </a:rPr>
              <a:t>HHTH</a:t>
            </a:r>
            <a:r>
              <a:rPr lang="zh-CN" altLang="en-US" sz="26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600" dirty="0">
                <a:latin typeface="+mj-lt"/>
                <a:ea typeface="华文楷体" pitchFamily="2" charset="-122"/>
              </a:rPr>
              <a:t>HTHH</a:t>
            </a:r>
            <a:r>
              <a:rPr lang="zh-CN" altLang="en-US" sz="26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600" dirty="0">
                <a:latin typeface="+mj-lt"/>
                <a:ea typeface="华文楷体" pitchFamily="2" charset="-122"/>
              </a:rPr>
              <a:t>THHH</a:t>
            </a:r>
            <a:r>
              <a:rPr lang="zh-CN" altLang="en-US" sz="2600" dirty="0">
                <a:latin typeface="+mj-lt"/>
                <a:ea typeface="华文楷体" pitchFamily="2" charset="-122"/>
              </a:rPr>
              <a:t>。两两之间玩这样的游戏：不停地扔一枚硬币，直到出现某个模式为止，并且判相应的人获胜。有这样的有趣结果：</a:t>
            </a:r>
            <a:endParaRPr lang="en-US" altLang="zh-CN" sz="2600" dirty="0">
              <a:latin typeface="+mj-lt"/>
              <a:ea typeface="华文楷体" pitchFamily="2" charset="-122"/>
            </a:endParaRPr>
          </a:p>
          <a:p>
            <a:pPr algn="ctr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2000" dirty="0">
              <a:ea typeface="华文楷体" pitchFamily="2" charset="-122"/>
            </a:endParaRPr>
          </a:p>
          <a:p>
            <a:pPr algn="ctr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ea typeface="华文楷体" pitchFamily="2" charset="-122"/>
              </a:rPr>
              <a:t>Sheldon</a:t>
            </a:r>
            <a:r>
              <a:rPr lang="en-US" altLang="zh-CN" sz="2000" dirty="0">
                <a:ea typeface="华文楷体" pitchFamily="2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VS</a:t>
            </a:r>
            <a:r>
              <a:rPr lang="en-US" altLang="zh-CN" sz="2000" dirty="0">
                <a:ea typeface="华文楷体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华文楷体" pitchFamily="2" charset="-122"/>
              </a:rPr>
              <a:t>Leonard</a:t>
            </a:r>
          </a:p>
          <a:p>
            <a:pPr algn="ctr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solidFill>
                  <a:srgbClr val="0000FF"/>
                </a:solidFill>
                <a:ea typeface="华文楷体" pitchFamily="2" charset="-122"/>
              </a:rPr>
              <a:t>赢面</a:t>
            </a: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3:2</a:t>
            </a:r>
            <a:endParaRPr lang="en-US" altLang="zh-CN" sz="2000" dirty="0">
              <a:solidFill>
                <a:srgbClr val="0000FF"/>
              </a:solidFill>
              <a:ea typeface="华文楷体" pitchFamily="2" charset="-122"/>
            </a:endParaRPr>
          </a:p>
          <a:p>
            <a:pPr algn="ctr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2000" dirty="0">
              <a:solidFill>
                <a:srgbClr val="0000FF"/>
              </a:solidFill>
              <a:ea typeface="华文楷体" pitchFamily="2" charset="-122"/>
            </a:endParaRPr>
          </a:p>
          <a:p>
            <a:pPr algn="ctr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2000" dirty="0">
              <a:solidFill>
                <a:srgbClr val="0000FF"/>
              </a:solidFill>
              <a:ea typeface="华文楷体" pitchFamily="2" charset="-122"/>
            </a:endParaRPr>
          </a:p>
          <a:p>
            <a:pPr algn="ctr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000" dirty="0">
                <a:solidFill>
                  <a:srgbClr val="0000FF"/>
                </a:solidFill>
                <a:ea typeface="华文楷体" pitchFamily="2" charset="-122"/>
              </a:rPr>
              <a:t>Penny </a:t>
            </a: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VS</a:t>
            </a:r>
            <a:r>
              <a:rPr lang="en-US" altLang="zh-CN" sz="2000" dirty="0">
                <a:ea typeface="华文楷体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ea typeface="华文楷体" pitchFamily="2" charset="-122"/>
              </a:rPr>
              <a:t>Sheldon     Leonard </a:t>
            </a:r>
            <a:r>
              <a:rPr lang="en-US" altLang="zh-CN" sz="2000" dirty="0" err="1">
                <a:solidFill>
                  <a:srgbClr val="FF0000"/>
                </a:solidFill>
                <a:ea typeface="华文楷体" pitchFamily="2" charset="-122"/>
              </a:rPr>
              <a:t>VS</a:t>
            </a:r>
            <a:r>
              <a:rPr lang="en-US" altLang="zh-CN" sz="2000" dirty="0" err="1">
                <a:solidFill>
                  <a:srgbClr val="0000FF"/>
                </a:solidFill>
                <a:ea typeface="华文楷体" pitchFamily="2" charset="-122"/>
              </a:rPr>
              <a:t>Penny</a:t>
            </a: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 </a:t>
            </a:r>
            <a:endParaRPr lang="en-US" altLang="zh-CN" sz="2000" dirty="0">
              <a:solidFill>
                <a:srgbClr val="0000FF"/>
              </a:solidFill>
              <a:ea typeface="华文楷体" pitchFamily="2" charset="-122"/>
            </a:endParaRPr>
          </a:p>
          <a:p>
            <a:pPr algn="ctr"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solidFill>
                  <a:srgbClr val="0000FF"/>
                </a:solidFill>
                <a:ea typeface="华文楷体" pitchFamily="2" charset="-122"/>
              </a:rPr>
              <a:t>赢面</a:t>
            </a: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7:5                                     </a:t>
            </a:r>
            <a:r>
              <a:rPr lang="zh-CN" altLang="en-US" sz="2000" dirty="0">
                <a:solidFill>
                  <a:srgbClr val="0000FF"/>
                </a:solidFill>
                <a:ea typeface="华文楷体" pitchFamily="2" charset="-122"/>
              </a:rPr>
              <a:t>赢面</a:t>
            </a:r>
            <a:r>
              <a:rPr lang="en-US" altLang="zh-CN" sz="2000" dirty="0">
                <a:solidFill>
                  <a:srgbClr val="FF0000"/>
                </a:solidFill>
                <a:ea typeface="华文楷体" pitchFamily="2" charset="-122"/>
              </a:rPr>
              <a:t>7:5</a:t>
            </a:r>
            <a:endParaRPr lang="en-US" altLang="zh-CN" sz="20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27654" name="Rectangle 4">
            <a:extLst>
              <a:ext uri="{FF2B5EF4-FFF2-40B4-BE49-F238E27FC236}">
                <a16:creationId xmlns:a16="http://schemas.microsoft.com/office/drawing/2014/main" id="{82C55422-B608-4230-924D-9895AC92D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0020D4C7-4EFE-4442-B986-4540A28F1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27656" name="图片 9" descr="leonard.jpg">
            <a:extLst>
              <a:ext uri="{FF2B5EF4-FFF2-40B4-BE49-F238E27FC236}">
                <a16:creationId xmlns:a16="http://schemas.microsoft.com/office/drawing/2014/main" id="{25910388-8C0D-410E-B0F9-30CFF7763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357563"/>
            <a:ext cx="1081088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7" name="图片 10" descr="penny.jpg">
            <a:extLst>
              <a:ext uri="{FF2B5EF4-FFF2-40B4-BE49-F238E27FC236}">
                <a16:creationId xmlns:a16="http://schemas.microsoft.com/office/drawing/2014/main" id="{2D7F87DF-6D1F-4778-91DE-EDBE83E26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5516563"/>
            <a:ext cx="1079500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8" name="图片 11" descr="sheldon.jpg">
            <a:extLst>
              <a:ext uri="{FF2B5EF4-FFF2-40B4-BE49-F238E27FC236}">
                <a16:creationId xmlns:a16="http://schemas.microsoft.com/office/drawing/2014/main" id="{8289C80F-180F-497F-A2E9-72364AD5F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3357563"/>
            <a:ext cx="1008063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73F331-9B11-4D4B-9BB7-B3C6B5FD2FAF}"/>
              </a:ext>
            </a:extLst>
          </p:cNvPr>
          <p:cNvCxnSpPr/>
          <p:nvPr/>
        </p:nvCxnSpPr>
        <p:spPr>
          <a:xfrm flipH="1">
            <a:off x="3635375" y="3933825"/>
            <a:ext cx="2160588" cy="0"/>
          </a:xfrm>
          <a:prstGeom prst="line">
            <a:avLst/>
          </a:prstGeom>
          <a:ln w="1270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8E663FC-231D-436F-8203-C2405D566915}"/>
              </a:ext>
            </a:extLst>
          </p:cNvPr>
          <p:cNvCxnSpPr/>
          <p:nvPr/>
        </p:nvCxnSpPr>
        <p:spPr>
          <a:xfrm>
            <a:off x="3132138" y="4508500"/>
            <a:ext cx="935037" cy="1296988"/>
          </a:xfrm>
          <a:prstGeom prst="line">
            <a:avLst/>
          </a:prstGeom>
          <a:ln w="1270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2784E10-1D5D-43FE-B985-DE96CB3DBEC4}"/>
              </a:ext>
            </a:extLst>
          </p:cNvPr>
          <p:cNvCxnSpPr/>
          <p:nvPr/>
        </p:nvCxnSpPr>
        <p:spPr>
          <a:xfrm flipV="1">
            <a:off x="5292725" y="4508500"/>
            <a:ext cx="1079500" cy="1296988"/>
          </a:xfrm>
          <a:prstGeom prst="line">
            <a:avLst/>
          </a:prstGeom>
          <a:ln w="127000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6377</TotalTime>
  <Words>2823</Words>
  <Application>Microsoft Office PowerPoint</Application>
  <PresentationFormat>全屏显示(4:3)</PresentationFormat>
  <Paragraphs>370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仿宋</vt:lpstr>
      <vt:lpstr>华文楷体</vt:lpstr>
      <vt:lpstr>楷体</vt:lpstr>
      <vt:lpstr>宋体</vt:lpstr>
      <vt:lpstr>Arial</vt:lpstr>
      <vt:lpstr>Calibri</vt:lpstr>
      <vt:lpstr>Cambria Math</vt:lpstr>
      <vt:lpstr>Symbol</vt:lpstr>
      <vt:lpstr>Times New Roman</vt:lpstr>
      <vt:lpstr>Verdana</vt:lpstr>
      <vt:lpstr>Wingdings</vt:lpstr>
      <vt:lpstr>Office 主题</vt:lpstr>
      <vt:lpstr>PowerPoint 演示文稿</vt:lpstr>
      <vt:lpstr>8.3 Probability Generating Functions 概率生成函数</vt:lpstr>
      <vt:lpstr>概率生成函数</vt:lpstr>
      <vt:lpstr>概率生成函数</vt:lpstr>
      <vt:lpstr>概率生成函数的亮点一</vt:lpstr>
      <vt:lpstr>概率生成函数的亮点二</vt:lpstr>
      <vt:lpstr>概率生成函数的亮点二</vt:lpstr>
      <vt:lpstr>概率生成函数的亮点三</vt:lpstr>
      <vt:lpstr>生成函数标准化</vt:lpstr>
      <vt:lpstr>一般累积量</vt:lpstr>
      <vt:lpstr>一般累积量</vt:lpstr>
      <vt:lpstr>一般累积量</vt:lpstr>
      <vt:lpstr>应用一：随机常量</vt:lpstr>
      <vt:lpstr>应用二：骰子点数</vt:lpstr>
      <vt:lpstr>8.4 抛掷硬币 Flipping Coins</vt:lpstr>
      <vt:lpstr>正面朝上次数的概率生成函数</vt:lpstr>
      <vt:lpstr>特殊的扔法</vt:lpstr>
      <vt:lpstr>特殊的扔法</vt:lpstr>
      <vt:lpstr>二项分布的pgf</vt:lpstr>
      <vt:lpstr>负二项分布的pgf</vt:lpstr>
      <vt:lpstr>负二项分布的pgf</vt:lpstr>
      <vt:lpstr>负二项分布的pgf</vt:lpstr>
      <vt:lpstr>负二项分布的pgf</vt:lpstr>
      <vt:lpstr>负二项分布的pgf</vt:lpstr>
      <vt:lpstr>连续两次正面的扔硬币游戏</vt:lpstr>
      <vt:lpstr>连续两次正面的扔硬币游戏</vt:lpstr>
      <vt:lpstr>连续两次正面的扔硬币游戏</vt:lpstr>
      <vt:lpstr>连续两次正面的扔硬币游戏</vt:lpstr>
      <vt:lpstr>连续两次正面的扔硬币游戏</vt:lpstr>
      <vt:lpstr>连续两次正面的扔硬币游戏</vt:lpstr>
      <vt:lpstr>更复杂的硬币游戏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zhaoqy</dc:creator>
  <cp:lastModifiedBy>Administrator</cp:lastModifiedBy>
  <cp:revision>373</cp:revision>
  <dcterms:created xsi:type="dcterms:W3CDTF">2011-08-23T12:16:39Z</dcterms:created>
  <dcterms:modified xsi:type="dcterms:W3CDTF">2022-04-09T14:53:36Z</dcterms:modified>
</cp:coreProperties>
</file>