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04" r:id="rId3"/>
    <p:sldId id="278" r:id="rId5"/>
    <p:sldId id="305" r:id="rId6"/>
    <p:sldId id="279" r:id="rId7"/>
    <p:sldId id="306" r:id="rId8"/>
    <p:sldId id="280" r:id="rId9"/>
    <p:sldId id="281" r:id="rId10"/>
    <p:sldId id="325" r:id="rId11"/>
    <p:sldId id="307" r:id="rId12"/>
    <p:sldId id="308" r:id="rId13"/>
    <p:sldId id="282" r:id="rId14"/>
    <p:sldId id="283" r:id="rId15"/>
    <p:sldId id="310" r:id="rId16"/>
    <p:sldId id="311" r:id="rId17"/>
    <p:sldId id="309" r:id="rId18"/>
    <p:sldId id="284" r:id="rId19"/>
    <p:sldId id="313" r:id="rId20"/>
    <p:sldId id="314" r:id="rId21"/>
    <p:sldId id="286" r:id="rId22"/>
    <p:sldId id="315" r:id="rId23"/>
    <p:sldId id="316" r:id="rId24"/>
    <p:sldId id="287" r:id="rId25"/>
    <p:sldId id="326" r:id="rId26"/>
    <p:sldId id="318" r:id="rId27"/>
    <p:sldId id="317" r:id="rId28"/>
    <p:sldId id="320" r:id="rId29"/>
    <p:sldId id="321" r:id="rId30"/>
    <p:sldId id="288" r:id="rId31"/>
    <p:sldId id="319" r:id="rId32"/>
    <p:sldId id="322" r:id="rId33"/>
    <p:sldId id="323" r:id="rId34"/>
    <p:sldId id="289" r:id="rId35"/>
    <p:sldId id="290" r:id="rId36"/>
    <p:sldId id="324" r:id="rId37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746" autoAdjust="0"/>
  </p:normalViewPr>
  <p:slideViewPr>
    <p:cSldViewPr showGuides="1">
      <p:cViewPr varScale="1">
        <p:scale>
          <a:sx n="61" d="100"/>
          <a:sy n="61" d="100"/>
        </p:scale>
        <p:origin x="1036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9022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2D2016AA-C1F2-47CA-A03C-488075434C69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A07F2116-90AA-41FB-B86B-B60D3A8C06F0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4093A97C-3FD4-4C72-846F-C3BCFA267A95}" type="slidenum">
              <a:rPr lang="en-US" altLang="zh-CN"/>
            </a:fld>
            <a:endParaRPr lang="en-US" altLang="zh-CN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endParaRPr lang="zh-CN" altLang="zh-CN"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E499A253-89A2-4248-B04D-0E308851094F}" type="slidenum">
              <a:rPr lang="en-US" altLang="zh-CN"/>
            </a:fld>
            <a:endParaRPr lang="en-US" altLang="zh-CN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E2D342-FCF8-49DC-9866-C81CE1CCD031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65872D-E4B1-49EB-82AF-D1AA4183583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37B4DE-0F15-45BD-8FA9-09543387E659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69912E-6607-4303-ADAA-2A1858EDCF9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131A1B-528C-440E-92D6-E91530974013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931310-BD32-4208-B426-8CDBBB255BD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D0EC35-DCA3-4C5B-9AD4-4AC1E65531AF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6A7B6A-AA47-43FE-9938-4728E200506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15E401-5358-49F2-BA5C-E8C09975178D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0C0318-9F6B-49B9-BBF5-AEB23794AF5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A24B79-4BD4-4E61-88C1-C7EC6E0ADA4B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1AF0AB-74F8-437C-95A5-849DDAD709BD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069DCE-E78D-4927-BE0A-1CECEC5DA622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FBDBDA-7795-4439-9E33-D8A7E58754A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C070D2-F6BA-45C5-9C60-225755594D1C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1918D3-4AA0-498F-8368-BC228E99AE4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B23204-D4E1-4F1F-88CF-601BAAB394BB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5A3517-4367-457B-908B-353A9025972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2C5D9C-4215-4A60-ACEF-0D7CFAEC3D87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1F2472-70C6-41AE-9CC9-D12FC174D548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6B4E45-C2AE-412B-9781-CC9BC7EA1274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AED1EF-3074-4247-8281-5F7D0EC16F3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150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91A0D510-DD2C-476E-97E3-54E930DF86F6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A03785BD-EDE1-407F-875D-6B0BF3229723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5.png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9.png"/><Relationship Id="rId1" Type="http://schemas.openxmlformats.org/officeDocument/2006/relationships/image" Target="../media/image48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1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8" name="Rectangle 9"/>
          <p:cNvSpPr>
            <a:spLocks noChangeArrowheads="1"/>
          </p:cNvSpPr>
          <p:nvPr/>
        </p:nvSpPr>
        <p:spPr bwMode="auto">
          <a:xfrm>
            <a:off x="755650" y="1844675"/>
            <a:ext cx="7772400" cy="22320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7200" dirty="0">
                <a:latin typeface="仿宋" panose="02010609060101010101" pitchFamily="49" charset="-122"/>
                <a:ea typeface="仿宋" panose="02010609060101010101" pitchFamily="49" charset="-122"/>
              </a:rPr>
              <a:t>具体数学</a:t>
            </a:r>
            <a:br>
              <a:rPr lang="zh-CN" altLang="en-US" sz="5400" dirty="0">
                <a:latin typeface="+mn-ea"/>
                <a:ea typeface="+mn-ea"/>
              </a:rPr>
            </a:br>
            <a:r>
              <a:rPr lang="en-US" altLang="zh-CN" sz="4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Concrete Mathematics</a:t>
            </a:r>
            <a:r>
              <a:rPr lang="en-US" altLang="zh-CN" sz="4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endParaRPr lang="en-US" altLang="zh-CN" sz="4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2531" name="Rectangle 10"/>
          <p:cNvSpPr>
            <a:spLocks noChangeArrowheads="1"/>
          </p:cNvSpPr>
          <p:nvPr/>
        </p:nvSpPr>
        <p:spPr bwMode="auto">
          <a:xfrm>
            <a:off x="1114425" y="4508500"/>
            <a:ext cx="7129463" cy="136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en-US" altLang="zh-CN" sz="2800" dirty="0">
              <a:solidFill>
                <a:srgbClr val="0070C0"/>
              </a:solidFill>
              <a:latin typeface="Verdana" panose="020B0604030504040204" pitchFamily="34" charset="0"/>
              <a:ea typeface="仿宋" panose="02010609060101010101" pitchFamily="49" charset="-122"/>
              <a:cs typeface="Verdana" panose="020B0604030504040204" pitchFamily="34" charset="0"/>
            </a:endParaRPr>
          </a:p>
          <a:p>
            <a:pPr algn="ct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en-US" altLang="zh-CN" sz="1600" dirty="0">
              <a:solidFill>
                <a:srgbClr val="0070C0"/>
              </a:solidFill>
              <a:latin typeface="Verdana" panose="020B0604030504040204" pitchFamily="34" charset="0"/>
              <a:ea typeface="仿宋" panose="02010609060101010101" pitchFamily="49" charset="-122"/>
              <a:cs typeface="Verdana" panose="020B0604030504040204" pitchFamily="34" charset="0"/>
            </a:endParaRPr>
          </a:p>
          <a:p>
            <a:pPr algn="ct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fld id="{E369FEC6-D19F-49DD-A47C-4F68BC22952B}" type="datetime3">
              <a:rPr lang="zh-CN" altLang="en-US" sz="2400">
                <a:latin typeface="Verdana" panose="020B0604030504040204" pitchFamily="34" charset="0"/>
                <a:ea typeface="仿宋" panose="02010609060101010101" pitchFamily="49" charset="-122"/>
                <a:cs typeface="Verdana" panose="020B0604030504040204" pitchFamily="34" charset="0"/>
              </a:rPr>
            </a:fld>
            <a:endParaRPr lang="en-US" altLang="zh-CN" sz="2400" dirty="0">
              <a:latin typeface="Verdana" panose="020B0604030504040204" pitchFamily="34" charset="0"/>
            </a:endParaRPr>
          </a:p>
        </p:txBody>
      </p:sp>
      <p:sp>
        <p:nvSpPr>
          <p:cNvPr id="22532" name="Rectangle 11"/>
          <p:cNvSpPr>
            <a:spLocks noChangeArrowheads="1"/>
          </p:cNvSpPr>
          <p:nvPr/>
        </p:nvSpPr>
        <p:spPr bwMode="auto">
          <a:xfrm>
            <a:off x="323850" y="533400"/>
            <a:ext cx="8569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80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华东师范大学计算机学院</a:t>
            </a:r>
            <a:endParaRPr lang="zh-CN" altLang="en-US" sz="2800" dirty="0">
              <a:solidFill>
                <a:srgbClr val="0070C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 rot="10800000" flipH="1">
            <a:off x="755650" y="3141663"/>
            <a:ext cx="7772400" cy="0"/>
          </a:xfrm>
          <a:prstGeom prst="line">
            <a:avLst/>
          </a:prstGeom>
          <a:ln w="76200" cap="flat" cmpd="sng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C4478FC-B66D-4E87-A928-5AE9C08EEA02}" type="datetime1">
              <a:rPr lang="zh-CN" altLang="en-US"/>
            </a:fld>
            <a:endParaRPr lang="en-US" altLang="zh-CN"/>
          </a:p>
        </p:txBody>
      </p:sp>
      <p:sp>
        <p:nvSpPr>
          <p:cNvPr id="11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BE0F004B-4890-4ECD-BA3C-D1924D4B908A}" type="slidenum">
              <a:rPr lang="en-US" altLang="zh-CN">
                <a:solidFill>
                  <a:srgbClr val="898989"/>
                </a:solidFill>
              </a:rPr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2205038"/>
            <a:ext cx="8229600" cy="1871662"/>
          </a:xfrm>
        </p:spPr>
        <p:txBody>
          <a:bodyPr/>
          <a:lstStyle/>
          <a:p>
            <a:r>
              <a:rPr lang="en-US" altLang="zh-CN">
                <a:ea typeface="华文楷体" panose="02010600040101010101" pitchFamily="2" charset="-122"/>
              </a:rPr>
              <a:t>2.4 </a:t>
            </a:r>
            <a:r>
              <a:rPr lang="zh-CN" altLang="en-US">
                <a:ea typeface="华文楷体" panose="02010600040101010101" pitchFamily="2" charset="-122"/>
              </a:rPr>
              <a:t>多重和</a:t>
            </a:r>
            <a:br>
              <a:rPr lang="en-US" altLang="zh-CN">
                <a:ea typeface="华文楷体" panose="02010600040101010101" pitchFamily="2" charset="-122"/>
              </a:rPr>
            </a:br>
            <a:r>
              <a:rPr lang="en-US" altLang="zh-CN">
                <a:ea typeface="华文楷体" panose="02010600040101010101" pitchFamily="2" charset="-122"/>
              </a:rPr>
              <a:t>Multiple Sums</a:t>
            </a:r>
            <a:endParaRPr lang="zh-CN" altLang="en-US">
              <a:ea typeface="华文楷体" panose="02010600040101010101" pitchFamily="2" charset="-122"/>
            </a:endParaRPr>
          </a:p>
        </p:txBody>
      </p:sp>
      <p:sp>
        <p:nvSpPr>
          <p:cNvPr id="23557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3558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3559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C4478FC-B66D-4E87-A928-5AE9C08EEA02}" type="datetime1">
              <a:rPr lang="zh-CN" altLang="en-US"/>
            </a:fld>
            <a:endParaRPr lang="en-US" altLang="zh-CN"/>
          </a:p>
        </p:txBody>
      </p:sp>
      <p:sp>
        <p:nvSpPr>
          <p:cNvPr id="11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0C800808-86BA-4DBC-8362-BF869D1761FA}" type="slidenum">
              <a:rPr lang="en-US" altLang="zh-CN">
                <a:solidFill>
                  <a:srgbClr val="898989"/>
                </a:solidFill>
              </a:rPr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0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华文楷体" panose="02010600040101010101" pitchFamily="2" charset="-122"/>
              </a:rPr>
              <a:t>多重和的表示方法</a:t>
            </a:r>
            <a:endParaRPr lang="zh-CN" altLang="en-US">
              <a:ea typeface="华文楷体" panose="02010600040101010101" pitchFamily="2" charset="-122"/>
            </a:endParaRPr>
          </a:p>
        </p:txBody>
      </p:sp>
      <p:sp>
        <p:nvSpPr>
          <p:cNvPr id="196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97152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anose="02010600040101010101" pitchFamily="2" charset="-122"/>
              </a:rPr>
              <a:t>一个和的项可能是由两个或多个指标来确定，例如</a:t>
            </a:r>
            <a:endParaRPr lang="zh-CN" altLang="en-US" dirty="0">
              <a:latin typeface="+mj-lt"/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zh-CN" altLang="en-US" dirty="0">
              <a:latin typeface="+mj-lt"/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anose="02010600040101010101" pitchFamily="2" charset="-122"/>
              </a:rPr>
              <a:t>两种表达多指标求和的方法：</a:t>
            </a:r>
            <a:endParaRPr lang="en-US" altLang="zh-CN" dirty="0">
              <a:latin typeface="+mj-lt"/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zh-CN" altLang="en-US" dirty="0">
                <a:latin typeface="+mj-lt"/>
                <a:ea typeface="华文楷体" panose="02010600040101010101" pitchFamily="2" charset="-122"/>
              </a:rPr>
              <a:t>利用“</a:t>
            </a:r>
            <a:r>
              <a:rPr lang="en-US" altLang="zh-CN" dirty="0">
                <a:latin typeface="+mj-lt"/>
                <a:ea typeface="华文楷体" panose="02010600040101010101" pitchFamily="2" charset="-122"/>
              </a:rPr>
              <a:t>Iverson</a:t>
            </a:r>
            <a:r>
              <a:rPr lang="zh-CN" altLang="en-US" dirty="0">
                <a:latin typeface="+mj-lt"/>
                <a:ea typeface="华文楷体" panose="02010600040101010101" pitchFamily="2" charset="-122"/>
              </a:rPr>
              <a:t>约定”对所有整数对</a:t>
            </a:r>
            <a:r>
              <a:rPr lang="en-US" altLang="zh-CN" i="1" dirty="0">
                <a:latin typeface="+mj-lt"/>
                <a:ea typeface="华文楷体" panose="02010600040101010101" pitchFamily="2" charset="-122"/>
              </a:rPr>
              <a:t>j</a:t>
            </a:r>
            <a:r>
              <a:rPr lang="zh-CN" altLang="en-US" dirty="0">
                <a:latin typeface="+mj-lt"/>
                <a:ea typeface="华文楷体" panose="02010600040101010101" pitchFamily="2" charset="-122"/>
              </a:rPr>
              <a:t>和</a:t>
            </a:r>
            <a:r>
              <a:rPr lang="en-US" altLang="zh-CN" i="1" dirty="0">
                <a:latin typeface="+mj-lt"/>
                <a:ea typeface="华文楷体" panose="02010600040101010101" pitchFamily="2" charset="-122"/>
              </a:rPr>
              <a:t>k</a:t>
            </a:r>
            <a:r>
              <a:rPr lang="zh-CN" altLang="en-US" dirty="0">
                <a:latin typeface="+mj-lt"/>
                <a:ea typeface="华文楷体" panose="02010600040101010101" pitchFamily="2" charset="-122"/>
              </a:rPr>
              <a:t>求和</a:t>
            </a:r>
            <a:endParaRPr lang="en-US" altLang="zh-CN" dirty="0">
              <a:latin typeface="+mj-lt"/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zh-CN" altLang="en-US" dirty="0">
              <a:latin typeface="+mj-lt"/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zh-CN" altLang="en-US" dirty="0">
                <a:latin typeface="+mj-lt"/>
                <a:ea typeface="华文楷体" panose="02010600040101010101" pitchFamily="2" charset="-122"/>
              </a:rPr>
              <a:t>按特定次序求和，表示为多重∑</a:t>
            </a:r>
            <a:endParaRPr lang="en-US" altLang="zh-CN" dirty="0">
              <a:latin typeface="+mj-lt"/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endParaRPr lang="en-US" altLang="zh-CN" dirty="0">
              <a:latin typeface="+mj-lt"/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endParaRPr lang="en-US" altLang="zh-CN" dirty="0">
              <a:latin typeface="+mj-lt"/>
              <a:ea typeface="华文楷体" panose="02010600040101010101" pitchFamily="2" charset="-122"/>
            </a:endParaRPr>
          </a:p>
          <a:p>
            <a:pPr marL="0" indent="0" fontAlgn="auto">
              <a:spcAft>
                <a:spcPts val="0"/>
              </a:spcAft>
              <a:buNone/>
              <a:defRPr/>
            </a:pPr>
            <a:endParaRPr lang="zh-CN" altLang="en-US" dirty="0">
              <a:latin typeface="+mj-lt"/>
              <a:ea typeface="华文楷体" panose="02010600040101010101" pitchFamily="2" charset="-122"/>
            </a:endParaRPr>
          </a:p>
        </p:txBody>
      </p:sp>
      <p:sp>
        <p:nvSpPr>
          <p:cNvPr id="1033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034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035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26" name="Object 5"/>
              <p:cNvSpPr txBox="1"/>
              <p:nvPr/>
            </p:nvSpPr>
            <p:spPr bwMode="auto">
              <a:xfrm>
                <a:off x="827584" y="2549256"/>
                <a:ext cx="8020740" cy="807736"/>
              </a:xfrm>
              <a:prstGeom prst="rect">
                <a:avLst/>
              </a:prstGeom>
              <a:noFill/>
            </p:spPr>
            <p:txBody>
              <a:bodyPr>
                <a:normAutofit fontScale="625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zh-CN" altLang="en-US"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zh-CN" altLang="en-US"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026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7584" y="2549256"/>
                <a:ext cx="8020740" cy="807736"/>
              </a:xfrm>
              <a:prstGeom prst="rect">
                <a:avLst/>
              </a:prstGeom>
              <a:blipFill rotWithShape="1">
                <a:blip r:embed="rId1"/>
                <a:stretch>
                  <a:fillRect l="-2" t="-1775" r="3" b="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27" name="Object 6"/>
              <p:cNvSpPr txBox="1"/>
              <p:nvPr/>
            </p:nvSpPr>
            <p:spPr bwMode="auto">
              <a:xfrm>
                <a:off x="2916238" y="4292600"/>
                <a:ext cx="3311525" cy="755650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)]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027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16238" y="4292600"/>
                <a:ext cx="3311525" cy="755650"/>
              </a:xfrm>
              <a:prstGeom prst="rect">
                <a:avLst/>
              </a:prstGeom>
              <a:blipFill rotWithShape="1">
                <a:blip r:embed="rId2"/>
                <a:stretch>
                  <a:fillRect l="-10" r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28" name="Object 7"/>
              <p:cNvSpPr txBox="1"/>
              <p:nvPr/>
            </p:nvSpPr>
            <p:spPr bwMode="auto">
              <a:xfrm>
                <a:off x="3643461" y="5628977"/>
                <a:ext cx="4752677" cy="968375"/>
              </a:xfrm>
              <a:prstGeom prst="rect">
                <a:avLst/>
              </a:prstGeom>
              <a:noFill/>
            </p:spPr>
            <p:txBody>
              <a:bodyPr>
                <a:normAutofit fontScale="85000" lnSpcReduction="1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)]</m:t>
                              </m:r>
                            </m:e>
                          </m:nary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)]</m:t>
                                  </m:r>
                                </m:e>
                              </m:nary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028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43461" y="5628977"/>
                <a:ext cx="4752677" cy="968375"/>
              </a:xfrm>
              <a:prstGeom prst="rect">
                <a:avLst/>
              </a:prstGeom>
              <a:blipFill rotWithShape="1">
                <a:blip r:embed="rId3"/>
                <a:stretch>
                  <a:fillRect l="-10" t="-35" r="4" b="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圆角矩形 14"/>
          <p:cNvSpPr/>
          <p:nvPr/>
        </p:nvSpPr>
        <p:spPr>
          <a:xfrm>
            <a:off x="6732240" y="5257800"/>
            <a:ext cx="1569715" cy="1152525"/>
          </a:xfrm>
          <a:prstGeom prst="roundRect">
            <a:avLst/>
          </a:prstGeom>
          <a:solidFill>
            <a:schemeClr val="accent1"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6" name="圆角矩形 15"/>
          <p:cNvSpPr/>
          <p:nvPr/>
        </p:nvSpPr>
        <p:spPr>
          <a:xfrm>
            <a:off x="6444208" y="5522766"/>
            <a:ext cx="1951930" cy="778733"/>
          </a:xfrm>
          <a:prstGeom prst="roundRect">
            <a:avLst/>
          </a:prstGeom>
          <a:solidFill>
            <a:srgbClr val="FF000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E7ADE53-40A2-4E75-92C5-081244584881}" type="datetime1">
              <a:rPr lang="zh-CN" altLang="en-US"/>
            </a:fld>
            <a:endParaRPr lang="en-US" altLang="zh-CN"/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8760F686-14E0-444A-A6EF-7AD6078288DA}" type="slidenum">
              <a:rPr lang="en-US" altLang="zh-CN">
                <a:solidFill>
                  <a:srgbClr val="898989"/>
                </a:solidFill>
              </a:rPr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20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华文楷体" panose="02010600040101010101" pitchFamily="2" charset="-122"/>
              </a:rPr>
              <a:t>求和次序的交换</a:t>
            </a:r>
            <a:endParaRPr lang="zh-CN" altLang="en-US">
              <a:ea typeface="华文楷体" panose="02010600040101010101" pitchFamily="2" charset="-122"/>
            </a:endParaRPr>
          </a:p>
        </p:txBody>
      </p:sp>
      <p:sp>
        <p:nvSpPr>
          <p:cNvPr id="197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28775"/>
            <a:ext cx="8229600" cy="4497388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2800" dirty="0">
                <a:solidFill>
                  <a:srgbClr val="FF0000"/>
                </a:solidFill>
                <a:ea typeface="华文楷体" panose="02010600040101010101" pitchFamily="2" charset="-122"/>
              </a:rPr>
              <a:t>交换求和次序</a:t>
            </a:r>
            <a:r>
              <a:rPr lang="zh-CN" altLang="en-US" sz="2800" dirty="0">
                <a:ea typeface="华文楷体" panose="02010600040101010101" pitchFamily="2" charset="-122"/>
              </a:rPr>
              <a:t>的基本法则：</a:t>
            </a:r>
            <a:r>
              <a:rPr lang="zh-CN" altLang="en-US" sz="2800" dirty="0">
                <a:latin typeface="+mj-lt"/>
                <a:ea typeface="华文楷体" panose="02010600040101010101" pitchFamily="2" charset="-122"/>
              </a:rPr>
              <a:t>具有多个指标的求和式可从任一指标开始求和（交换律在</a:t>
            </a:r>
            <a:r>
              <a:rPr lang="zh-CN" altLang="en-US" sz="2800" dirty="0">
                <a:ea typeface="华文楷体" panose="02010600040101010101" pitchFamily="2" charset="-122"/>
              </a:rPr>
              <a:t>指标求和中的应用</a:t>
            </a:r>
            <a:r>
              <a:rPr lang="zh-CN" altLang="en-US" sz="2800" dirty="0">
                <a:latin typeface="+mj-lt"/>
                <a:ea typeface="华文楷体" panose="02010600040101010101" pitchFamily="2" charset="-122"/>
              </a:rPr>
              <a:t>）</a:t>
            </a:r>
            <a:endParaRPr lang="en-US" altLang="zh-CN" dirty="0">
              <a:latin typeface="+mj-lt"/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sz="2800" dirty="0">
              <a:latin typeface="+mj-lt"/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sz="2800" dirty="0">
              <a:latin typeface="+mj-lt"/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anose="02010600040101010101" pitchFamily="2" charset="-122"/>
              </a:rPr>
              <a:t>从任一指标开始求和得到的结果是一致的。但是</a:t>
            </a:r>
            <a:r>
              <a:rPr lang="zh-CN" altLang="en-US" sz="2800" dirty="0">
                <a:solidFill>
                  <a:srgbClr val="FF0000"/>
                </a:solidFill>
                <a:ea typeface="华文楷体" panose="02010600040101010101" pitchFamily="2" charset="-122"/>
              </a:rPr>
              <a:t>一般来说，从不同的指标入手，计算难度是不一样的。</a:t>
            </a:r>
            <a:r>
              <a:rPr lang="zh-CN" altLang="en-US" sz="2800" dirty="0">
                <a:ea typeface="华文楷体" panose="02010600040101010101" pitchFamily="2" charset="-122"/>
              </a:rPr>
              <a:t>实际计算中往往选择从较简单的指标入手。</a:t>
            </a:r>
            <a:endParaRPr lang="zh-CN" altLang="en-US" sz="2800" dirty="0">
              <a:latin typeface="+mj-lt"/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dirty="0">
              <a:latin typeface="+mj-lt"/>
              <a:ea typeface="华文楷体" panose="02010600040101010101" pitchFamily="2" charset="-122"/>
            </a:endParaRPr>
          </a:p>
        </p:txBody>
      </p:sp>
      <p:sp>
        <p:nvSpPr>
          <p:cNvPr id="2055" name="Rectangle 5"/>
          <p:cNvSpPr>
            <a:spLocks noChangeArrowheads="1"/>
          </p:cNvSpPr>
          <p:nvPr/>
        </p:nvSpPr>
        <p:spPr bwMode="auto">
          <a:xfrm>
            <a:off x="0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056" name="Rectangle 7"/>
          <p:cNvSpPr>
            <a:spLocks noChangeArrowheads="1"/>
          </p:cNvSpPr>
          <p:nvPr/>
        </p:nvSpPr>
        <p:spPr bwMode="auto">
          <a:xfrm>
            <a:off x="0" y="2457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50" name="Object 4"/>
              <p:cNvSpPr txBox="1"/>
              <p:nvPr/>
            </p:nvSpPr>
            <p:spPr bwMode="auto">
              <a:xfrm>
                <a:off x="1763713" y="3140323"/>
                <a:ext cx="6043612" cy="720725"/>
              </a:xfrm>
              <a:prstGeom prst="rect">
                <a:avLst/>
              </a:prstGeom>
              <a:noFill/>
            </p:spPr>
            <p:txBody>
              <a:bodyPr>
                <a:normAutofit fontScale="85000" lnSpcReduction="1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)]</m:t>
                              </m:r>
                            </m:e>
                          </m:nary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)]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050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63713" y="3140323"/>
                <a:ext cx="6043612" cy="720725"/>
              </a:xfrm>
              <a:prstGeom prst="rect">
                <a:avLst/>
              </a:prstGeom>
              <a:blipFill rotWithShape="1">
                <a:blip r:embed="rId1"/>
                <a:stretch>
                  <a:fillRect l="-5" t="-34" b="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E7ADE53-40A2-4E75-92C5-081244584881}" type="datetime1">
              <a:rPr lang="zh-CN" altLang="en-US"/>
            </a:fld>
            <a:endParaRPr lang="en-US" altLang="zh-CN"/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98ADE34A-62C9-4E38-A599-7A02481106B5}" type="slidenum">
              <a:rPr lang="en-US" altLang="zh-CN">
                <a:solidFill>
                  <a:srgbClr val="898989"/>
                </a:solidFill>
              </a:rPr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308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792162"/>
          </a:xfrm>
        </p:spPr>
        <p:txBody>
          <a:bodyPr/>
          <a:lstStyle/>
          <a:p>
            <a:r>
              <a:rPr lang="zh-CN" altLang="en-US">
                <a:ea typeface="华文楷体" panose="02010600040101010101" pitchFamily="2" charset="-122"/>
              </a:rPr>
              <a:t>求和次序交换的例子</a:t>
            </a:r>
            <a:endParaRPr lang="zh-CN" altLang="en-US">
              <a:ea typeface="华文楷体" panose="02010600040101010101" pitchFamily="2" charset="-122"/>
            </a:endParaRPr>
          </a:p>
        </p:txBody>
      </p:sp>
      <p:sp>
        <p:nvSpPr>
          <p:cNvPr id="3081" name="Rectangle 5"/>
          <p:cNvSpPr>
            <a:spLocks noChangeArrowheads="1"/>
          </p:cNvSpPr>
          <p:nvPr/>
        </p:nvSpPr>
        <p:spPr bwMode="auto">
          <a:xfrm>
            <a:off x="0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082" name="Rectangle 7"/>
          <p:cNvSpPr>
            <a:spLocks noChangeArrowheads="1"/>
          </p:cNvSpPr>
          <p:nvPr/>
        </p:nvSpPr>
        <p:spPr bwMode="auto">
          <a:xfrm>
            <a:off x="0" y="2457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74" name="Object 3"/>
              <p:cNvSpPr txBox="1"/>
              <p:nvPr/>
            </p:nvSpPr>
            <p:spPr bwMode="auto">
              <a:xfrm>
                <a:off x="395288" y="908050"/>
                <a:ext cx="3816350" cy="5578475"/>
              </a:xfrm>
              <a:prstGeom prst="rect">
                <a:avLst/>
              </a:prstGeom>
              <a:noFill/>
            </p:spPr>
            <p:txBody>
              <a:bodyPr>
                <a:normAutofit fontScale="85000" lnSpcReduction="1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][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][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nary>
                        </m:e>
                      </m:nary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nary>
                        </m:e>
                      </m:nary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≤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≤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</m:nary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nary>
                        </m:e>
                      </m:d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nary>
                        </m:e>
                      </m:d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074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5288" y="908050"/>
                <a:ext cx="3816350" cy="5578475"/>
              </a:xfrm>
              <a:prstGeom prst="rect">
                <a:avLst/>
              </a:prstGeom>
              <a:blipFill rotWithShape="1">
                <a:blip r:embed="rId1"/>
                <a:stretch>
                  <a:fillRect l="-8" r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75" name="Object 4"/>
              <p:cNvSpPr txBox="1"/>
              <p:nvPr/>
            </p:nvSpPr>
            <p:spPr bwMode="auto">
              <a:xfrm>
                <a:off x="5549106" y="1204740"/>
                <a:ext cx="2224088" cy="1192213"/>
              </a:xfrm>
              <a:prstGeom prst="rect">
                <a:avLst/>
              </a:prstGeom>
              <a:noFill/>
            </p:spPr>
            <p:txBody>
              <a:bodyPr>
                <a:normAutofit fontScale="85000" lnSpcReduction="1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075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49106" y="1204740"/>
                <a:ext cx="2224088" cy="1192213"/>
              </a:xfrm>
              <a:prstGeom prst="rect">
                <a:avLst/>
              </a:prstGeom>
              <a:blipFill rotWithShape="1">
                <a:blip r:embed="rId2"/>
                <a:stretch>
                  <a:fillRect l="-21" t="-12" r="7" b="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接箭头连接符 14"/>
          <p:cNvCxnSpPr/>
          <p:nvPr/>
        </p:nvCxnSpPr>
        <p:spPr>
          <a:xfrm flipV="1">
            <a:off x="3635896" y="1230312"/>
            <a:ext cx="1728787" cy="1368425"/>
          </a:xfrm>
          <a:prstGeom prst="straightConnector1">
            <a:avLst/>
          </a:prstGeom>
          <a:ln w="127000" cap="sq" cmpd="sng">
            <a:solidFill>
              <a:srgbClr val="FF0000"/>
            </a:solidFill>
            <a:round/>
            <a:headEnd type="none" w="med" len="med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076" name="Object 5"/>
              <p:cNvSpPr txBox="1"/>
              <p:nvPr/>
            </p:nvSpPr>
            <p:spPr bwMode="auto">
              <a:xfrm>
                <a:off x="5940425" y="3141663"/>
                <a:ext cx="1803400" cy="1192212"/>
              </a:xfrm>
              <a:prstGeom prst="rect">
                <a:avLst/>
              </a:prstGeom>
              <a:noFill/>
            </p:spPr>
            <p:txBody>
              <a:bodyPr>
                <a:normAutofit fontScale="85000" lnSpcReduction="1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3076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40425" y="3141663"/>
                <a:ext cx="1803400" cy="1192212"/>
              </a:xfrm>
              <a:prstGeom prst="rect">
                <a:avLst/>
              </a:prstGeom>
              <a:blipFill rotWithShape="1">
                <a:blip r:embed="rId3"/>
                <a:stretch>
                  <a:fillRect t="-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直接箭头连接符 17"/>
          <p:cNvCxnSpPr/>
          <p:nvPr/>
        </p:nvCxnSpPr>
        <p:spPr>
          <a:xfrm flipV="1">
            <a:off x="3748881" y="3279776"/>
            <a:ext cx="1800225" cy="504825"/>
          </a:xfrm>
          <a:prstGeom prst="straightConnector1">
            <a:avLst/>
          </a:prstGeom>
          <a:ln w="127000" cap="sq" cmpd="sng">
            <a:solidFill>
              <a:srgbClr val="00B050"/>
            </a:solidFill>
            <a:round/>
            <a:headEnd type="none" w="med" len="med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077" name="Object 6"/>
              <p:cNvSpPr txBox="1"/>
              <p:nvPr/>
            </p:nvSpPr>
            <p:spPr bwMode="auto">
              <a:xfrm>
                <a:off x="5940425" y="4941888"/>
                <a:ext cx="2705100" cy="396875"/>
              </a:xfrm>
              <a:prstGeom prst="rect">
                <a:avLst/>
              </a:prstGeom>
              <a:noFill/>
            </p:spPr>
            <p:txBody>
              <a:bodyPr>
                <a:normAutofit fontScale="85000" lnSpcReduction="1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3077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40425" y="4941888"/>
                <a:ext cx="2705100" cy="396875"/>
              </a:xfrm>
              <a:prstGeom prst="rect">
                <a:avLst/>
              </a:prstGeom>
              <a:blipFill rotWithShape="1">
                <a:blip r:embed="rId4"/>
                <a:stretch>
                  <a:fillRect t="-80" b="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直接箭头连接符 19"/>
          <p:cNvCxnSpPr/>
          <p:nvPr/>
        </p:nvCxnSpPr>
        <p:spPr>
          <a:xfrm flipV="1">
            <a:off x="4356100" y="5157788"/>
            <a:ext cx="1511300" cy="71437"/>
          </a:xfrm>
          <a:prstGeom prst="straightConnector1">
            <a:avLst/>
          </a:prstGeom>
          <a:ln w="127000" cap="sq" cmpd="sng">
            <a:solidFill>
              <a:srgbClr val="0000FF"/>
            </a:solidFill>
            <a:round/>
            <a:headEnd type="none" w="med" len="med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3"/>
          <p:cNvSpPr txBox="1">
            <a:spLocks noChangeArrowheads="1"/>
          </p:cNvSpPr>
          <p:nvPr/>
        </p:nvSpPr>
        <p:spPr>
          <a:xfrm>
            <a:off x="4284663" y="5661025"/>
            <a:ext cx="3959225" cy="681038"/>
          </a:xfrm>
          <a:prstGeom prst="rect">
            <a:avLst/>
          </a:prstGeom>
        </p:spPr>
        <p:txBody>
          <a:bodyPr/>
          <a:lstStyle/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zh-CN" altLang="en-US" sz="3600">
                <a:solidFill>
                  <a:srgbClr val="FF0000"/>
                </a:solidFill>
                <a:latin typeface="+mj-lt"/>
                <a:ea typeface="华文楷体" panose="02010600040101010101" pitchFamily="2" charset="-122"/>
              </a:rPr>
              <a:t>推广：一般分配律</a:t>
            </a:r>
            <a:endParaRPr lang="zh-CN" altLang="en-US" sz="3600">
              <a:solidFill>
                <a:srgbClr val="FF0000"/>
              </a:solidFill>
              <a:latin typeface="+mj-lt"/>
              <a:ea typeface="华文楷体" panose="0201060004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BC24E0E-2964-4736-8A1A-3AB64BEAC330}" type="datetime1">
              <a:rPr lang="zh-CN" altLang="en-US"/>
            </a:fld>
            <a:endParaRPr lang="en-US" altLang="zh-CN"/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D8B15B5D-BE91-4E0A-84DC-36E2C45A09CF}" type="slidenum">
              <a:rPr lang="en-US" altLang="zh-CN">
                <a:solidFill>
                  <a:srgbClr val="898989"/>
                </a:solidFill>
              </a:rPr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4103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274638"/>
            <a:ext cx="8856984" cy="1143000"/>
          </a:xfrm>
        </p:spPr>
        <p:txBody>
          <a:bodyPr/>
          <a:lstStyle/>
          <a:p>
            <a:r>
              <a:rPr lang="zh-CN" altLang="en-US" dirty="0">
                <a:ea typeface="华文楷体" panose="02010600040101010101" pitchFamily="2" charset="-122"/>
              </a:rPr>
              <a:t>两种特定</a:t>
            </a:r>
            <a:r>
              <a:rPr lang="en-US" altLang="zh-CN" dirty="0">
                <a:ea typeface="华文楷体" panose="02010600040101010101" pitchFamily="2" charset="-122"/>
              </a:rPr>
              <a:t>p(</a:t>
            </a:r>
            <a:r>
              <a:rPr lang="en-US" altLang="zh-CN" dirty="0" err="1">
                <a:ea typeface="华文楷体" panose="02010600040101010101" pitchFamily="2" charset="-122"/>
              </a:rPr>
              <a:t>j,k</a:t>
            </a:r>
            <a:r>
              <a:rPr lang="en-US" altLang="zh-CN" dirty="0">
                <a:ea typeface="华文楷体" panose="02010600040101010101" pitchFamily="2" charset="-122"/>
              </a:rPr>
              <a:t>)</a:t>
            </a:r>
            <a:r>
              <a:rPr lang="zh-CN" altLang="en-US" dirty="0">
                <a:ea typeface="华文楷体" panose="02010600040101010101" pitchFamily="2" charset="-122"/>
              </a:rPr>
              <a:t>下的求和次序及交换</a:t>
            </a:r>
            <a:endParaRPr lang="zh-CN" altLang="en-US" dirty="0">
              <a:solidFill>
                <a:srgbClr val="0000FF"/>
              </a:solidFill>
              <a:ea typeface="华文楷体" panose="02010600040101010101" pitchFamily="2" charset="-122"/>
            </a:endParaRPr>
          </a:p>
        </p:txBody>
      </p:sp>
      <p:sp>
        <p:nvSpPr>
          <p:cNvPr id="198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 lnSpcReduction="1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ea typeface="华文楷体" panose="02010600040101010101" pitchFamily="2" charset="-122"/>
              </a:rPr>
              <a:t>（</a:t>
            </a:r>
            <a:r>
              <a:rPr lang="en-US" altLang="zh-CN" dirty="0">
                <a:ea typeface="华文楷体" panose="02010600040101010101" pitchFamily="2" charset="-122"/>
              </a:rPr>
              <a:t>1</a:t>
            </a:r>
            <a:r>
              <a:rPr lang="zh-CN" altLang="en-US" dirty="0">
                <a:ea typeface="华文楷体" panose="02010600040101010101" pitchFamily="2" charset="-122"/>
              </a:rPr>
              <a:t>）</a:t>
            </a:r>
            <a:r>
              <a:rPr lang="en-US" altLang="zh-CN" dirty="0">
                <a:ea typeface="华文楷体" panose="02010600040101010101" pitchFamily="2" charset="-122"/>
              </a:rPr>
              <a:t>P(</a:t>
            </a:r>
            <a:r>
              <a:rPr lang="en-US" altLang="zh-CN" dirty="0" err="1">
                <a:ea typeface="华文楷体" panose="02010600040101010101" pitchFamily="2" charset="-122"/>
              </a:rPr>
              <a:t>j,k</a:t>
            </a:r>
            <a:r>
              <a:rPr lang="en-US" altLang="zh-CN" dirty="0">
                <a:ea typeface="华文楷体" panose="02010600040101010101" pitchFamily="2" charset="-122"/>
              </a:rPr>
              <a:t>)</a:t>
            </a:r>
            <a:r>
              <a:rPr lang="zh-CN" altLang="en-US" dirty="0">
                <a:ea typeface="华文楷体" panose="02010600040101010101" pitchFamily="2" charset="-122"/>
              </a:rPr>
              <a:t>可表示为</a:t>
            </a:r>
            <a:r>
              <a:rPr lang="en-US" altLang="zh-CN" dirty="0">
                <a:ea typeface="华文楷体" panose="02010600040101010101" pitchFamily="2" charset="-122"/>
              </a:rPr>
              <a:t>P(j) and P(k)</a:t>
            </a:r>
            <a:endParaRPr lang="en-US" altLang="zh-CN" dirty="0">
              <a:ea typeface="华文楷体" panose="02010600040101010101" pitchFamily="2" charset="-122"/>
            </a:endParaRPr>
          </a:p>
          <a:p>
            <a:pPr marL="0" indent="0" fontAlgn="auto">
              <a:spcAft>
                <a:spcPts val="0"/>
              </a:spcAft>
              <a:buNone/>
              <a:defRPr/>
            </a:pPr>
            <a:r>
              <a:rPr lang="en-US" altLang="zh-CN" dirty="0">
                <a:solidFill>
                  <a:srgbClr val="FF0000"/>
                </a:solidFill>
                <a:latin typeface="+mj-lt"/>
                <a:ea typeface="华文楷体" panose="02010600040101010101" pitchFamily="2" charset="-122"/>
              </a:rPr>
              <a:t>              </a:t>
            </a:r>
            <a:r>
              <a:rPr lang="zh-CN" altLang="en-US" dirty="0">
                <a:solidFill>
                  <a:srgbClr val="FF0000"/>
                </a:solidFill>
                <a:latin typeface="+mj-lt"/>
                <a:ea typeface="华文楷体" panose="02010600040101010101" pitchFamily="2" charset="-122"/>
              </a:rPr>
              <a:t>下标之间是</a:t>
            </a:r>
            <a:r>
              <a:rPr lang="zh-CN" altLang="en-US" b="1" dirty="0">
                <a:solidFill>
                  <a:srgbClr val="FF0000"/>
                </a:solidFill>
                <a:latin typeface="+mj-lt"/>
                <a:ea typeface="华文楷体" panose="02010600040101010101" pitchFamily="2" charset="-122"/>
              </a:rPr>
              <a:t>独立的</a:t>
            </a:r>
            <a:endParaRPr lang="en-US" altLang="zh-CN" b="1" dirty="0">
              <a:solidFill>
                <a:srgbClr val="FF0000"/>
              </a:solidFill>
              <a:latin typeface="+mj-lt"/>
              <a:ea typeface="华文楷体" panose="02010600040101010101" pitchFamily="2" charset="-122"/>
            </a:endParaRPr>
          </a:p>
          <a:p>
            <a:pPr marL="0" indent="0" fontAlgn="auto">
              <a:spcAft>
                <a:spcPts val="0"/>
              </a:spcAft>
              <a:buNone/>
              <a:defRPr/>
            </a:pPr>
            <a:endParaRPr lang="zh-CN" altLang="en-US" dirty="0">
              <a:solidFill>
                <a:srgbClr val="0000FF"/>
              </a:solidFill>
              <a:latin typeface="+mj-lt"/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dirty="0">
              <a:latin typeface="+mj-lt"/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ea typeface="华文楷体" panose="02010600040101010101" pitchFamily="2" charset="-122"/>
              </a:rPr>
              <a:t>（</a:t>
            </a:r>
            <a:r>
              <a:rPr lang="en-US" altLang="zh-CN" dirty="0">
                <a:ea typeface="华文楷体" panose="02010600040101010101" pitchFamily="2" charset="-122"/>
              </a:rPr>
              <a:t>2</a:t>
            </a:r>
            <a:r>
              <a:rPr lang="zh-CN" altLang="en-US" dirty="0">
                <a:ea typeface="华文楷体" panose="02010600040101010101" pitchFamily="2" charset="-122"/>
              </a:rPr>
              <a:t>）</a:t>
            </a:r>
            <a:r>
              <a:rPr lang="en-US" altLang="zh-CN" dirty="0">
                <a:ea typeface="华文楷体" panose="02010600040101010101" pitchFamily="2" charset="-122"/>
              </a:rPr>
              <a:t>P(</a:t>
            </a:r>
            <a:r>
              <a:rPr lang="en-US" altLang="zh-CN" dirty="0" err="1">
                <a:ea typeface="华文楷体" panose="02010600040101010101" pitchFamily="2" charset="-122"/>
              </a:rPr>
              <a:t>j,k</a:t>
            </a:r>
            <a:r>
              <a:rPr lang="en-US" altLang="zh-CN" dirty="0">
                <a:ea typeface="华文楷体" panose="02010600040101010101" pitchFamily="2" charset="-122"/>
              </a:rPr>
              <a:t>)</a:t>
            </a:r>
            <a:r>
              <a:rPr lang="zh-CN" altLang="en-US" dirty="0">
                <a:ea typeface="华文楷体" panose="02010600040101010101" pitchFamily="2" charset="-122"/>
              </a:rPr>
              <a:t>不能表示为</a:t>
            </a:r>
            <a:r>
              <a:rPr lang="en-US" altLang="zh-CN" dirty="0">
                <a:ea typeface="华文楷体" panose="02010600040101010101" pitchFamily="2" charset="-122"/>
              </a:rPr>
              <a:t>P(j) and P(k)</a:t>
            </a:r>
            <a:endParaRPr lang="en-US" altLang="zh-CN" dirty="0">
              <a:solidFill>
                <a:srgbClr val="0000FF"/>
              </a:solidFill>
              <a:latin typeface="+mj-lt"/>
              <a:ea typeface="华文楷体" panose="02010600040101010101" pitchFamily="2" charset="-122"/>
            </a:endParaRPr>
          </a:p>
          <a:p>
            <a:pPr marL="0" indent="0" fontAlgn="auto">
              <a:spcAft>
                <a:spcPts val="0"/>
              </a:spcAft>
              <a:buNone/>
              <a:defRPr/>
            </a:pPr>
            <a:r>
              <a:rPr lang="zh-CN" altLang="en-US" dirty="0">
                <a:solidFill>
                  <a:srgbClr val="FF0000"/>
                </a:solidFill>
                <a:latin typeface="+mj-lt"/>
                <a:ea typeface="华文楷体" panose="02010600040101010101" pitchFamily="2" charset="-122"/>
              </a:rPr>
              <a:t> </a:t>
            </a:r>
            <a:endParaRPr lang="en-US" altLang="zh-CN" dirty="0">
              <a:solidFill>
                <a:srgbClr val="FF0000"/>
              </a:solidFill>
              <a:latin typeface="+mj-lt"/>
              <a:ea typeface="华文楷体" panose="02010600040101010101" pitchFamily="2" charset="-122"/>
            </a:endParaRPr>
          </a:p>
          <a:p>
            <a:pPr marL="0" indent="0" fontAlgn="auto">
              <a:spcAft>
                <a:spcPts val="0"/>
              </a:spcAft>
              <a:buNone/>
              <a:defRPr/>
            </a:pPr>
            <a:endParaRPr lang="en-US" altLang="zh-CN" dirty="0">
              <a:solidFill>
                <a:srgbClr val="FF0000"/>
              </a:solidFill>
              <a:latin typeface="+mj-lt"/>
              <a:ea typeface="华文楷体" panose="02010600040101010101" pitchFamily="2" charset="-122"/>
            </a:endParaRPr>
          </a:p>
          <a:p>
            <a:pPr marL="0" indent="0" fontAlgn="auto">
              <a:spcAft>
                <a:spcPts val="0"/>
              </a:spcAft>
              <a:buNone/>
              <a:defRPr/>
            </a:pPr>
            <a:r>
              <a:rPr lang="zh-CN" altLang="en-US" dirty="0">
                <a:solidFill>
                  <a:srgbClr val="FF0000"/>
                </a:solidFill>
                <a:latin typeface="+mj-lt"/>
                <a:ea typeface="华文楷体" panose="02010600040101010101" pitchFamily="2" charset="-122"/>
              </a:rPr>
              <a:t>               要求</a:t>
            </a:r>
            <a:endParaRPr lang="en-US" altLang="zh-CN" dirty="0">
              <a:solidFill>
                <a:srgbClr val="FF0000"/>
              </a:solidFill>
              <a:latin typeface="+mj-lt"/>
              <a:ea typeface="华文楷体" panose="02010600040101010101" pitchFamily="2" charset="-122"/>
            </a:endParaRPr>
          </a:p>
          <a:p>
            <a:pPr marL="0" indent="0" fontAlgn="auto">
              <a:spcAft>
                <a:spcPts val="0"/>
              </a:spcAft>
              <a:buNone/>
              <a:defRPr/>
            </a:pPr>
            <a:endParaRPr lang="zh-CN" altLang="en-US" dirty="0">
              <a:solidFill>
                <a:srgbClr val="FF0000"/>
              </a:solidFill>
              <a:latin typeface="+mj-lt"/>
              <a:ea typeface="华文楷体" panose="02010600040101010101" pitchFamily="2" charset="-122"/>
            </a:endParaRPr>
          </a:p>
        </p:txBody>
      </p:sp>
      <p:sp>
        <p:nvSpPr>
          <p:cNvPr id="4105" name="Rectangle 5"/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4106" name="Rectangle 7"/>
          <p:cNvSpPr>
            <a:spLocks noChangeArrowheads="1"/>
          </p:cNvSpPr>
          <p:nvPr/>
        </p:nvSpPr>
        <p:spPr bwMode="auto">
          <a:xfrm>
            <a:off x="0" y="3243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98" name="Object 4"/>
              <p:cNvSpPr txBox="1"/>
              <p:nvPr/>
            </p:nvSpPr>
            <p:spPr bwMode="auto">
              <a:xfrm>
                <a:off x="2411412" y="2814762"/>
                <a:ext cx="4320828" cy="902270"/>
              </a:xfrm>
              <a:prstGeom prst="rect">
                <a:avLst/>
              </a:prstGeom>
              <a:noFill/>
            </p:spPr>
            <p:txBody>
              <a:bodyPr>
                <a:normAutofit fontScale="85000" lnSpcReduction="1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eqArr>
                        </m:sub>
                        <m:sup/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4098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11412" y="2814762"/>
                <a:ext cx="4320828" cy="902270"/>
              </a:xfrm>
              <a:prstGeom prst="rect">
                <a:avLst/>
              </a:prstGeom>
              <a:blipFill rotWithShape="1">
                <a:blip r:embed="rId1"/>
                <a:stretch>
                  <a:fillRect l="-7" t="-49" r="14" b="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99" name="Object 5"/>
              <p:cNvSpPr txBox="1"/>
              <p:nvPr/>
            </p:nvSpPr>
            <p:spPr bwMode="auto">
              <a:xfrm>
                <a:off x="2627784" y="4509120"/>
                <a:ext cx="3744118" cy="703535"/>
              </a:xfrm>
              <a:prstGeom prst="rect">
                <a:avLst/>
              </a:prstGeom>
              <a:noFill/>
            </p:spPr>
            <p:txBody>
              <a:bodyPr>
                <a:normAutofit fontScale="85000" lnSpcReduction="1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4099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27784" y="4509120"/>
                <a:ext cx="3744118" cy="703535"/>
              </a:xfrm>
              <a:prstGeom prst="rect">
                <a:avLst/>
              </a:prstGeom>
              <a:blipFill rotWithShape="1">
                <a:blip r:embed="rId2"/>
                <a:stretch>
                  <a:fillRect l="-4" t="-88" r="8" b="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00" name="Object 6"/>
              <p:cNvSpPr txBox="1"/>
              <p:nvPr/>
            </p:nvSpPr>
            <p:spPr bwMode="auto">
              <a:xfrm>
                <a:off x="2915816" y="5461918"/>
                <a:ext cx="5905500" cy="487362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zh-CN" alt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zh-CN" alt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zh-CN" altLang="en-US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d>
                          <m:d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</m:e>
                    </m:d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d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</m:t>
                    </m:r>
                  </m:oMath>
                </a14:m>
                <a:r>
                  <a:rPr lang="en-US" altLang="zh-CN" dirty="0"/>
                  <a:t>P(</a:t>
                </a:r>
                <a:r>
                  <a:rPr lang="en-US" altLang="zh-CN" dirty="0" err="1"/>
                  <a:t>j,k</a:t>
                </a:r>
                <a:r>
                  <a:rPr lang="en-US" altLang="zh-CN" dirty="0"/>
                  <a:t>)]</a:t>
                </a:r>
                <a:endParaRPr lang="zh-CN" altLang="en-US" dirty="0"/>
              </a:p>
            </p:txBody>
          </p:sp>
        </mc:Choice>
        <mc:Fallback>
          <p:sp>
            <p:nvSpPr>
              <p:cNvPr id="4100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15816" y="5461918"/>
                <a:ext cx="5905500" cy="487362"/>
              </a:xfrm>
              <a:prstGeom prst="rect">
                <a:avLst/>
              </a:prstGeom>
              <a:blipFill rotWithShape="1">
                <a:blip r:embed="rId3"/>
                <a:stretch>
                  <a:fillRect l="-9" t="-58" r="9" b="1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C62F0CC-0940-4E6F-92DF-0666AF17CAA8}" type="datetime1">
              <a:rPr lang="zh-CN" altLang="en-US"/>
            </a:fld>
            <a:endParaRPr lang="en-US" altLang="zh-CN"/>
          </a:p>
        </p:txBody>
      </p:sp>
      <p:sp>
        <p:nvSpPr>
          <p:cNvPr id="11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19A87F72-DBAF-447D-B1F3-A31468ACB52E}" type="slidenum">
              <a:rPr lang="en-US" altLang="zh-CN">
                <a:solidFill>
                  <a:srgbClr val="898989"/>
                </a:solidFill>
              </a:rPr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华文楷体" panose="02010600040101010101" pitchFamily="2" charset="-122"/>
              </a:rPr>
              <a:t>第一种形式的例子</a:t>
            </a:r>
            <a:endParaRPr lang="zh-CN" altLang="en-US" dirty="0">
              <a:ea typeface="华文楷体" panose="02010600040101010101" pitchFamily="2" charset="-122"/>
            </a:endParaRPr>
          </a:p>
        </p:txBody>
      </p:sp>
      <p:sp>
        <p:nvSpPr>
          <p:cNvPr id="199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anose="02010600040101010101" pitchFamily="2" charset="-122"/>
              </a:rPr>
              <a:t>（</a:t>
            </a:r>
            <a:r>
              <a:rPr lang="en-US" altLang="zh-CN" dirty="0">
                <a:latin typeface="+mj-lt"/>
                <a:ea typeface="华文楷体" panose="02010600040101010101" pitchFamily="2" charset="-122"/>
              </a:rPr>
              <a:t>1</a:t>
            </a:r>
            <a:r>
              <a:rPr lang="zh-CN" altLang="en-US" dirty="0">
                <a:latin typeface="+mj-lt"/>
                <a:ea typeface="华文楷体" panose="02010600040101010101" pitchFamily="2" charset="-122"/>
              </a:rPr>
              <a:t>）</a:t>
            </a:r>
            <a:endParaRPr lang="en-US" altLang="zh-CN" dirty="0">
              <a:latin typeface="+mj-lt"/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dirty="0">
              <a:latin typeface="+mj-lt"/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dirty="0">
              <a:latin typeface="+mj-lt"/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anose="02010600040101010101" pitchFamily="2" charset="-122"/>
              </a:rPr>
              <a:t>（</a:t>
            </a:r>
            <a:r>
              <a:rPr lang="en-US" altLang="zh-CN" dirty="0">
                <a:latin typeface="+mj-lt"/>
                <a:ea typeface="华文楷体" panose="02010600040101010101" pitchFamily="2" charset="-122"/>
              </a:rPr>
              <a:t>2</a:t>
            </a:r>
            <a:r>
              <a:rPr lang="zh-CN" altLang="en-US" dirty="0">
                <a:latin typeface="+mj-lt"/>
                <a:ea typeface="华文楷体" panose="02010600040101010101" pitchFamily="2" charset="-122"/>
              </a:rPr>
              <a:t>）</a:t>
            </a:r>
            <a:endParaRPr lang="en-US" altLang="zh-CN" dirty="0">
              <a:latin typeface="+mj-lt"/>
              <a:ea typeface="华文楷体" panose="02010600040101010101" pitchFamily="2" charset="-122"/>
            </a:endParaRPr>
          </a:p>
          <a:p>
            <a:pPr lvl="1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zh-CN" altLang="en-US" dirty="0">
              <a:latin typeface="+mj-lt"/>
              <a:ea typeface="华文楷体" panose="02010600040101010101" pitchFamily="2" charset="-122"/>
            </a:endParaRPr>
          </a:p>
        </p:txBody>
      </p:sp>
      <p:sp>
        <p:nvSpPr>
          <p:cNvPr id="24582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4583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4584" name="Rectangle 9"/>
          <p:cNvSpPr>
            <a:spLocks noChangeArrowheads="1"/>
          </p:cNvSpPr>
          <p:nvPr/>
        </p:nvSpPr>
        <p:spPr bwMode="auto">
          <a:xfrm>
            <a:off x="0" y="28432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Object 3"/>
              <p:cNvSpPr txBox="1"/>
              <p:nvPr/>
            </p:nvSpPr>
            <p:spPr bwMode="auto">
              <a:xfrm>
                <a:off x="1691680" y="1834431"/>
                <a:ext cx="3744416" cy="1162522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9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91680" y="1834431"/>
                <a:ext cx="3744416" cy="1162522"/>
              </a:xfrm>
              <a:prstGeom prst="rect">
                <a:avLst/>
              </a:prstGeom>
              <a:blipFill rotWithShape="1">
                <a:blip r:embed="rId1"/>
                <a:stretch>
                  <a:fillRect l="-1" t="-47" r="13" b="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Object 3"/>
              <p:cNvSpPr txBox="1"/>
              <p:nvPr/>
            </p:nvSpPr>
            <p:spPr bwMode="auto">
              <a:xfrm>
                <a:off x="1547664" y="3860378"/>
                <a:ext cx="5256584" cy="1224806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eqArr>
                        </m:sub>
                        <m:sup/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zh-CN" alt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eqArr>
                                <m:eqArrPr>
                                  <m:ctrlPr>
                                    <a:rPr lang="zh-CN" altLang="en-US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&amp;</m:t>
                                  </m:r>
                                </m:e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</m:eqAr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eqArr>
                                <m:eqArr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&amp;</m:t>
                                  </m:r>
                                </m:e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</m:eqAr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2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47664" y="3860378"/>
                <a:ext cx="5256584" cy="1224806"/>
              </a:xfrm>
              <a:prstGeom prst="rect">
                <a:avLst/>
              </a:prstGeom>
              <a:blipFill rotWithShape="1">
                <a:blip r:embed="rId2"/>
                <a:stretch>
                  <a:fillRect l="-3" t="-17" r="4" b="-24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C62F0CC-0940-4E6F-92DF-0666AF17CAA8}" type="datetime1">
              <a:rPr lang="zh-CN" altLang="en-US"/>
            </a:fld>
            <a:endParaRPr lang="en-US" altLang="zh-CN"/>
          </a:p>
        </p:txBody>
      </p:sp>
      <p:sp>
        <p:nvSpPr>
          <p:cNvPr id="11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19A87F72-DBAF-447D-B1F3-A31468ACB52E}" type="slidenum">
              <a:rPr lang="en-US" altLang="zh-CN">
                <a:solidFill>
                  <a:srgbClr val="898989"/>
                </a:solidFill>
              </a:rPr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华文楷体" panose="02010600040101010101" pitchFamily="2" charset="-122"/>
              </a:rPr>
              <a:t>第二种形式的例子</a:t>
            </a:r>
            <a:endParaRPr lang="zh-CN" altLang="en-US" dirty="0">
              <a:ea typeface="华文楷体" panose="02010600040101010101" pitchFamily="2" charset="-122"/>
            </a:endParaRPr>
          </a:p>
        </p:txBody>
      </p:sp>
      <p:sp>
        <p:nvSpPr>
          <p:cNvPr id="199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anose="02010600040101010101" pitchFamily="2" charset="-122"/>
              </a:rPr>
              <a:t>对下面的两重</a:t>
            </a:r>
            <a:r>
              <a:rPr lang="en-US" altLang="zh-CN" dirty="0">
                <a:latin typeface="+mj-lt"/>
                <a:ea typeface="华文楷体" panose="02010600040101010101" pitchFamily="2" charset="-122"/>
              </a:rPr>
              <a:t>for</a:t>
            </a:r>
            <a:r>
              <a:rPr lang="zh-CN" altLang="en-US" dirty="0">
                <a:latin typeface="+mj-lt"/>
                <a:ea typeface="华文楷体" panose="02010600040101010101" pitchFamily="2" charset="-122"/>
              </a:rPr>
              <a:t>循环，如果更换循环的顺序，应该怎么写？</a:t>
            </a:r>
            <a:endParaRPr lang="en-US" altLang="zh-CN" dirty="0">
              <a:latin typeface="+mj-lt"/>
              <a:ea typeface="华文楷体" panose="02010600040101010101" pitchFamily="2" charset="-122"/>
            </a:endParaRPr>
          </a:p>
          <a:p>
            <a:pPr lvl="1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dirty="0">
                <a:latin typeface="+mj-lt"/>
                <a:ea typeface="华文楷体" panose="02010600040101010101" pitchFamily="2" charset="-122"/>
              </a:rPr>
              <a:t>int s = 0;</a:t>
            </a:r>
            <a:endParaRPr lang="en-US" altLang="zh-CN" dirty="0">
              <a:latin typeface="+mj-lt"/>
              <a:ea typeface="华文楷体" panose="02010600040101010101" pitchFamily="2" charset="-122"/>
            </a:endParaRPr>
          </a:p>
          <a:p>
            <a:pPr lvl="1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dirty="0">
                <a:latin typeface="+mj-lt"/>
                <a:ea typeface="华文楷体" panose="02010600040101010101" pitchFamily="2" charset="-122"/>
              </a:rPr>
              <a:t>for (unsigned int j = 1; j &lt; n + 1; j ++) {</a:t>
            </a:r>
            <a:endParaRPr lang="en-US" altLang="zh-CN" dirty="0">
              <a:latin typeface="+mj-lt"/>
              <a:ea typeface="华文楷体" panose="02010600040101010101" pitchFamily="2" charset="-122"/>
            </a:endParaRPr>
          </a:p>
          <a:p>
            <a:pPr lvl="1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dirty="0">
                <a:latin typeface="+mj-lt"/>
                <a:ea typeface="华文楷体" panose="02010600040101010101" pitchFamily="2" charset="-122"/>
              </a:rPr>
              <a:t>	for </a:t>
            </a:r>
            <a:r>
              <a:rPr lang="en-US" altLang="zh-CN" dirty="0">
                <a:ea typeface="华文楷体" panose="02010600040101010101" pitchFamily="2" charset="-122"/>
              </a:rPr>
              <a:t>(unsigned int k = j; k &lt; n + 1; k ++) {</a:t>
            </a:r>
            <a:endParaRPr lang="en-US" altLang="zh-CN" dirty="0">
              <a:ea typeface="华文楷体" panose="02010600040101010101" pitchFamily="2" charset="-122"/>
            </a:endParaRPr>
          </a:p>
          <a:p>
            <a:pPr lvl="1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dirty="0">
                <a:latin typeface="+mj-lt"/>
                <a:ea typeface="华文楷体" panose="02010600040101010101" pitchFamily="2" charset="-122"/>
              </a:rPr>
              <a:t>		s += a[j][k];</a:t>
            </a:r>
            <a:endParaRPr lang="en-US" altLang="zh-CN" dirty="0">
              <a:latin typeface="+mj-lt"/>
              <a:ea typeface="华文楷体" panose="02010600040101010101" pitchFamily="2" charset="-122"/>
            </a:endParaRPr>
          </a:p>
          <a:p>
            <a:pPr lvl="1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dirty="0">
                <a:latin typeface="+mj-lt"/>
                <a:ea typeface="华文楷体" panose="02010600040101010101" pitchFamily="2" charset="-122"/>
              </a:rPr>
              <a:t>	}</a:t>
            </a:r>
            <a:endParaRPr lang="en-US" altLang="zh-CN" dirty="0">
              <a:latin typeface="+mj-lt"/>
              <a:ea typeface="华文楷体" panose="02010600040101010101" pitchFamily="2" charset="-122"/>
            </a:endParaRPr>
          </a:p>
          <a:p>
            <a:pPr lvl="1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dirty="0">
                <a:latin typeface="+mj-lt"/>
                <a:ea typeface="华文楷体" panose="02010600040101010101" pitchFamily="2" charset="-122"/>
              </a:rPr>
              <a:t>}</a:t>
            </a:r>
            <a:endParaRPr lang="zh-CN" altLang="en-US" dirty="0">
              <a:latin typeface="+mj-lt"/>
              <a:ea typeface="华文楷体" panose="02010600040101010101" pitchFamily="2" charset="-122"/>
            </a:endParaRPr>
          </a:p>
        </p:txBody>
      </p:sp>
      <p:sp>
        <p:nvSpPr>
          <p:cNvPr id="24582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4583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4584" name="Rectangle 9"/>
          <p:cNvSpPr>
            <a:spLocks noChangeArrowheads="1"/>
          </p:cNvSpPr>
          <p:nvPr/>
        </p:nvSpPr>
        <p:spPr bwMode="auto">
          <a:xfrm>
            <a:off x="0" y="28432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C62F0CC-0940-4E6F-92DF-0666AF17CAA8}" type="datetime1">
              <a:rPr lang="zh-CN" altLang="en-US"/>
            </a:fld>
            <a:endParaRPr lang="en-US" altLang="zh-CN"/>
          </a:p>
        </p:txBody>
      </p:sp>
      <p:sp>
        <p:nvSpPr>
          <p:cNvPr id="11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66411298-4227-4C91-8442-C1D5A93062D5}" type="slidenum">
              <a:rPr lang="en-US" altLang="zh-CN">
                <a:solidFill>
                  <a:srgbClr val="898989"/>
                </a:solidFill>
              </a:rPr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51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华文楷体" panose="02010600040101010101" pitchFamily="2" charset="-122"/>
              </a:rPr>
              <a:t>第二种形式的例子</a:t>
            </a:r>
            <a:endParaRPr lang="zh-CN" altLang="en-US" dirty="0">
              <a:ea typeface="华文楷体" panose="02010600040101010101" pitchFamily="2" charset="-122"/>
            </a:endParaRPr>
          </a:p>
        </p:txBody>
      </p:sp>
      <p:sp>
        <p:nvSpPr>
          <p:cNvPr id="199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3600" dirty="0">
                <a:latin typeface="+mj-lt"/>
                <a:ea typeface="华文楷体" panose="02010600040101010101" pitchFamily="2" charset="-122"/>
              </a:rPr>
              <a:t>前面的代码相当于计算</a:t>
            </a:r>
            <a:endParaRPr lang="en-US" altLang="zh-CN" sz="3600" dirty="0">
              <a:latin typeface="+mj-lt"/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sz="3600" dirty="0">
                <a:ea typeface="华文楷体" panose="02010600040101010101" pitchFamily="2" charset="-122"/>
              </a:rPr>
              <a:t>在</a:t>
            </a:r>
            <a:r>
              <a:rPr lang="en-US" altLang="zh-CN" sz="3600" dirty="0">
                <a:ea typeface="华文楷体" panose="02010600040101010101" pitchFamily="2" charset="-122"/>
              </a:rPr>
              <a:t>Iverson</a:t>
            </a:r>
            <a:r>
              <a:rPr lang="zh-CN" altLang="en-US" sz="3600" dirty="0">
                <a:ea typeface="华文楷体" panose="02010600040101010101" pitchFamily="2" charset="-122"/>
              </a:rPr>
              <a:t>约定下考察如何</a:t>
            </a:r>
            <a:r>
              <a:rPr lang="zh-CN" altLang="en-US" sz="3600" dirty="0">
                <a:latin typeface="+mj-lt"/>
                <a:ea typeface="华文楷体" panose="02010600040101010101" pitchFamily="2" charset="-122"/>
              </a:rPr>
              <a:t>变换循环的顺序：</a:t>
            </a:r>
            <a:endParaRPr lang="zh-CN" altLang="en-US" sz="3600" dirty="0">
              <a:latin typeface="+mj-lt"/>
              <a:ea typeface="华文楷体" panose="02010600040101010101" pitchFamily="2" charset="-122"/>
            </a:endParaRPr>
          </a:p>
          <a:p>
            <a:pPr lvl="1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zh-CN" altLang="en-US" sz="3200" dirty="0">
              <a:latin typeface="+mj-lt"/>
              <a:ea typeface="华文楷体" panose="02010600040101010101" pitchFamily="2" charset="-122"/>
            </a:endParaRPr>
          </a:p>
          <a:p>
            <a:pPr lvl="1" fontAlgn="auto">
              <a:spcAft>
                <a:spcPts val="0"/>
              </a:spcAft>
              <a:defRPr/>
            </a:pPr>
            <a:endParaRPr lang="zh-CN" altLang="en-US" sz="1100" dirty="0">
              <a:latin typeface="+mj-lt"/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sz="3600" dirty="0">
                <a:latin typeface="+mj-lt"/>
                <a:ea typeface="华文楷体" panose="02010600040101010101" pitchFamily="2" charset="-122"/>
              </a:rPr>
              <a:t>因此有</a:t>
            </a:r>
            <a:endParaRPr lang="en-US" altLang="zh-CN" sz="3600" dirty="0">
              <a:latin typeface="+mj-lt"/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sz="3600" dirty="0">
                <a:latin typeface="+mj-lt"/>
                <a:ea typeface="华文楷体" panose="02010600040101010101" pitchFamily="2" charset="-122"/>
              </a:rPr>
              <a:t>一般来说，从</a:t>
            </a:r>
            <a:r>
              <a:rPr lang="en-US" altLang="zh-CN" sz="3600" dirty="0">
                <a:latin typeface="+mj-lt"/>
                <a:ea typeface="华文楷体" panose="02010600040101010101" pitchFamily="2" charset="-122"/>
              </a:rPr>
              <a:t>j</a:t>
            </a:r>
            <a:r>
              <a:rPr lang="zh-CN" altLang="en-US" sz="3600" dirty="0">
                <a:latin typeface="+mj-lt"/>
                <a:ea typeface="华文楷体" panose="02010600040101010101" pitchFamily="2" charset="-122"/>
              </a:rPr>
              <a:t>或</a:t>
            </a:r>
            <a:r>
              <a:rPr lang="en-US" altLang="zh-CN" sz="3600" dirty="0">
                <a:latin typeface="+mj-lt"/>
                <a:ea typeface="华文楷体" panose="02010600040101010101" pitchFamily="2" charset="-122"/>
              </a:rPr>
              <a:t>k</a:t>
            </a:r>
            <a:r>
              <a:rPr lang="zh-CN" altLang="en-US" sz="3600" dirty="0">
                <a:latin typeface="+mj-lt"/>
                <a:ea typeface="华文楷体" panose="02010600040101010101" pitchFamily="2" charset="-122"/>
              </a:rPr>
              <a:t>开始求和的难度是不同的。往往选择从容易的下标开始。</a:t>
            </a:r>
            <a:endParaRPr lang="zh-CN" altLang="en-US" sz="3600" dirty="0">
              <a:latin typeface="+mj-lt"/>
              <a:ea typeface="华文楷体" panose="02010600040101010101" pitchFamily="2" charset="-122"/>
            </a:endParaRPr>
          </a:p>
        </p:txBody>
      </p:sp>
      <p:sp>
        <p:nvSpPr>
          <p:cNvPr id="5129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5130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5131" name="Rectangle 9"/>
          <p:cNvSpPr>
            <a:spLocks noChangeArrowheads="1"/>
          </p:cNvSpPr>
          <p:nvPr/>
        </p:nvSpPr>
        <p:spPr bwMode="auto">
          <a:xfrm>
            <a:off x="0" y="28432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22" name="Object 5"/>
              <p:cNvSpPr txBox="1"/>
              <p:nvPr/>
            </p:nvSpPr>
            <p:spPr bwMode="auto">
              <a:xfrm>
                <a:off x="5508625" y="1542430"/>
                <a:ext cx="1150938" cy="806450"/>
              </a:xfrm>
              <a:prstGeom prst="rect">
                <a:avLst/>
              </a:prstGeom>
              <a:noFill/>
            </p:spPr>
            <p:txBody>
              <a:bodyPr>
                <a:normAutofit fontScale="85000" lnSpcReduction="1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122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08625" y="1542430"/>
                <a:ext cx="1150938" cy="806450"/>
              </a:xfrm>
              <a:prstGeom prst="rect">
                <a:avLst/>
              </a:prstGeom>
              <a:blipFill rotWithShape="1">
                <a:blip r:embed="rId1"/>
                <a:stretch>
                  <a:fillRect t="-2" r="28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23" name="Object 6"/>
              <p:cNvSpPr txBox="1"/>
              <p:nvPr/>
            </p:nvSpPr>
            <p:spPr bwMode="auto">
              <a:xfrm>
                <a:off x="971550" y="3541713"/>
                <a:ext cx="7561263" cy="46355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123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71550" y="3541713"/>
                <a:ext cx="7561263" cy="463550"/>
              </a:xfrm>
              <a:prstGeom prst="rect">
                <a:avLst/>
              </a:prstGeom>
              <a:blipFill rotWithShape="1">
                <a:blip r:embed="rId2"/>
                <a:stretch>
                  <a:fillRect t="-69" r="4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24" name="Object 7"/>
              <p:cNvSpPr txBox="1"/>
              <p:nvPr/>
            </p:nvSpPr>
            <p:spPr bwMode="auto">
              <a:xfrm>
                <a:off x="2411413" y="4149725"/>
                <a:ext cx="3641725" cy="806450"/>
              </a:xfrm>
              <a:prstGeom prst="rect">
                <a:avLst/>
              </a:prstGeom>
              <a:noFill/>
            </p:spPr>
            <p:txBody>
              <a:bodyPr>
                <a:normAutofit fontScale="85000" lnSpcReduction="1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124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11413" y="4149725"/>
                <a:ext cx="3641725" cy="806450"/>
              </a:xfrm>
              <a:prstGeom prst="rect">
                <a:avLst/>
              </a:prstGeom>
              <a:blipFill rotWithShape="1">
                <a:blip r:embed="rId3"/>
                <a:stretch>
                  <a:fillRect l="-9" r="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C62F0CC-0940-4E6F-92DF-0666AF17CAA8}" type="datetime1">
              <a:rPr lang="zh-CN" altLang="en-US"/>
            </a:fld>
            <a:endParaRPr lang="en-US" altLang="zh-CN"/>
          </a:p>
        </p:txBody>
      </p:sp>
      <p:sp>
        <p:nvSpPr>
          <p:cNvPr id="11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8EC6E36C-EEDD-4A73-AFA1-406E253460F7}" type="slidenum">
              <a:rPr lang="en-US" altLang="zh-CN">
                <a:solidFill>
                  <a:srgbClr val="898989"/>
                </a:solidFill>
              </a:rPr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61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华文楷体" panose="02010600040101010101" pitchFamily="2" charset="-122"/>
              </a:rPr>
              <a:t>第二种形式的例子</a:t>
            </a:r>
            <a:endParaRPr lang="zh-CN" altLang="en-US" dirty="0">
              <a:ea typeface="华文楷体" panose="02010600040101010101" pitchFamily="2" charset="-122"/>
            </a:endParaRPr>
          </a:p>
        </p:txBody>
      </p:sp>
      <p:sp>
        <p:nvSpPr>
          <p:cNvPr id="199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anose="02010600040101010101" pitchFamily="2" charset="-122"/>
              </a:rPr>
              <a:t>考虑具有</a:t>
            </a:r>
            <a:r>
              <a:rPr lang="en-US" altLang="zh-CN" i="1" dirty="0">
                <a:latin typeface="+mj-lt"/>
                <a:ea typeface="华文楷体" panose="02010600040101010101" pitchFamily="2" charset="-122"/>
              </a:rPr>
              <a:t>n</a:t>
            </a:r>
            <a:r>
              <a:rPr lang="en-US" altLang="zh-CN" baseline="30000" dirty="0">
                <a:latin typeface="+mj-lt"/>
                <a:ea typeface="华文楷体" panose="02010600040101010101" pitchFamily="2" charset="-122"/>
              </a:rPr>
              <a:t>2</a:t>
            </a:r>
            <a:r>
              <a:rPr lang="zh-CN" altLang="en-US" dirty="0">
                <a:latin typeface="+mj-lt"/>
                <a:ea typeface="华文楷体" panose="02010600040101010101" pitchFamily="2" charset="-122"/>
              </a:rPr>
              <a:t>个乘积</a:t>
            </a:r>
            <a:r>
              <a:rPr lang="en-US" altLang="zh-CN" i="1" dirty="0" err="1">
                <a:latin typeface="+mj-lt"/>
                <a:ea typeface="华文楷体" panose="02010600040101010101" pitchFamily="2" charset="-122"/>
              </a:rPr>
              <a:t>a</a:t>
            </a:r>
            <a:r>
              <a:rPr lang="en-US" altLang="zh-CN" i="1" baseline="-25000" dirty="0" err="1">
                <a:latin typeface="+mj-lt"/>
                <a:ea typeface="华文楷体" panose="02010600040101010101" pitchFamily="2" charset="-122"/>
              </a:rPr>
              <a:t>j</a:t>
            </a:r>
            <a:r>
              <a:rPr lang="en-US" altLang="zh-CN" i="1" dirty="0">
                <a:latin typeface="+mj-lt"/>
                <a:ea typeface="华文楷体" panose="02010600040101010101" pitchFamily="2" charset="-122"/>
              </a:rPr>
              <a:t> </a:t>
            </a:r>
            <a:r>
              <a:rPr lang="en-US" altLang="zh-CN" i="1" dirty="0" err="1">
                <a:latin typeface="+mj-lt"/>
                <a:ea typeface="华文楷体" panose="02010600040101010101" pitchFamily="2" charset="-122"/>
              </a:rPr>
              <a:t>a</a:t>
            </a:r>
            <a:r>
              <a:rPr lang="en-US" altLang="zh-CN" i="1" baseline="-25000" dirty="0" err="1">
                <a:latin typeface="+mj-lt"/>
                <a:ea typeface="华文楷体" panose="02010600040101010101" pitchFamily="2" charset="-122"/>
              </a:rPr>
              <a:t>k</a:t>
            </a:r>
            <a:r>
              <a:rPr lang="zh-CN" altLang="en-US" dirty="0">
                <a:latin typeface="+mj-lt"/>
                <a:ea typeface="华文楷体" panose="02010600040101010101" pitchFamily="2" charset="-122"/>
              </a:rPr>
              <a:t>的阵列</a:t>
            </a:r>
            <a:endParaRPr lang="en-US" altLang="zh-CN" dirty="0">
              <a:latin typeface="+mj-lt"/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dirty="0">
              <a:latin typeface="+mj-lt"/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dirty="0">
              <a:latin typeface="+mj-lt"/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dirty="0">
              <a:latin typeface="+mj-lt"/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dirty="0">
              <a:latin typeface="+mj-lt"/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anose="02010600040101010101" pitchFamily="2" charset="-122"/>
              </a:rPr>
              <a:t>目标是计算所有上三角元素之和，即</a:t>
            </a:r>
            <a:endParaRPr lang="zh-CN" altLang="en-US" dirty="0">
              <a:latin typeface="+mj-lt"/>
              <a:ea typeface="华文楷体" panose="02010600040101010101" pitchFamily="2" charset="-122"/>
            </a:endParaRPr>
          </a:p>
        </p:txBody>
      </p:sp>
      <p:sp>
        <p:nvSpPr>
          <p:cNvPr id="6152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153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154" name="Rectangle 9"/>
          <p:cNvSpPr>
            <a:spLocks noChangeArrowheads="1"/>
          </p:cNvSpPr>
          <p:nvPr/>
        </p:nvSpPr>
        <p:spPr bwMode="auto">
          <a:xfrm>
            <a:off x="0" y="28432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46" name="Object 6"/>
              <p:cNvSpPr txBox="1"/>
              <p:nvPr/>
            </p:nvSpPr>
            <p:spPr bwMode="auto">
              <a:xfrm>
                <a:off x="2555875" y="2479031"/>
                <a:ext cx="3888333" cy="1670049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plcHide m:val="on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/>
                              <m:e/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146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55875" y="2479031"/>
                <a:ext cx="3888333" cy="1670049"/>
              </a:xfrm>
              <a:prstGeom prst="rect">
                <a:avLst/>
              </a:prstGeom>
              <a:blipFill rotWithShape="1">
                <a:blip r:embed="rId1"/>
                <a:stretch>
                  <a:fillRect t="-37" r="6" b="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47" name="Object 7"/>
              <p:cNvSpPr txBox="1"/>
              <p:nvPr/>
            </p:nvSpPr>
            <p:spPr bwMode="auto">
              <a:xfrm>
                <a:off x="3419475" y="5229225"/>
                <a:ext cx="2089150" cy="823913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⊲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6147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19475" y="5229225"/>
                <a:ext cx="2089150" cy="823913"/>
              </a:xfrm>
              <a:prstGeom prst="rect">
                <a:avLst/>
              </a:prstGeom>
              <a:blipFill rotWithShape="1">
                <a:blip r:embed="rId2"/>
                <a:stretch>
                  <a:fillRect b="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3164F90-02E2-4D36-A99C-8AD99B65F7D1}" type="datetime1">
              <a:rPr lang="zh-CN" altLang="en-US"/>
            </a:fld>
            <a:endParaRPr lang="en-US" altLang="zh-CN"/>
          </a:p>
        </p:txBody>
      </p:sp>
      <p:sp>
        <p:nvSpPr>
          <p:cNvPr id="1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141C8A6E-2464-4984-B1C5-59CC95908A47}" type="slidenum">
              <a:rPr lang="en-US" altLang="zh-CN">
                <a:solidFill>
                  <a:srgbClr val="898989"/>
                </a:solidFill>
              </a:rPr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71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华文楷体" panose="02010600040101010101" pitchFamily="2" charset="-122"/>
              </a:rPr>
              <a:t>第二种形式的例子</a:t>
            </a:r>
            <a:endParaRPr lang="zh-CN" altLang="en-US" dirty="0">
              <a:ea typeface="华文楷体" panose="02010600040101010101" pitchFamily="2" charset="-122"/>
            </a:endParaRPr>
          </a:p>
        </p:txBody>
      </p:sp>
      <p:sp>
        <p:nvSpPr>
          <p:cNvPr id="200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>
                <a:latin typeface="+mj-lt"/>
                <a:ea typeface="华文楷体" panose="02010600040101010101" pitchFamily="2" charset="-122"/>
              </a:rPr>
              <a:t>容易看出，该矩阵是对称的。因此     应该大约等于矩阵所有元素之和的一半：</a:t>
            </a:r>
            <a:endParaRPr lang="zh-CN" altLang="en-US">
              <a:latin typeface="+mj-lt"/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>
              <a:latin typeface="+mj-lt"/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>
                <a:latin typeface="+mj-lt"/>
                <a:ea typeface="华文楷体" panose="02010600040101010101" pitchFamily="2" charset="-122"/>
              </a:rPr>
              <a:t>由于</a:t>
            </a:r>
            <a:endParaRPr lang="en-US" altLang="zh-CN">
              <a:latin typeface="+mj-lt"/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>
              <a:latin typeface="+mj-lt"/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>
                <a:latin typeface="+mj-lt"/>
                <a:ea typeface="华文楷体" panose="02010600040101010101" pitchFamily="2" charset="-122"/>
              </a:rPr>
              <a:t>因此</a:t>
            </a:r>
            <a:endParaRPr lang="en-US" altLang="zh-CN">
              <a:latin typeface="+mj-lt"/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zh-CN" altLang="en-US">
              <a:latin typeface="+mj-lt"/>
              <a:ea typeface="华文楷体" panose="02010600040101010101" pitchFamily="2" charset="-122"/>
            </a:endParaRPr>
          </a:p>
        </p:txBody>
      </p:sp>
      <p:sp>
        <p:nvSpPr>
          <p:cNvPr id="7181" name="Rectangle 5"/>
          <p:cNvSpPr>
            <a:spLocks noChangeArrowheads="1"/>
          </p:cNvSpPr>
          <p:nvPr/>
        </p:nvSpPr>
        <p:spPr bwMode="auto">
          <a:xfrm>
            <a:off x="0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7182" name="Rectangle 7"/>
          <p:cNvSpPr>
            <a:spLocks noChangeArrowheads="1"/>
          </p:cNvSpPr>
          <p:nvPr/>
        </p:nvSpPr>
        <p:spPr bwMode="auto">
          <a:xfrm>
            <a:off x="0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7183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7184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7185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170" name="Object 7"/>
              <p:cNvSpPr txBox="1"/>
              <p:nvPr/>
            </p:nvSpPr>
            <p:spPr bwMode="auto">
              <a:xfrm>
                <a:off x="7019925" y="1700213"/>
                <a:ext cx="368300" cy="4175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⊲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7170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19925" y="1700213"/>
                <a:ext cx="368300" cy="417512"/>
              </a:xfrm>
              <a:prstGeom prst="rect">
                <a:avLst/>
              </a:prstGeom>
              <a:blipFill rotWithShape="1">
                <a:blip r:embed="rId1"/>
                <a:stretch>
                  <a:fillRect t="-7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171" name="Object 8"/>
              <p:cNvSpPr txBox="1"/>
              <p:nvPr/>
            </p:nvSpPr>
            <p:spPr bwMode="auto">
              <a:xfrm>
                <a:off x="1763713" y="2662238"/>
                <a:ext cx="5556250" cy="766762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⊲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⊳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7171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63713" y="2662238"/>
                <a:ext cx="5556250" cy="766762"/>
              </a:xfrm>
              <a:prstGeom prst="rect">
                <a:avLst/>
              </a:prstGeom>
              <a:blipFill rotWithShape="1">
                <a:blip r:embed="rId2"/>
                <a:stretch>
                  <a:fillRect l="-6" t="-41" r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172" name="Object 10"/>
              <p:cNvSpPr txBox="1"/>
              <p:nvPr/>
            </p:nvSpPr>
            <p:spPr bwMode="auto">
              <a:xfrm>
                <a:off x="971550" y="3860800"/>
                <a:ext cx="7853363" cy="4699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7172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71550" y="3860800"/>
                <a:ext cx="7853363" cy="469900"/>
              </a:xfrm>
              <a:prstGeom prst="rect">
                <a:avLst/>
              </a:prstGeom>
              <a:blipFill rotWithShape="1">
                <a:blip r:embed="rId3"/>
                <a:stretch>
                  <a:fillRect r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173" name="Object 11"/>
              <p:cNvSpPr txBox="1"/>
              <p:nvPr/>
            </p:nvSpPr>
            <p:spPr bwMode="auto">
              <a:xfrm>
                <a:off x="2203450" y="4508500"/>
                <a:ext cx="4818063" cy="766763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⊲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⊲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⊳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7173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03450" y="4508500"/>
                <a:ext cx="4818063" cy="766763"/>
              </a:xfrm>
              <a:prstGeom prst="rect">
                <a:avLst/>
              </a:prstGeom>
              <a:blipFill rotWithShape="1">
                <a:blip r:embed="rId4"/>
                <a:stretch>
                  <a:fillRect r="7" b="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516" name="Object 12"/>
              <p:cNvSpPr txBox="1"/>
              <p:nvPr/>
            </p:nvSpPr>
            <p:spPr bwMode="auto">
              <a:xfrm>
                <a:off x="3059113" y="5445125"/>
                <a:ext cx="2017712" cy="1139825"/>
              </a:xfrm>
              <a:prstGeom prst="rect">
                <a:avLst/>
              </a:prstGeom>
              <a:noFill/>
            </p:spPr>
            <p:txBody>
              <a:bodyPr>
                <a:normAutofit fontScale="550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21516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59113" y="5445125"/>
                <a:ext cx="2017712" cy="1139825"/>
              </a:xfrm>
              <a:prstGeom prst="rect">
                <a:avLst/>
              </a:prstGeom>
              <a:blipFill rotWithShape="1">
                <a:blip r:embed="rId5"/>
                <a:stretch>
                  <a:fillRect l="-16" t="-2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517" name="Object 13"/>
              <p:cNvSpPr txBox="1"/>
              <p:nvPr/>
            </p:nvSpPr>
            <p:spPr bwMode="auto">
              <a:xfrm>
                <a:off x="6948488" y="5589588"/>
                <a:ext cx="876300" cy="525462"/>
              </a:xfrm>
              <a:prstGeom prst="rect">
                <a:avLst/>
              </a:prstGeom>
              <a:noFill/>
            </p:spPr>
            <p:txBody>
              <a:bodyPr>
                <a:normAutofit fontScale="550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21517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48488" y="5589588"/>
                <a:ext cx="876300" cy="525462"/>
              </a:xfrm>
              <a:prstGeom prst="rect">
                <a:avLst/>
              </a:prstGeom>
              <a:blipFill rotWithShape="1">
                <a:blip r:embed="rId6"/>
                <a:stretch>
                  <a:fillRect l="-36" t="-61" r="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接箭头连接符 23"/>
          <p:cNvCxnSpPr/>
          <p:nvPr/>
        </p:nvCxnSpPr>
        <p:spPr>
          <a:xfrm flipH="1">
            <a:off x="4067175" y="5084763"/>
            <a:ext cx="720725" cy="431800"/>
          </a:xfrm>
          <a:prstGeom prst="straightConnector1">
            <a:avLst/>
          </a:prstGeom>
          <a:ln w="127000">
            <a:solidFill>
              <a:srgbClr val="FF0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>
            <a:off x="6443663" y="5084763"/>
            <a:ext cx="720725" cy="431800"/>
          </a:xfrm>
          <a:prstGeom prst="straightConnector1">
            <a:avLst/>
          </a:prstGeom>
          <a:ln w="127000">
            <a:solidFill>
              <a:srgbClr val="0000FF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518" name="Object 14"/>
              <p:cNvSpPr txBox="1"/>
              <p:nvPr/>
            </p:nvSpPr>
            <p:spPr bwMode="auto">
              <a:xfrm>
                <a:off x="4022922" y="6048434"/>
                <a:ext cx="2969819" cy="754063"/>
              </a:xfrm>
              <a:prstGeom prst="rect">
                <a:avLst/>
              </a:prstGeom>
              <a:noFill/>
            </p:spPr>
            <p:txBody>
              <a:bodyPr>
                <a:normAutofit fontScale="625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⊲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1518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22922" y="6048434"/>
                <a:ext cx="2969819" cy="754063"/>
              </a:xfrm>
              <a:prstGeom prst="rect">
                <a:avLst/>
              </a:prstGeom>
              <a:blipFill rotWithShape="1">
                <a:blip r:embed="rId7"/>
                <a:stretch>
                  <a:fillRect l="-7" t="-1018" r="4" b="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3539C64-C87E-4AC3-B5D1-FCDBD1F1D241}" type="datetime1">
              <a:rPr lang="zh-CN" altLang="en-US"/>
            </a:fld>
            <a:endParaRPr lang="en-US" altLang="zh-CN"/>
          </a:p>
        </p:txBody>
      </p:sp>
      <p:sp>
        <p:nvSpPr>
          <p:cNvPr id="11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18540228-300A-4498-9B5D-6B6DE169D860}" type="slidenum">
              <a:rPr lang="en-US" altLang="zh-CN">
                <a:solidFill>
                  <a:srgbClr val="898989"/>
                </a:solidFill>
              </a:rPr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81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华文楷体" panose="02010600040101010101" pitchFamily="2" charset="-122"/>
              </a:rPr>
              <a:t>另外一个例子</a:t>
            </a:r>
            <a:endParaRPr lang="zh-CN" altLang="en-US">
              <a:ea typeface="华文楷体" panose="02010600040101010101" pitchFamily="2" charset="-122"/>
            </a:endParaRPr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>
                <a:latin typeface="+mj-lt"/>
                <a:ea typeface="华文楷体" panose="02010600040101010101" pitchFamily="2" charset="-122"/>
              </a:rPr>
              <a:t>目标是计算</a:t>
            </a:r>
            <a:endParaRPr lang="en-US" altLang="zh-CN">
              <a:latin typeface="+mj-lt"/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>
              <a:latin typeface="+mj-lt"/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>
                <a:latin typeface="+mj-lt"/>
                <a:ea typeface="华文楷体" panose="02010600040101010101" pitchFamily="2" charset="-122"/>
              </a:rPr>
              <a:t>注意到</a:t>
            </a:r>
            <a:r>
              <a:rPr lang="en-US" altLang="zh-CN" i="1">
                <a:latin typeface="+mj-lt"/>
                <a:ea typeface="华文楷体" panose="02010600040101010101" pitchFamily="2" charset="-122"/>
              </a:rPr>
              <a:t>j</a:t>
            </a:r>
            <a:r>
              <a:rPr lang="zh-CN" altLang="en-US">
                <a:latin typeface="+mj-lt"/>
                <a:ea typeface="华文楷体" panose="02010600040101010101" pitchFamily="2" charset="-122"/>
              </a:rPr>
              <a:t>和</a:t>
            </a:r>
            <a:r>
              <a:rPr lang="en-US" altLang="zh-CN" i="1">
                <a:latin typeface="+mj-lt"/>
                <a:ea typeface="华文楷体" panose="02010600040101010101" pitchFamily="2" charset="-122"/>
              </a:rPr>
              <a:t>k</a:t>
            </a:r>
            <a:r>
              <a:rPr lang="zh-CN" altLang="en-US">
                <a:latin typeface="+mj-lt"/>
                <a:ea typeface="华文楷体" panose="02010600040101010101" pitchFamily="2" charset="-122"/>
              </a:rPr>
              <a:t>的对称性，可以写成</a:t>
            </a:r>
            <a:endParaRPr lang="en-US" altLang="zh-CN">
              <a:latin typeface="+mj-lt"/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>
              <a:latin typeface="+mj-lt"/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>
              <a:latin typeface="+mj-lt"/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>
                <a:latin typeface="+mj-lt"/>
                <a:ea typeface="华文楷体" panose="02010600040101010101" pitchFamily="2" charset="-122"/>
              </a:rPr>
              <a:t>而且，在</a:t>
            </a:r>
            <a:r>
              <a:rPr lang="en-US" altLang="zh-CN">
                <a:latin typeface="+mj-lt"/>
                <a:ea typeface="华文楷体" panose="02010600040101010101" pitchFamily="2" charset="-122"/>
              </a:rPr>
              <a:t>Iverson</a:t>
            </a:r>
            <a:r>
              <a:rPr lang="zh-CN" altLang="en-US">
                <a:latin typeface="+mj-lt"/>
                <a:ea typeface="华文楷体" panose="02010600040101010101" pitchFamily="2" charset="-122"/>
              </a:rPr>
              <a:t>约定下有</a:t>
            </a:r>
            <a:endParaRPr lang="en-US" altLang="zh-CN">
              <a:latin typeface="+mj-lt"/>
              <a:ea typeface="华文楷体" panose="02010600040101010101" pitchFamily="2" charset="-122"/>
            </a:endParaRPr>
          </a:p>
        </p:txBody>
      </p:sp>
      <p:sp>
        <p:nvSpPr>
          <p:cNvPr id="8201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8202" name="Rectangle 7"/>
          <p:cNvSpPr>
            <a:spLocks noChangeArrowheads="1"/>
          </p:cNvSpPr>
          <p:nvPr/>
        </p:nvSpPr>
        <p:spPr bwMode="auto">
          <a:xfrm>
            <a:off x="0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8203" name="Rectangle 9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194" name="Object 5"/>
              <p:cNvSpPr txBox="1"/>
              <p:nvPr/>
            </p:nvSpPr>
            <p:spPr bwMode="auto">
              <a:xfrm>
                <a:off x="2916238" y="1989138"/>
                <a:ext cx="3527425" cy="81597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8194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16238" y="1989138"/>
                <a:ext cx="3527425" cy="815975"/>
              </a:xfrm>
              <a:prstGeom prst="rect">
                <a:avLst/>
              </a:prstGeom>
              <a:blipFill rotWithShape="1">
                <a:blip r:embed="rId1"/>
                <a:stretch>
                  <a:fillRect l="-9" t="-39" r="9" b="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195" name="Object 6"/>
              <p:cNvSpPr txBox="1"/>
              <p:nvPr/>
            </p:nvSpPr>
            <p:spPr bwMode="auto">
              <a:xfrm>
                <a:off x="1042988" y="3516313"/>
                <a:ext cx="6980237" cy="849312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8195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42988" y="3516313"/>
                <a:ext cx="6980237" cy="849312"/>
              </a:xfrm>
              <a:prstGeom prst="rect">
                <a:avLst/>
              </a:prstGeom>
              <a:blipFill rotWithShape="1">
                <a:blip r:embed="rId2"/>
                <a:stretch>
                  <a:fillRect l="-5" t="-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196" name="Object 7"/>
              <p:cNvSpPr txBox="1"/>
              <p:nvPr/>
            </p:nvSpPr>
            <p:spPr bwMode="auto">
              <a:xfrm>
                <a:off x="755650" y="5300663"/>
                <a:ext cx="7267575" cy="648618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8196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5650" y="5300663"/>
                <a:ext cx="7267575" cy="648618"/>
              </a:xfrm>
              <a:prstGeom prst="rect">
                <a:avLst/>
              </a:prstGeom>
              <a:blipFill rotWithShape="1">
                <a:blip r:embed="rId3"/>
                <a:stretch>
                  <a:fillRect t="-49" b="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3539C64-C87E-4AC3-B5D1-FCDBD1F1D241}" type="datetime1">
              <a:rPr lang="zh-CN" altLang="en-US"/>
            </a:fld>
            <a:endParaRPr lang="en-US" altLang="zh-CN"/>
          </a:p>
        </p:txBody>
      </p:sp>
      <p:sp>
        <p:nvSpPr>
          <p:cNvPr id="11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757876E1-6CA3-46ED-9E6F-E3EB14898DB1}" type="slidenum">
              <a:rPr lang="en-US" altLang="zh-CN">
                <a:solidFill>
                  <a:srgbClr val="898989"/>
                </a:solidFill>
              </a:rPr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92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华文楷体" panose="02010600040101010101" pitchFamily="2" charset="-122"/>
              </a:rPr>
              <a:t>另外一个例子</a:t>
            </a:r>
            <a:endParaRPr lang="zh-CN" altLang="en-US">
              <a:ea typeface="华文楷体" panose="02010600040101010101" pitchFamily="2" charset="-122"/>
            </a:endParaRPr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anose="02010600040101010101" pitchFamily="2" charset="-122"/>
              </a:rPr>
              <a:t>因此将</a:t>
            </a:r>
            <a:r>
              <a:rPr lang="en-US" altLang="zh-CN" dirty="0">
                <a:latin typeface="+mj-lt"/>
                <a:ea typeface="华文楷体" panose="02010600040101010101" pitchFamily="2" charset="-122"/>
              </a:rPr>
              <a:t>S</a:t>
            </a:r>
            <a:r>
              <a:rPr lang="zh-CN" altLang="en-US" dirty="0">
                <a:latin typeface="+mj-lt"/>
                <a:ea typeface="华文楷体" panose="02010600040101010101" pitchFamily="2" charset="-122"/>
              </a:rPr>
              <a:t>的两个表达式相加，得到</a:t>
            </a:r>
            <a:endParaRPr lang="en-US" altLang="zh-CN" dirty="0">
              <a:latin typeface="+mj-lt"/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dirty="0">
              <a:latin typeface="+mj-lt"/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dirty="0">
              <a:latin typeface="+mj-lt"/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anose="02010600040101010101" pitchFamily="2" charset="-122"/>
              </a:rPr>
              <a:t>显然第</a:t>
            </a:r>
            <a:r>
              <a:rPr lang="en-US" altLang="zh-CN" dirty="0">
                <a:latin typeface="+mj-lt"/>
                <a:ea typeface="华文楷体" panose="02010600040101010101" pitchFamily="2" charset="-122"/>
              </a:rPr>
              <a:t>2</a:t>
            </a:r>
            <a:r>
              <a:rPr lang="zh-CN" altLang="en-US" dirty="0">
                <a:latin typeface="+mj-lt"/>
                <a:ea typeface="华文楷体" panose="02010600040101010101" pitchFamily="2" charset="-122"/>
              </a:rPr>
              <a:t>项为</a:t>
            </a:r>
            <a:r>
              <a:rPr lang="en-US" altLang="zh-CN" dirty="0">
                <a:latin typeface="+mj-lt"/>
                <a:ea typeface="华文楷体" panose="02010600040101010101" pitchFamily="2" charset="-122"/>
              </a:rPr>
              <a:t>0</a:t>
            </a:r>
            <a:r>
              <a:rPr lang="zh-CN" altLang="en-US" dirty="0">
                <a:latin typeface="+mj-lt"/>
                <a:ea typeface="华文楷体" panose="02010600040101010101" pitchFamily="2" charset="-122"/>
              </a:rPr>
              <a:t>。第</a:t>
            </a:r>
            <a:r>
              <a:rPr lang="en-US" altLang="zh-CN" dirty="0">
                <a:latin typeface="+mj-lt"/>
                <a:ea typeface="华文楷体" panose="02010600040101010101" pitchFamily="2" charset="-122"/>
              </a:rPr>
              <a:t>1</a:t>
            </a:r>
            <a:r>
              <a:rPr lang="zh-CN" altLang="en-US" dirty="0">
                <a:latin typeface="+mj-lt"/>
                <a:ea typeface="华文楷体" panose="02010600040101010101" pitchFamily="2" charset="-122"/>
              </a:rPr>
              <a:t>项可以展开成</a:t>
            </a:r>
            <a:r>
              <a:rPr lang="en-US" altLang="zh-CN" dirty="0">
                <a:latin typeface="+mj-lt"/>
                <a:ea typeface="华文楷体" panose="02010600040101010101" pitchFamily="2" charset="-122"/>
              </a:rPr>
              <a:t>4</a:t>
            </a:r>
            <a:r>
              <a:rPr lang="zh-CN" altLang="en-US" dirty="0">
                <a:latin typeface="+mj-lt"/>
                <a:ea typeface="华文楷体" panose="02010600040101010101" pitchFamily="2" charset="-122"/>
              </a:rPr>
              <a:t>项：</a:t>
            </a:r>
            <a:endParaRPr lang="en-US" altLang="zh-CN" dirty="0">
              <a:latin typeface="+mj-lt"/>
              <a:ea typeface="华文楷体" panose="02010600040101010101" pitchFamily="2" charset="-122"/>
            </a:endParaRPr>
          </a:p>
        </p:txBody>
      </p:sp>
      <p:sp>
        <p:nvSpPr>
          <p:cNvPr id="9224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9225" name="Rectangle 7"/>
          <p:cNvSpPr>
            <a:spLocks noChangeArrowheads="1"/>
          </p:cNvSpPr>
          <p:nvPr/>
        </p:nvSpPr>
        <p:spPr bwMode="auto">
          <a:xfrm>
            <a:off x="0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9226" name="Rectangle 9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218" name="Object 3"/>
              <p:cNvSpPr txBox="1"/>
              <p:nvPr/>
            </p:nvSpPr>
            <p:spPr bwMode="auto">
              <a:xfrm>
                <a:off x="982663" y="2276475"/>
                <a:ext cx="7102475" cy="849313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9218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82663" y="2276475"/>
                <a:ext cx="7102475" cy="849313"/>
              </a:xfrm>
              <a:prstGeom prst="rect">
                <a:avLst/>
              </a:prstGeom>
              <a:blipFill rotWithShape="1">
                <a:blip r:embed="rId1"/>
                <a:stretch>
                  <a:fillRect l="-4" r="4" b="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219" name="Object 5"/>
              <p:cNvSpPr txBox="1"/>
              <p:nvPr/>
            </p:nvSpPr>
            <p:spPr bwMode="auto">
              <a:xfrm>
                <a:off x="1908175" y="3925888"/>
                <a:ext cx="5445125" cy="2598737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9219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08175" y="3925888"/>
                <a:ext cx="5445125" cy="2598737"/>
              </a:xfrm>
              <a:prstGeom prst="rect">
                <a:avLst/>
              </a:prstGeom>
              <a:blipFill rotWithShape="1">
                <a:blip r:embed="rId2"/>
                <a:stretch>
                  <a:fillRect t="-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圆角矩形 12"/>
          <p:cNvSpPr/>
          <p:nvPr/>
        </p:nvSpPr>
        <p:spPr>
          <a:xfrm>
            <a:off x="1835150" y="4724400"/>
            <a:ext cx="1944688" cy="1800225"/>
          </a:xfrm>
          <a:prstGeom prst="roundRect">
            <a:avLst/>
          </a:prstGeom>
          <a:solidFill>
            <a:srgbClr val="FF0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0000FF"/>
              </a:solidFill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323850" y="5013325"/>
            <a:ext cx="1476375" cy="1223963"/>
          </a:xfrm>
          <a:prstGeom prst="roundRect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600">
                <a:solidFill>
                  <a:srgbClr val="0000FF"/>
                </a:solidFill>
              </a:rPr>
              <a:t>?</a:t>
            </a:r>
            <a:endParaRPr lang="zh-CN" altLang="en-US" sz="3200">
              <a:solidFill>
                <a:srgbClr val="0000FF"/>
              </a:solidFill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2051720" y="5301208"/>
            <a:ext cx="431800" cy="0"/>
          </a:xfrm>
          <a:prstGeom prst="line">
            <a:avLst/>
          </a:prstGeom>
          <a:ln w="1270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2159000" y="6085314"/>
            <a:ext cx="431800" cy="0"/>
          </a:xfrm>
          <a:prstGeom prst="line">
            <a:avLst/>
          </a:prstGeom>
          <a:ln w="1270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3539C64-C87E-4AC3-B5D1-FCDBD1F1D241}" type="datetime1">
              <a:rPr lang="zh-CN" altLang="en-US"/>
            </a:fld>
            <a:endParaRPr lang="en-US" altLang="zh-CN"/>
          </a:p>
        </p:txBody>
      </p:sp>
      <p:sp>
        <p:nvSpPr>
          <p:cNvPr id="11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B3E2DD26-250A-4ACB-AA9D-7FC527585B29}" type="slidenum">
              <a:rPr lang="en-US" altLang="zh-CN">
                <a:solidFill>
                  <a:srgbClr val="898989"/>
                </a:solidFill>
              </a:rPr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02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华文楷体" panose="02010600040101010101" pitchFamily="2" charset="-122"/>
              </a:rPr>
              <a:t>Chebyshev</a:t>
            </a:r>
            <a:r>
              <a:rPr lang="zh-CN" altLang="en-US">
                <a:ea typeface="华文楷体" panose="02010600040101010101" pitchFamily="2" charset="-122"/>
              </a:rPr>
              <a:t>单调不等式</a:t>
            </a:r>
            <a:endParaRPr lang="zh-CN" altLang="en-US">
              <a:ea typeface="华文楷体" panose="02010600040101010101" pitchFamily="2" charset="-122"/>
            </a:endParaRPr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anose="02010600040101010101" pitchFamily="2" charset="-122"/>
              </a:rPr>
              <a:t>因此得到</a:t>
            </a:r>
            <a:endParaRPr lang="en-US" altLang="zh-CN" dirty="0">
              <a:latin typeface="+mj-lt"/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dirty="0">
              <a:latin typeface="+mj-lt"/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anose="02010600040101010101" pitchFamily="2" charset="-122"/>
              </a:rPr>
              <a:t>如果有                             ，则有</a:t>
            </a:r>
            <a:endParaRPr lang="en-US" altLang="zh-CN" dirty="0">
              <a:latin typeface="+mj-lt"/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dirty="0">
              <a:latin typeface="+mj-lt"/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dirty="0">
              <a:latin typeface="+mj-lt"/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ea typeface="华文楷体" panose="02010600040101010101" pitchFamily="2" charset="-122"/>
              </a:rPr>
              <a:t>如果有                             ，则有</a:t>
            </a:r>
            <a:endParaRPr lang="en-US" altLang="zh-CN" dirty="0"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dirty="0">
              <a:latin typeface="+mj-lt"/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dirty="0">
              <a:latin typeface="+mj-lt"/>
              <a:ea typeface="华文楷体" panose="02010600040101010101" pitchFamily="2" charset="-122"/>
            </a:endParaRPr>
          </a:p>
        </p:txBody>
      </p:sp>
      <p:sp>
        <p:nvSpPr>
          <p:cNvPr id="10251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0252" name="Rectangle 7"/>
          <p:cNvSpPr>
            <a:spLocks noChangeArrowheads="1"/>
          </p:cNvSpPr>
          <p:nvPr/>
        </p:nvSpPr>
        <p:spPr bwMode="auto">
          <a:xfrm>
            <a:off x="0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0253" name="Rectangle 9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242" name="Object 2"/>
              <p:cNvSpPr txBox="1"/>
              <p:nvPr/>
            </p:nvSpPr>
            <p:spPr bwMode="auto">
              <a:xfrm>
                <a:off x="2590800" y="1773238"/>
                <a:ext cx="6157913" cy="908050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0242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90800" y="1773238"/>
                <a:ext cx="6157913" cy="908050"/>
              </a:xfrm>
              <a:prstGeom prst="rect">
                <a:avLst/>
              </a:prstGeom>
              <a:blipFill rotWithShape="1">
                <a:blip r:embed="rId1"/>
                <a:stretch>
                  <a:fillRect t="-35" r="5" b="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243" name="Object 4"/>
              <p:cNvSpPr txBox="1"/>
              <p:nvPr/>
            </p:nvSpPr>
            <p:spPr bwMode="auto">
              <a:xfrm>
                <a:off x="2124075" y="2852738"/>
                <a:ext cx="2807965" cy="50482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≤⋯≤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≤⋯≤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0243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24075" y="2852738"/>
                <a:ext cx="2807965" cy="504825"/>
              </a:xfrm>
              <a:prstGeom prst="rect">
                <a:avLst/>
              </a:prstGeom>
              <a:blipFill rotWithShape="1">
                <a:blip r:embed="rId2"/>
                <a:stretch>
                  <a:fillRect t="-63" r="22" b="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244" name="Object 5"/>
              <p:cNvSpPr txBox="1"/>
              <p:nvPr/>
            </p:nvSpPr>
            <p:spPr bwMode="auto">
              <a:xfrm>
                <a:off x="2484438" y="3429000"/>
                <a:ext cx="3887787" cy="10287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0244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84438" y="3429000"/>
                <a:ext cx="3887787" cy="1028700"/>
              </a:xfrm>
              <a:prstGeom prst="rect">
                <a:avLst/>
              </a:prstGeom>
              <a:blipFill rotWithShape="1">
                <a:blip r:embed="rId3"/>
                <a:stretch>
                  <a:fillRect l="-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245" name="Object 6"/>
              <p:cNvSpPr txBox="1"/>
              <p:nvPr/>
            </p:nvSpPr>
            <p:spPr bwMode="auto">
              <a:xfrm>
                <a:off x="2124075" y="4581525"/>
                <a:ext cx="2807965" cy="50482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≤⋯≤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≥⋯≥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0245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24075" y="4581525"/>
                <a:ext cx="2807965" cy="504825"/>
              </a:xfrm>
              <a:prstGeom prst="rect">
                <a:avLst/>
              </a:prstGeom>
              <a:blipFill rotWithShape="1">
                <a:blip r:embed="rId4"/>
                <a:stretch>
                  <a:fillRect r="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246" name="Object 7"/>
              <p:cNvSpPr txBox="1"/>
              <p:nvPr/>
            </p:nvSpPr>
            <p:spPr bwMode="auto">
              <a:xfrm>
                <a:off x="2484438" y="5084763"/>
                <a:ext cx="3887787" cy="10287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0246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84438" y="5084763"/>
                <a:ext cx="3887787" cy="1028700"/>
              </a:xfrm>
              <a:prstGeom prst="rect">
                <a:avLst/>
              </a:prstGeom>
              <a:blipFill rotWithShape="1">
                <a:blip r:embed="rId5"/>
                <a:stretch>
                  <a:fillRect l="-8" t="-31" b="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圆角矩形 20"/>
          <p:cNvSpPr/>
          <p:nvPr/>
        </p:nvSpPr>
        <p:spPr>
          <a:xfrm>
            <a:off x="6067265" y="5084763"/>
            <a:ext cx="2979898" cy="1681896"/>
          </a:xfrm>
          <a:prstGeom prst="roundRect">
            <a:avLst/>
          </a:prstGeom>
          <a:solidFill>
            <a:schemeClr val="accent3">
              <a:lumMod val="40000"/>
              <a:lumOff val="6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solidFill>
                  <a:srgbClr val="FF0000"/>
                </a:solidFill>
                <a:latin typeface="+mj-lt"/>
                <a:ea typeface="楷体" panose="02010609060101010101" pitchFamily="49" charset="-122"/>
              </a:rPr>
              <a:t>切比雪夫不等式</a:t>
            </a:r>
            <a:endParaRPr lang="en-US" altLang="zh-CN" sz="1400" b="1" dirty="0">
              <a:solidFill>
                <a:srgbClr val="FF0000"/>
              </a:solidFill>
              <a:latin typeface="+mj-lt"/>
              <a:ea typeface="楷体" panose="02010609060101010101" pitchFamily="49" charset="-122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solidFill>
                  <a:srgbClr val="FF0000"/>
                </a:solidFill>
                <a:latin typeface="+mj-lt"/>
                <a:ea typeface="楷体" panose="02010609060101010101" pitchFamily="49" charset="-122"/>
              </a:rPr>
              <a:t>彼得堡学派创始人</a:t>
            </a:r>
            <a:endParaRPr lang="en-US" altLang="zh-CN" sz="2400" b="1" dirty="0">
              <a:solidFill>
                <a:srgbClr val="FF0000"/>
              </a:solidFill>
              <a:latin typeface="+mj-lt"/>
              <a:ea typeface="楷体" panose="02010609060101010101" pitchFamily="49" charset="-122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+mj-lt"/>
                <a:ea typeface="楷体" panose="02010609060101010101" pitchFamily="49" charset="-122"/>
              </a:rPr>
              <a:t>1821—1894</a:t>
            </a:r>
            <a:endParaRPr lang="zh-CN" altLang="en-US" sz="2400" b="1" dirty="0">
              <a:solidFill>
                <a:srgbClr val="FF0000"/>
              </a:solidFill>
              <a:latin typeface="+mj-lt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3539C64-C87E-4AC3-B5D1-FCDBD1F1D241}" type="datetime1">
              <a:rPr lang="zh-CN" altLang="en-US"/>
            </a:fld>
            <a:endParaRPr lang="en-US" altLang="zh-CN"/>
          </a:p>
        </p:txBody>
      </p:sp>
      <p:sp>
        <p:nvSpPr>
          <p:cNvPr id="11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0D266BF0-A73C-47D9-B775-09FD93C0B3EE}" type="slidenum">
              <a:rPr lang="en-US" altLang="zh-CN">
                <a:solidFill>
                  <a:srgbClr val="898989"/>
                </a:solidFill>
              </a:rPr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12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华文楷体" panose="02010600040101010101" pitchFamily="2" charset="-122"/>
              </a:rPr>
              <a:t>多重和中的交换律</a:t>
            </a:r>
            <a:endParaRPr lang="zh-CN" altLang="en-US" dirty="0"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1731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 rtlCol="0">
                <a:normAutofit/>
              </a:bodyPr>
              <a:lstStyle/>
              <a:p>
                <a:pPr fontAlgn="auto">
                  <a:spcAft>
                    <a:spcPts val="0"/>
                  </a:spcAft>
                  <a:defRPr/>
                </a:pPr>
                <a:r>
                  <a:rPr lang="zh-CN" altLang="en-US" dirty="0">
                    <a:latin typeface="+mj-lt"/>
                    <a:ea typeface="华文楷体" panose="02010600040101010101" pitchFamily="2" charset="-122"/>
                  </a:rPr>
                  <a:t>单一求和中的交换律</a:t>
                </a:r>
                <a:endParaRPr lang="en-US" altLang="zh-CN" dirty="0">
                  <a:ea typeface="华文楷体" panose="02010600040101010101" pitchFamily="2" charset="-122"/>
                </a:endParaRPr>
              </a:p>
              <a:p>
                <a:pPr fontAlgn="auto">
                  <a:spcAft>
                    <a:spcPts val="0"/>
                  </a:spcAft>
                  <a:defRPr/>
                </a:pPr>
                <a:endParaRPr lang="en-US" altLang="zh-CN" dirty="0">
                  <a:ea typeface="华文楷体" panose="02010600040101010101" pitchFamily="2" charset="-122"/>
                </a:endParaRPr>
              </a:p>
              <a:p>
                <a:pPr fontAlgn="auto">
                  <a:spcAft>
                    <a:spcPts val="0"/>
                  </a:spcAft>
                  <a:defRPr/>
                </a:pPr>
                <a:r>
                  <a:rPr lang="en-US" altLang="zh-CN" dirty="0">
                    <a:ea typeface="华文楷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是</m:t>
                    </m:r>
                  </m:oMath>
                </a14:m>
                <a:r>
                  <a:rPr lang="zh-CN" altLang="en-US" dirty="0">
                    <a:solidFill>
                      <a:srgbClr val="FF0000"/>
                    </a:solidFill>
                    <a:ea typeface="华文楷体" panose="02010600040101010101" pitchFamily="2" charset="-122"/>
                  </a:rPr>
                  <a:t>整数集合到整数集合的一一对应</a:t>
                </a:r>
                <a:endParaRPr lang="en-US" altLang="zh-CN" dirty="0">
                  <a:solidFill>
                    <a:srgbClr val="FF0000"/>
                  </a:solidFill>
                  <a:ea typeface="华文楷体" panose="02010600040101010101" pitchFamily="2" charset="-122"/>
                </a:endParaRPr>
              </a:p>
              <a:p>
                <a:pPr fontAlgn="auto">
                  <a:spcAft>
                    <a:spcPts val="0"/>
                  </a:spcAft>
                  <a:defRPr/>
                </a:pPr>
                <a:r>
                  <a:rPr lang="zh-CN" altLang="en-US" dirty="0">
                    <a:ea typeface="华文楷体" panose="02010600040101010101" pitchFamily="2" charset="-122"/>
                  </a:rPr>
                  <a:t>多重和中的交换律</a:t>
                </a:r>
                <a:endParaRPr lang="en-US" altLang="zh-CN" dirty="0">
                  <a:ea typeface="华文楷体" panose="02010600040101010101" pitchFamily="2" charset="-122"/>
                </a:endParaRPr>
              </a:p>
              <a:p>
                <a:pPr fontAlgn="auto">
                  <a:spcAft>
                    <a:spcPts val="0"/>
                  </a:spcAft>
                  <a:defRPr/>
                </a:pPr>
                <a:endParaRPr lang="en-US" altLang="zh-CN" dirty="0">
                  <a:latin typeface="+mj-lt"/>
                  <a:ea typeface="华文楷体" panose="02010600040101010101" pitchFamily="2" charset="-122"/>
                </a:endParaRPr>
              </a:p>
              <a:p>
                <a:pPr fontAlgn="auto">
                  <a:spcAft>
                    <a:spcPts val="0"/>
                  </a:spcAft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是</m:t>
                    </m:r>
                  </m:oMath>
                </a14:m>
                <a:r>
                  <a:rPr lang="zh-CN" altLang="en-US" dirty="0">
                    <a:solidFill>
                      <a:srgbClr val="FF0000"/>
                    </a:solidFill>
                    <a:ea typeface="华文楷体" panose="02010600040101010101" pitchFamily="2" charset="-122"/>
                  </a:rPr>
                  <a:t>整数对集合到整数对集合的一一对应</a:t>
                </a:r>
                <a:endParaRPr lang="en-US" altLang="zh-CN" dirty="0">
                  <a:solidFill>
                    <a:srgbClr val="FF0000"/>
                  </a:solidFill>
                  <a:ea typeface="华文楷体" panose="02010600040101010101" pitchFamily="2" charset="-122"/>
                </a:endParaRPr>
              </a:p>
              <a:p>
                <a:pPr fontAlgn="auto">
                  <a:spcAft>
                    <a:spcPts val="0"/>
                  </a:spcAft>
                  <a:defRPr/>
                </a:pPr>
                <a:endParaRPr lang="en-US" altLang="zh-CN" dirty="0">
                  <a:latin typeface="+mj-lt"/>
                  <a:ea typeface="华文楷体" panose="02010600040101010101" pitchFamily="2" charset="-122"/>
                </a:endParaRPr>
              </a:p>
              <a:p>
                <a:pPr fontAlgn="auto">
                  <a:spcAft>
                    <a:spcPts val="0"/>
                  </a:spcAft>
                  <a:defRPr/>
                </a:pPr>
                <a:endParaRPr lang="zh-CN" altLang="en-US" dirty="0">
                  <a:latin typeface="+mj-lt"/>
                  <a:ea typeface="华文楷体" panose="02010600040101010101" pitchFamily="2" charset="-122"/>
                </a:endParaRPr>
              </a:p>
            </p:txBody>
          </p:sp>
        </mc:Choice>
        <mc:Fallback>
          <p:sp>
            <p:nvSpPr>
              <p:cNvPr id="201731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1"/>
                <a:stretch>
                  <a:fillRect b="-136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72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1273" name="Rectangle 7"/>
          <p:cNvSpPr>
            <a:spLocks noChangeArrowheads="1"/>
          </p:cNvSpPr>
          <p:nvPr/>
        </p:nvSpPr>
        <p:spPr bwMode="auto">
          <a:xfrm>
            <a:off x="0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1274" name="Rectangle 9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266" name="Object 5"/>
              <p:cNvSpPr txBox="1"/>
              <p:nvPr/>
            </p:nvSpPr>
            <p:spPr bwMode="auto">
              <a:xfrm>
                <a:off x="2015716" y="3861048"/>
                <a:ext cx="3348372" cy="80267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)∈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𝐽𝐾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zh-CN" alt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altLang="zh-CN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)∈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𝐽𝐾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1266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15716" y="3861048"/>
                <a:ext cx="3348372" cy="802675"/>
              </a:xfrm>
              <a:prstGeom prst="rect">
                <a:avLst/>
              </a:prstGeom>
              <a:blipFill rotWithShape="1">
                <a:blip r:embed="rId2"/>
                <a:stretch>
                  <a:fillRect l="-7" t="-31" r="7" b="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Object 5"/>
              <p:cNvSpPr txBox="1"/>
              <p:nvPr/>
            </p:nvSpPr>
            <p:spPr bwMode="auto">
              <a:xfrm>
                <a:off x="2339752" y="2060848"/>
                <a:ext cx="2304256" cy="80267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zh-CN" alt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altLang="zh-CN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)∈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4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39752" y="2060848"/>
                <a:ext cx="2304256" cy="802675"/>
              </a:xfrm>
              <a:prstGeom prst="rect">
                <a:avLst/>
              </a:prstGeom>
              <a:blipFill rotWithShape="1">
                <a:blip r:embed="rId3"/>
                <a:stretch>
                  <a:fillRect l="-18" t="-34" r="11" b="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30E9E19-F41C-4B4E-82B0-71B77DF40D24}" type="datetime1">
              <a:rPr lang="zh-CN" altLang="en-US"/>
            </a:fld>
            <a:endParaRPr lang="en-US" altLang="zh-CN"/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D11C91B8-68DE-4B2C-BA1C-00EC685310C7}" type="slidenum">
              <a:rPr lang="en-US" altLang="zh-CN">
                <a:solidFill>
                  <a:srgbClr val="898989"/>
                </a:solidFill>
              </a:rPr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22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华文楷体" panose="02010600040101010101" pitchFamily="2" charset="-122"/>
              </a:rPr>
              <a:t>一个多重和的</a:t>
            </a:r>
            <a:r>
              <a:rPr lang="en-US" altLang="zh-CN">
                <a:ea typeface="华文楷体" panose="02010600040101010101" pitchFamily="2" charset="-122"/>
              </a:rPr>
              <a:t>concrete example</a:t>
            </a:r>
            <a:endParaRPr lang="zh-CN" altLang="en-US">
              <a:ea typeface="华文楷体" panose="02010600040101010101" pitchFamily="2" charset="-122"/>
            </a:endParaRPr>
          </a:p>
        </p:txBody>
      </p:sp>
      <p:sp>
        <p:nvSpPr>
          <p:cNvPr id="202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1181100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>
                <a:latin typeface="+mj-lt"/>
                <a:ea typeface="华文楷体" panose="02010600040101010101" pitchFamily="2" charset="-122"/>
              </a:rPr>
              <a:t>目标是计算</a:t>
            </a:r>
            <a:endParaRPr lang="en-US" altLang="zh-CN">
              <a:latin typeface="+mj-lt"/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>
                <a:latin typeface="+mj-lt"/>
                <a:ea typeface="华文楷体" panose="02010600040101010101" pitchFamily="2" charset="-122"/>
              </a:rPr>
              <a:t>先尝试从</a:t>
            </a:r>
            <a:r>
              <a:rPr lang="en-US" altLang="zh-CN" i="1">
                <a:latin typeface="+mj-lt"/>
                <a:ea typeface="华文楷体" panose="02010600040101010101" pitchFamily="2" charset="-122"/>
              </a:rPr>
              <a:t>j</a:t>
            </a:r>
            <a:r>
              <a:rPr lang="zh-CN" altLang="en-US">
                <a:latin typeface="+mj-lt"/>
                <a:ea typeface="华文楷体" panose="02010600040101010101" pitchFamily="2" charset="-122"/>
              </a:rPr>
              <a:t>开始：</a:t>
            </a:r>
            <a:endParaRPr lang="en-US" altLang="zh-CN">
              <a:latin typeface="+mj-lt"/>
              <a:ea typeface="华文楷体" panose="02010600040101010101" pitchFamily="2" charset="-122"/>
            </a:endParaRPr>
          </a:p>
        </p:txBody>
      </p:sp>
      <p:sp>
        <p:nvSpPr>
          <p:cNvPr id="12296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2297" name="Rectangle 7"/>
          <p:cNvSpPr>
            <a:spLocks noChangeArrowheads="1"/>
          </p:cNvSpPr>
          <p:nvPr/>
        </p:nvSpPr>
        <p:spPr bwMode="auto">
          <a:xfrm>
            <a:off x="0" y="2195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290" name="Object 4"/>
              <p:cNvSpPr txBox="1"/>
              <p:nvPr/>
            </p:nvSpPr>
            <p:spPr bwMode="auto">
              <a:xfrm>
                <a:off x="2987675" y="1484313"/>
                <a:ext cx="2401888" cy="1008062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2290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87675" y="1484313"/>
                <a:ext cx="2401888" cy="1008062"/>
              </a:xfrm>
              <a:prstGeom prst="rect">
                <a:avLst/>
              </a:prstGeom>
              <a:blipFill rotWithShape="1">
                <a:blip r:embed="rId1"/>
                <a:stretch>
                  <a:fillRect t="-32" r="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291" name="Object 5"/>
              <p:cNvSpPr txBox="1"/>
              <p:nvPr/>
            </p:nvSpPr>
            <p:spPr bwMode="auto">
              <a:xfrm>
                <a:off x="5670842" y="2289505"/>
                <a:ext cx="2484437" cy="441325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m:rPr>
                          <m:aln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/>
                            <m:e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den>
                              </m:f>
                            </m:e>
                          </m:nary>
                        </m:e>
                      </m:nary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/>
                            <m:e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den>
                              </m:f>
                            </m:e>
                          </m:nary>
                        </m:e>
                      </m:nary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/>
                            <m:e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den>
                              </m:f>
                            </m:e>
                          </m:nary>
                        </m:e>
                      </m:nary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nary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2291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70842" y="2289505"/>
                <a:ext cx="2484437" cy="4413250"/>
              </a:xfrm>
              <a:prstGeom prst="rect">
                <a:avLst/>
              </a:prstGeom>
              <a:blipFill rotWithShape="1">
                <a:blip r:embed="rId2"/>
                <a:stretch>
                  <a:fillRect l="-12" t="-7" r="25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98" name="矩形 12"/>
          <p:cNvSpPr>
            <a:spLocks noChangeArrowheads="1"/>
          </p:cNvSpPr>
          <p:nvPr/>
        </p:nvSpPr>
        <p:spPr bwMode="auto">
          <a:xfrm>
            <a:off x="3406664" y="2418886"/>
            <a:ext cx="2330672" cy="4154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zh-CN" altLang="en-US" sz="2400" dirty="0">
                <a:solidFill>
                  <a:srgbClr val="FF0000"/>
                </a:solidFill>
                <a:ea typeface="华文楷体" panose="02010600040101010101" pitchFamily="2" charset="-122"/>
              </a:rPr>
              <a:t>先对</a:t>
            </a:r>
            <a:r>
              <a:rPr lang="en-US" altLang="zh-CN" sz="2400" i="1" dirty="0">
                <a:solidFill>
                  <a:srgbClr val="FF0000"/>
                </a:solidFill>
                <a:ea typeface="华文楷体" panose="02010600040101010101" pitchFamily="2" charset="-122"/>
              </a:rPr>
              <a:t>j</a:t>
            </a:r>
            <a:r>
              <a:rPr lang="zh-CN" altLang="en-US" sz="2400" dirty="0">
                <a:solidFill>
                  <a:srgbClr val="FF0000"/>
                </a:solidFill>
                <a:ea typeface="华文楷体" panose="02010600040101010101" pitchFamily="2" charset="-122"/>
              </a:rPr>
              <a:t>求和</a:t>
            </a:r>
            <a:endParaRPr lang="en-US" altLang="zh-CN" sz="2400" dirty="0">
              <a:solidFill>
                <a:srgbClr val="FF0000"/>
              </a:solidFill>
              <a:ea typeface="华文楷体" panose="02010600040101010101" pitchFamily="2" charset="-122"/>
            </a:endParaRPr>
          </a:p>
          <a:p>
            <a:pPr algn="r"/>
            <a:endParaRPr lang="en-US" altLang="zh-CN" sz="2400" dirty="0">
              <a:solidFill>
                <a:srgbClr val="FF0000"/>
              </a:solidFill>
              <a:ea typeface="华文楷体" panose="02010600040101010101" pitchFamily="2" charset="-122"/>
            </a:endParaRPr>
          </a:p>
          <a:p>
            <a:pPr algn="r"/>
            <a:r>
              <a:rPr lang="zh-CN" altLang="en-US" sz="2400" dirty="0">
                <a:solidFill>
                  <a:srgbClr val="FF0000"/>
                </a:solidFill>
                <a:ea typeface="华文楷体" panose="02010600040101010101" pitchFamily="2" charset="-122"/>
              </a:rPr>
              <a:t>用</a:t>
            </a:r>
            <a:r>
              <a:rPr lang="en-US" altLang="zh-CN" sz="2400" i="1" dirty="0">
                <a:solidFill>
                  <a:srgbClr val="FF0000"/>
                </a:solidFill>
                <a:ea typeface="华文楷体" panose="02010600040101010101" pitchFamily="2" charset="-122"/>
              </a:rPr>
              <a:t>k-j</a:t>
            </a:r>
            <a:r>
              <a:rPr lang="zh-CN" altLang="en-US" sz="2400" dirty="0">
                <a:solidFill>
                  <a:srgbClr val="FF0000"/>
                </a:solidFill>
                <a:ea typeface="华文楷体" panose="02010600040101010101" pitchFamily="2" charset="-122"/>
              </a:rPr>
              <a:t>替换</a:t>
            </a:r>
            <a:r>
              <a:rPr lang="en-US" altLang="zh-CN" sz="2400" i="1" dirty="0">
                <a:solidFill>
                  <a:srgbClr val="FF0000"/>
                </a:solidFill>
                <a:ea typeface="华文楷体" panose="02010600040101010101" pitchFamily="2" charset="-122"/>
              </a:rPr>
              <a:t>j</a:t>
            </a:r>
            <a:endParaRPr lang="en-US" altLang="zh-CN" sz="2400" i="1" dirty="0">
              <a:solidFill>
                <a:srgbClr val="FF0000"/>
              </a:solidFill>
              <a:ea typeface="华文楷体" panose="02010600040101010101" pitchFamily="2" charset="-122"/>
            </a:endParaRPr>
          </a:p>
          <a:p>
            <a:pPr algn="r"/>
            <a:endParaRPr lang="en-US" altLang="zh-CN" sz="2400" dirty="0">
              <a:solidFill>
                <a:srgbClr val="FF0000"/>
              </a:solidFill>
              <a:ea typeface="华文楷体" panose="02010600040101010101" pitchFamily="2" charset="-122"/>
            </a:endParaRPr>
          </a:p>
          <a:p>
            <a:pPr algn="r"/>
            <a:r>
              <a:rPr lang="zh-CN" altLang="en-US" sz="2400" dirty="0">
                <a:solidFill>
                  <a:srgbClr val="FF0000"/>
                </a:solidFill>
                <a:ea typeface="华文楷体" panose="02010600040101010101" pitchFamily="2" charset="-122"/>
              </a:rPr>
              <a:t>简化</a:t>
            </a:r>
            <a:r>
              <a:rPr lang="en-US" altLang="zh-CN" sz="2400" i="1" dirty="0">
                <a:solidFill>
                  <a:srgbClr val="FF0000"/>
                </a:solidFill>
                <a:ea typeface="华文楷体" panose="02010600040101010101" pitchFamily="2" charset="-122"/>
              </a:rPr>
              <a:t>j</a:t>
            </a:r>
            <a:r>
              <a:rPr lang="zh-CN" altLang="en-US" sz="2400" dirty="0">
                <a:solidFill>
                  <a:srgbClr val="FF0000"/>
                </a:solidFill>
                <a:ea typeface="华文楷体" panose="02010600040101010101" pitchFamily="2" charset="-122"/>
              </a:rPr>
              <a:t>的上下界</a:t>
            </a:r>
            <a:endParaRPr lang="en-US" altLang="zh-CN" sz="2400" dirty="0">
              <a:solidFill>
                <a:srgbClr val="FF0000"/>
              </a:solidFill>
              <a:ea typeface="华文楷体" panose="02010600040101010101" pitchFamily="2" charset="-122"/>
            </a:endParaRPr>
          </a:p>
          <a:p>
            <a:pPr algn="r"/>
            <a:endParaRPr lang="en-US" altLang="zh-CN" sz="2400" dirty="0">
              <a:solidFill>
                <a:srgbClr val="FF0000"/>
              </a:solidFill>
              <a:ea typeface="华文楷体" panose="02010600040101010101" pitchFamily="2" charset="-122"/>
            </a:endParaRPr>
          </a:p>
          <a:p>
            <a:pPr algn="r"/>
            <a:r>
              <a:rPr lang="zh-CN" altLang="en-US" sz="2400" dirty="0">
                <a:solidFill>
                  <a:srgbClr val="FF0000"/>
                </a:solidFill>
                <a:ea typeface="华文楷体" panose="02010600040101010101" pitchFamily="2" charset="-122"/>
              </a:rPr>
              <a:t>使用调和数记号</a:t>
            </a:r>
            <a:endParaRPr lang="en-US" altLang="zh-CN" sz="2400" dirty="0">
              <a:solidFill>
                <a:srgbClr val="FF0000"/>
              </a:solidFill>
              <a:ea typeface="华文楷体" panose="02010600040101010101" pitchFamily="2" charset="-122"/>
            </a:endParaRPr>
          </a:p>
          <a:p>
            <a:pPr algn="r"/>
            <a:endParaRPr lang="en-US" altLang="zh-CN" sz="2400" dirty="0">
              <a:solidFill>
                <a:srgbClr val="FF0000"/>
              </a:solidFill>
              <a:ea typeface="华文楷体" panose="02010600040101010101" pitchFamily="2" charset="-122"/>
            </a:endParaRPr>
          </a:p>
          <a:p>
            <a:pPr algn="r"/>
            <a:r>
              <a:rPr lang="zh-CN" altLang="en-US" sz="2400" dirty="0">
                <a:solidFill>
                  <a:srgbClr val="FF0000"/>
                </a:solidFill>
                <a:ea typeface="华文楷体" panose="02010600040101010101" pitchFamily="2" charset="-122"/>
              </a:rPr>
              <a:t>用</a:t>
            </a:r>
            <a:r>
              <a:rPr lang="en-US" altLang="zh-CN" sz="2400" i="1" dirty="0">
                <a:solidFill>
                  <a:srgbClr val="FF0000"/>
                </a:solidFill>
                <a:ea typeface="华文楷体" panose="02010600040101010101" pitchFamily="2" charset="-122"/>
              </a:rPr>
              <a:t>k</a:t>
            </a:r>
            <a:r>
              <a:rPr lang="en-US" altLang="zh-CN" sz="2400" dirty="0">
                <a:solidFill>
                  <a:srgbClr val="FF0000"/>
                </a:solidFill>
                <a:ea typeface="华文楷体" panose="02010600040101010101" pitchFamily="2" charset="-122"/>
              </a:rPr>
              <a:t>+</a:t>
            </a:r>
            <a:r>
              <a:rPr lang="en-US" altLang="zh-CN" sz="2400" i="1" dirty="0">
                <a:solidFill>
                  <a:srgbClr val="FF0000"/>
                </a:solidFill>
                <a:ea typeface="华文楷体" panose="02010600040101010101" pitchFamily="2" charset="-122"/>
              </a:rPr>
              <a:t>1</a:t>
            </a:r>
            <a:r>
              <a:rPr lang="zh-CN" altLang="en-US" sz="2400" dirty="0">
                <a:solidFill>
                  <a:srgbClr val="FF0000"/>
                </a:solidFill>
                <a:ea typeface="华文楷体" panose="02010600040101010101" pitchFamily="2" charset="-122"/>
              </a:rPr>
              <a:t>替换</a:t>
            </a:r>
            <a:r>
              <a:rPr lang="en-US" altLang="zh-CN" sz="2400" i="1" dirty="0">
                <a:solidFill>
                  <a:srgbClr val="FF0000"/>
                </a:solidFill>
                <a:ea typeface="华文楷体" panose="02010600040101010101" pitchFamily="2" charset="-122"/>
              </a:rPr>
              <a:t>k</a:t>
            </a:r>
            <a:endParaRPr lang="en-US" altLang="zh-CN" sz="2400" i="1" dirty="0">
              <a:solidFill>
                <a:srgbClr val="FF0000"/>
              </a:solidFill>
              <a:ea typeface="华文楷体" panose="02010600040101010101" pitchFamily="2" charset="-122"/>
            </a:endParaRPr>
          </a:p>
          <a:p>
            <a:pPr algn="r"/>
            <a:endParaRPr lang="en-US" altLang="zh-CN" sz="2400" dirty="0">
              <a:solidFill>
                <a:srgbClr val="FF0000"/>
              </a:solidFill>
              <a:ea typeface="华文楷体" panose="02010600040101010101" pitchFamily="2" charset="-122"/>
            </a:endParaRPr>
          </a:p>
          <a:p>
            <a:pPr algn="r"/>
            <a:r>
              <a:rPr lang="zh-CN" altLang="en-US" sz="2400" dirty="0">
                <a:solidFill>
                  <a:srgbClr val="FF0000"/>
                </a:solidFill>
                <a:ea typeface="华文楷体" panose="02010600040101010101" pitchFamily="2" charset="-122"/>
              </a:rPr>
              <a:t>简化</a:t>
            </a:r>
            <a:r>
              <a:rPr lang="en-US" altLang="zh-CN" sz="2400" i="1" dirty="0">
                <a:solidFill>
                  <a:srgbClr val="FF0000"/>
                </a:solidFill>
                <a:ea typeface="华文楷体" panose="02010600040101010101" pitchFamily="2" charset="-122"/>
              </a:rPr>
              <a:t>k</a:t>
            </a:r>
            <a:r>
              <a:rPr lang="zh-CN" altLang="en-US" sz="2400" dirty="0">
                <a:solidFill>
                  <a:srgbClr val="FF0000"/>
                </a:solidFill>
                <a:ea typeface="华文楷体" panose="02010600040101010101" pitchFamily="2" charset="-122"/>
              </a:rPr>
              <a:t>的上下界</a:t>
            </a:r>
            <a:endParaRPr lang="en-US" altLang="zh-CN" sz="2400" dirty="0">
              <a:solidFill>
                <a:srgbClr val="FF0000"/>
              </a:solidFill>
              <a:ea typeface="华文楷体" panose="02010600040101010101" pitchFamily="2" charset="-122"/>
            </a:endParaRPr>
          </a:p>
        </p:txBody>
      </p:sp>
      <p:sp>
        <p:nvSpPr>
          <p:cNvPr id="12299" name="矩形 13"/>
          <p:cNvSpPr>
            <a:spLocks noChangeArrowheads="1"/>
          </p:cNvSpPr>
          <p:nvPr/>
        </p:nvSpPr>
        <p:spPr bwMode="auto">
          <a:xfrm>
            <a:off x="826865" y="3606005"/>
            <a:ext cx="216058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>
                <a:solidFill>
                  <a:srgbClr val="0000FF"/>
                </a:solidFill>
                <a:ea typeface="华文楷体" panose="02010600040101010101" pitchFamily="2" charset="-122"/>
              </a:rPr>
              <a:t>这里记</a:t>
            </a:r>
            <a:r>
              <a:rPr lang="en-US" altLang="zh-CN" sz="2800" i="1" dirty="0">
                <a:solidFill>
                  <a:srgbClr val="0000FF"/>
                </a:solidFill>
                <a:ea typeface="华文楷体" panose="02010600040101010101" pitchFamily="2" charset="-122"/>
              </a:rPr>
              <a:t>H</a:t>
            </a:r>
            <a:r>
              <a:rPr lang="en-US" altLang="zh-CN" sz="2800" i="1" baseline="-25000" dirty="0">
                <a:solidFill>
                  <a:srgbClr val="0000FF"/>
                </a:solidFill>
                <a:ea typeface="华文楷体" panose="02010600040101010101" pitchFamily="2" charset="-122"/>
              </a:rPr>
              <a:t>0</a:t>
            </a:r>
            <a:r>
              <a:rPr lang="en-US" altLang="zh-CN" sz="2800" dirty="0">
                <a:solidFill>
                  <a:srgbClr val="0000FF"/>
                </a:solidFill>
                <a:ea typeface="华文楷体" panose="02010600040101010101" pitchFamily="2" charset="-122"/>
              </a:rPr>
              <a:t> = </a:t>
            </a:r>
            <a:r>
              <a:rPr lang="en-US" altLang="zh-CN" sz="2800" i="1" dirty="0">
                <a:solidFill>
                  <a:srgbClr val="0000FF"/>
                </a:solidFill>
                <a:ea typeface="华文楷体" panose="02010600040101010101" pitchFamily="2" charset="-122"/>
              </a:rPr>
              <a:t>0</a:t>
            </a:r>
            <a:endParaRPr lang="en-US" altLang="zh-CN" sz="2800" i="1" dirty="0">
              <a:solidFill>
                <a:srgbClr val="0000FF"/>
              </a:solidFill>
              <a:ea typeface="华文楷体" panose="0201060004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30E9E19-F41C-4B4E-82B0-71B77DF40D24}" type="datetime1">
              <a:rPr lang="zh-CN" altLang="en-US"/>
            </a:fld>
            <a:endParaRPr lang="en-US" altLang="zh-CN"/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0B7CBF5E-D1A8-4542-B341-F79EC30D83AC}" type="slidenum">
              <a:rPr lang="en-US" altLang="zh-CN">
                <a:solidFill>
                  <a:srgbClr val="898989"/>
                </a:solidFill>
              </a:rPr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33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华文楷体" panose="02010600040101010101" pitchFamily="2" charset="-122"/>
              </a:rPr>
              <a:t>一个多重和的</a:t>
            </a:r>
            <a:r>
              <a:rPr lang="en-US" altLang="zh-CN">
                <a:ea typeface="华文楷体" panose="02010600040101010101" pitchFamily="2" charset="-122"/>
              </a:rPr>
              <a:t>concrete example</a:t>
            </a:r>
            <a:endParaRPr lang="zh-CN" altLang="en-US">
              <a:ea typeface="华文楷体" panose="02010600040101010101" pitchFamily="2" charset="-122"/>
            </a:endParaRPr>
          </a:p>
        </p:txBody>
      </p:sp>
      <p:sp>
        <p:nvSpPr>
          <p:cNvPr id="202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1181100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>
                <a:latin typeface="+mj-lt"/>
                <a:ea typeface="华文楷体" panose="02010600040101010101" pitchFamily="2" charset="-122"/>
              </a:rPr>
              <a:t>再尝试从</a:t>
            </a:r>
            <a:r>
              <a:rPr lang="en-US" altLang="zh-CN" i="1">
                <a:latin typeface="+mj-lt"/>
                <a:ea typeface="华文楷体" panose="02010600040101010101" pitchFamily="2" charset="-122"/>
              </a:rPr>
              <a:t>k</a:t>
            </a:r>
            <a:r>
              <a:rPr lang="zh-CN" altLang="en-US">
                <a:latin typeface="+mj-lt"/>
                <a:ea typeface="华文楷体" panose="02010600040101010101" pitchFamily="2" charset="-122"/>
              </a:rPr>
              <a:t>开始：</a:t>
            </a:r>
            <a:endParaRPr lang="en-US" altLang="zh-CN">
              <a:latin typeface="+mj-lt"/>
              <a:ea typeface="华文楷体" panose="02010600040101010101" pitchFamily="2" charset="-122"/>
            </a:endParaRPr>
          </a:p>
        </p:txBody>
      </p:sp>
      <p:sp>
        <p:nvSpPr>
          <p:cNvPr id="13319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3320" name="Rectangle 7"/>
          <p:cNvSpPr>
            <a:spLocks noChangeArrowheads="1"/>
          </p:cNvSpPr>
          <p:nvPr/>
        </p:nvSpPr>
        <p:spPr bwMode="auto">
          <a:xfrm>
            <a:off x="0" y="2195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314" name="Object 3"/>
              <p:cNvSpPr txBox="1"/>
              <p:nvPr/>
            </p:nvSpPr>
            <p:spPr bwMode="auto">
              <a:xfrm>
                <a:off x="5784850" y="1320800"/>
                <a:ext cx="2470150" cy="450532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m:rPr>
                          <m:aln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/>
                            <m:e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den>
                              </m:f>
                            </m:e>
                          </m:nary>
                        </m:e>
                      </m:nary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/>
                            <m:e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nary>
                        </m:e>
                      </m:nary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nary>
                        </m:e>
                      </m:nary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3314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84850" y="1320800"/>
                <a:ext cx="2470150" cy="450532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21" name="矩形 12"/>
          <p:cNvSpPr>
            <a:spLocks noChangeArrowheads="1"/>
          </p:cNvSpPr>
          <p:nvPr/>
        </p:nvSpPr>
        <p:spPr bwMode="auto">
          <a:xfrm>
            <a:off x="2987675" y="1412875"/>
            <a:ext cx="2736850" cy="415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zh-CN" altLang="en-US" sz="2400" dirty="0">
                <a:solidFill>
                  <a:srgbClr val="FF0000"/>
                </a:solidFill>
                <a:ea typeface="华文楷体" panose="02010600040101010101" pitchFamily="2" charset="-122"/>
              </a:rPr>
              <a:t>先对</a:t>
            </a:r>
            <a:r>
              <a:rPr lang="en-US" altLang="zh-CN" sz="2400" i="1" dirty="0">
                <a:solidFill>
                  <a:srgbClr val="FF0000"/>
                </a:solidFill>
                <a:ea typeface="华文楷体" panose="02010600040101010101" pitchFamily="2" charset="-122"/>
              </a:rPr>
              <a:t>k</a:t>
            </a:r>
            <a:r>
              <a:rPr lang="zh-CN" altLang="en-US" sz="2400" dirty="0">
                <a:solidFill>
                  <a:srgbClr val="FF0000"/>
                </a:solidFill>
                <a:ea typeface="华文楷体" panose="02010600040101010101" pitchFamily="2" charset="-122"/>
              </a:rPr>
              <a:t>求和</a:t>
            </a:r>
            <a:endParaRPr lang="en-US" altLang="zh-CN" sz="2400" dirty="0">
              <a:solidFill>
                <a:srgbClr val="FF0000"/>
              </a:solidFill>
              <a:ea typeface="华文楷体" panose="02010600040101010101" pitchFamily="2" charset="-122"/>
            </a:endParaRPr>
          </a:p>
          <a:p>
            <a:pPr algn="r"/>
            <a:endParaRPr lang="en-US" altLang="zh-CN" sz="2400" dirty="0">
              <a:solidFill>
                <a:srgbClr val="FF0000"/>
              </a:solidFill>
              <a:ea typeface="华文楷体" panose="02010600040101010101" pitchFamily="2" charset="-122"/>
            </a:endParaRPr>
          </a:p>
          <a:p>
            <a:pPr algn="r"/>
            <a:r>
              <a:rPr lang="zh-CN" altLang="en-US" sz="2400" dirty="0">
                <a:solidFill>
                  <a:srgbClr val="FF0000"/>
                </a:solidFill>
                <a:ea typeface="华文楷体" panose="02010600040101010101" pitchFamily="2" charset="-122"/>
              </a:rPr>
              <a:t>用</a:t>
            </a:r>
            <a:r>
              <a:rPr lang="en-US" altLang="zh-CN" sz="2400" i="1" dirty="0" err="1">
                <a:solidFill>
                  <a:srgbClr val="FF0000"/>
                </a:solidFill>
                <a:ea typeface="华文楷体" panose="02010600040101010101" pitchFamily="2" charset="-122"/>
              </a:rPr>
              <a:t>k</a:t>
            </a:r>
            <a:r>
              <a:rPr lang="en-US" altLang="zh-CN" sz="2400" dirty="0" err="1">
                <a:solidFill>
                  <a:srgbClr val="FF0000"/>
                </a:solidFill>
                <a:ea typeface="华文楷体" panose="02010600040101010101" pitchFamily="2" charset="-122"/>
              </a:rPr>
              <a:t>+</a:t>
            </a:r>
            <a:r>
              <a:rPr lang="en-US" altLang="zh-CN" sz="2400" i="1" dirty="0" err="1">
                <a:solidFill>
                  <a:srgbClr val="FF0000"/>
                </a:solidFill>
                <a:ea typeface="华文楷体" panose="02010600040101010101" pitchFamily="2" charset="-122"/>
              </a:rPr>
              <a:t>j</a:t>
            </a:r>
            <a:r>
              <a:rPr lang="zh-CN" altLang="en-US" sz="2400" dirty="0">
                <a:solidFill>
                  <a:srgbClr val="FF0000"/>
                </a:solidFill>
                <a:ea typeface="华文楷体" panose="02010600040101010101" pitchFamily="2" charset="-122"/>
              </a:rPr>
              <a:t>替换</a:t>
            </a:r>
            <a:r>
              <a:rPr lang="en-US" altLang="zh-CN" sz="2400" i="1" dirty="0">
                <a:solidFill>
                  <a:srgbClr val="FF0000"/>
                </a:solidFill>
                <a:ea typeface="华文楷体" panose="02010600040101010101" pitchFamily="2" charset="-122"/>
              </a:rPr>
              <a:t>k</a:t>
            </a:r>
            <a:endParaRPr lang="en-US" altLang="zh-CN" sz="2400" i="1" dirty="0">
              <a:solidFill>
                <a:srgbClr val="FF0000"/>
              </a:solidFill>
              <a:ea typeface="华文楷体" panose="02010600040101010101" pitchFamily="2" charset="-122"/>
            </a:endParaRPr>
          </a:p>
          <a:p>
            <a:pPr algn="r"/>
            <a:endParaRPr lang="en-US" altLang="zh-CN" sz="2400" dirty="0">
              <a:solidFill>
                <a:srgbClr val="FF0000"/>
              </a:solidFill>
              <a:ea typeface="华文楷体" panose="02010600040101010101" pitchFamily="2" charset="-122"/>
            </a:endParaRPr>
          </a:p>
          <a:p>
            <a:pPr algn="r"/>
            <a:r>
              <a:rPr lang="zh-CN" altLang="en-US" sz="2400" dirty="0">
                <a:solidFill>
                  <a:srgbClr val="FF0000"/>
                </a:solidFill>
                <a:ea typeface="华文楷体" panose="02010600040101010101" pitchFamily="2" charset="-122"/>
              </a:rPr>
              <a:t>简化</a:t>
            </a:r>
            <a:r>
              <a:rPr lang="en-US" altLang="zh-CN" sz="2400" i="1" dirty="0">
                <a:solidFill>
                  <a:srgbClr val="FF0000"/>
                </a:solidFill>
                <a:ea typeface="华文楷体" panose="02010600040101010101" pitchFamily="2" charset="-122"/>
              </a:rPr>
              <a:t>k</a:t>
            </a:r>
            <a:r>
              <a:rPr lang="zh-CN" altLang="en-US" sz="2400" dirty="0">
                <a:solidFill>
                  <a:srgbClr val="FF0000"/>
                </a:solidFill>
                <a:ea typeface="华文楷体" panose="02010600040101010101" pitchFamily="2" charset="-122"/>
              </a:rPr>
              <a:t>的上下界</a:t>
            </a:r>
            <a:endParaRPr lang="en-US" altLang="zh-CN" sz="2400" dirty="0">
              <a:solidFill>
                <a:srgbClr val="FF0000"/>
              </a:solidFill>
              <a:ea typeface="华文楷体" panose="02010600040101010101" pitchFamily="2" charset="-122"/>
            </a:endParaRPr>
          </a:p>
          <a:p>
            <a:pPr algn="r"/>
            <a:endParaRPr lang="en-US" altLang="zh-CN" sz="2400" dirty="0">
              <a:solidFill>
                <a:srgbClr val="FF0000"/>
              </a:solidFill>
              <a:ea typeface="华文楷体" panose="02010600040101010101" pitchFamily="2" charset="-122"/>
            </a:endParaRPr>
          </a:p>
          <a:p>
            <a:pPr algn="r"/>
            <a:r>
              <a:rPr lang="zh-CN" altLang="en-US" sz="2400" dirty="0">
                <a:solidFill>
                  <a:srgbClr val="FF0000"/>
                </a:solidFill>
                <a:ea typeface="华文楷体" panose="02010600040101010101" pitchFamily="2" charset="-122"/>
              </a:rPr>
              <a:t>使用调和数记号</a:t>
            </a:r>
            <a:endParaRPr lang="en-US" altLang="zh-CN" sz="2400" dirty="0">
              <a:solidFill>
                <a:srgbClr val="FF0000"/>
              </a:solidFill>
              <a:ea typeface="华文楷体" panose="02010600040101010101" pitchFamily="2" charset="-122"/>
            </a:endParaRPr>
          </a:p>
          <a:p>
            <a:pPr algn="r"/>
            <a:endParaRPr lang="en-US" altLang="zh-CN" sz="2400" dirty="0">
              <a:solidFill>
                <a:srgbClr val="FF0000"/>
              </a:solidFill>
              <a:ea typeface="华文楷体" panose="02010600040101010101" pitchFamily="2" charset="-122"/>
            </a:endParaRPr>
          </a:p>
          <a:p>
            <a:pPr algn="r"/>
            <a:r>
              <a:rPr lang="zh-CN" altLang="en-US" sz="2400" dirty="0">
                <a:solidFill>
                  <a:srgbClr val="FF0000"/>
                </a:solidFill>
                <a:ea typeface="华文楷体" panose="02010600040101010101" pitchFamily="2" charset="-122"/>
              </a:rPr>
              <a:t>用</a:t>
            </a:r>
            <a:r>
              <a:rPr lang="en-US" altLang="zh-CN" sz="2400" i="1" dirty="0">
                <a:solidFill>
                  <a:srgbClr val="FF0000"/>
                </a:solidFill>
                <a:ea typeface="华文楷体" panose="02010600040101010101" pitchFamily="2" charset="-122"/>
              </a:rPr>
              <a:t>n</a:t>
            </a:r>
            <a:r>
              <a:rPr lang="en-US" altLang="zh-CN" sz="2400" dirty="0">
                <a:solidFill>
                  <a:srgbClr val="FF0000"/>
                </a:solidFill>
                <a:ea typeface="华文楷体" panose="02010600040101010101" pitchFamily="2" charset="-122"/>
              </a:rPr>
              <a:t>-</a:t>
            </a:r>
            <a:r>
              <a:rPr lang="en-US" altLang="zh-CN" sz="2400" i="1" dirty="0">
                <a:solidFill>
                  <a:srgbClr val="FF0000"/>
                </a:solidFill>
                <a:ea typeface="华文楷体" panose="02010600040101010101" pitchFamily="2" charset="-122"/>
              </a:rPr>
              <a:t>j</a:t>
            </a:r>
            <a:r>
              <a:rPr lang="zh-CN" altLang="en-US" sz="2400" dirty="0">
                <a:solidFill>
                  <a:srgbClr val="FF0000"/>
                </a:solidFill>
                <a:ea typeface="华文楷体" panose="02010600040101010101" pitchFamily="2" charset="-122"/>
              </a:rPr>
              <a:t>替换</a:t>
            </a:r>
            <a:r>
              <a:rPr lang="en-US" altLang="zh-CN" sz="2400" i="1" dirty="0">
                <a:solidFill>
                  <a:srgbClr val="FF0000"/>
                </a:solidFill>
                <a:ea typeface="华文楷体" panose="02010600040101010101" pitchFamily="2" charset="-122"/>
              </a:rPr>
              <a:t>j</a:t>
            </a:r>
            <a:endParaRPr lang="en-US" altLang="zh-CN" sz="2400" i="1" dirty="0">
              <a:solidFill>
                <a:srgbClr val="FF0000"/>
              </a:solidFill>
              <a:ea typeface="华文楷体" panose="02010600040101010101" pitchFamily="2" charset="-122"/>
            </a:endParaRPr>
          </a:p>
          <a:p>
            <a:pPr algn="r"/>
            <a:endParaRPr lang="en-US" altLang="zh-CN" sz="2400" dirty="0">
              <a:solidFill>
                <a:srgbClr val="FF0000"/>
              </a:solidFill>
              <a:ea typeface="华文楷体" panose="02010600040101010101" pitchFamily="2" charset="-122"/>
            </a:endParaRPr>
          </a:p>
          <a:p>
            <a:pPr algn="r"/>
            <a:r>
              <a:rPr lang="zh-CN" altLang="en-US" sz="2400" dirty="0">
                <a:solidFill>
                  <a:srgbClr val="FF0000"/>
                </a:solidFill>
                <a:ea typeface="华文楷体" panose="02010600040101010101" pitchFamily="2" charset="-122"/>
              </a:rPr>
              <a:t>简化</a:t>
            </a:r>
            <a:r>
              <a:rPr lang="en-US" altLang="zh-CN" sz="2400" i="1" dirty="0">
                <a:solidFill>
                  <a:srgbClr val="FF0000"/>
                </a:solidFill>
                <a:ea typeface="华文楷体" panose="02010600040101010101" pitchFamily="2" charset="-122"/>
              </a:rPr>
              <a:t>j</a:t>
            </a:r>
            <a:r>
              <a:rPr lang="zh-CN" altLang="en-US" sz="2400" dirty="0">
                <a:solidFill>
                  <a:srgbClr val="FF0000"/>
                </a:solidFill>
                <a:ea typeface="华文楷体" panose="02010600040101010101" pitchFamily="2" charset="-122"/>
              </a:rPr>
              <a:t>的上下界</a:t>
            </a:r>
            <a:endParaRPr lang="en-US" altLang="zh-CN" sz="2400" dirty="0">
              <a:solidFill>
                <a:srgbClr val="FF0000"/>
              </a:solidFill>
              <a:ea typeface="华文楷体" panose="02010600040101010101" pitchFamily="2" charset="-122"/>
            </a:endParaRPr>
          </a:p>
        </p:txBody>
      </p:sp>
      <p:sp>
        <p:nvSpPr>
          <p:cNvPr id="13322" name="矩形 11"/>
          <p:cNvSpPr>
            <a:spLocks noChangeArrowheads="1"/>
          </p:cNvSpPr>
          <p:nvPr/>
        </p:nvSpPr>
        <p:spPr bwMode="auto">
          <a:xfrm>
            <a:off x="644381" y="3390901"/>
            <a:ext cx="216058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>
                <a:solidFill>
                  <a:srgbClr val="0000FF"/>
                </a:solidFill>
                <a:ea typeface="华文楷体" panose="02010600040101010101" pitchFamily="2" charset="-122"/>
              </a:rPr>
              <a:t>这里记</a:t>
            </a:r>
            <a:r>
              <a:rPr lang="en-US" altLang="zh-CN" sz="2800" i="1" dirty="0">
                <a:solidFill>
                  <a:srgbClr val="0000FF"/>
                </a:solidFill>
                <a:ea typeface="华文楷体" panose="02010600040101010101" pitchFamily="2" charset="-122"/>
              </a:rPr>
              <a:t>H</a:t>
            </a:r>
            <a:r>
              <a:rPr lang="en-US" altLang="zh-CN" sz="2800" i="1" baseline="-25000" dirty="0">
                <a:solidFill>
                  <a:srgbClr val="0000FF"/>
                </a:solidFill>
                <a:ea typeface="华文楷体" panose="02010600040101010101" pitchFamily="2" charset="-122"/>
              </a:rPr>
              <a:t>0</a:t>
            </a:r>
            <a:r>
              <a:rPr lang="en-US" altLang="zh-CN" sz="2800" dirty="0">
                <a:solidFill>
                  <a:srgbClr val="0000FF"/>
                </a:solidFill>
                <a:ea typeface="华文楷体" panose="02010600040101010101" pitchFamily="2" charset="-122"/>
              </a:rPr>
              <a:t> = </a:t>
            </a:r>
            <a:r>
              <a:rPr lang="en-US" altLang="zh-CN" sz="2800" i="1" dirty="0">
                <a:solidFill>
                  <a:srgbClr val="0000FF"/>
                </a:solidFill>
                <a:ea typeface="华文楷体" panose="02010600040101010101" pitchFamily="2" charset="-122"/>
              </a:rPr>
              <a:t>0</a:t>
            </a:r>
            <a:endParaRPr lang="en-US" altLang="zh-CN" sz="2800" i="1" dirty="0">
              <a:solidFill>
                <a:srgbClr val="0000FF"/>
              </a:solidFill>
              <a:ea typeface="华文楷体" panose="02010600040101010101" pitchFamily="2" charset="-122"/>
            </a:endParaRPr>
          </a:p>
        </p:txBody>
      </p:sp>
      <p:sp>
        <p:nvSpPr>
          <p:cNvPr id="13323" name="矩形 13"/>
          <p:cNvSpPr>
            <a:spLocks noChangeArrowheads="1"/>
          </p:cNvSpPr>
          <p:nvPr/>
        </p:nvSpPr>
        <p:spPr bwMode="auto">
          <a:xfrm>
            <a:off x="1036638" y="4692652"/>
            <a:ext cx="2087562" cy="107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3200" b="1" dirty="0">
                <a:solidFill>
                  <a:srgbClr val="0000FF"/>
                </a:solidFill>
                <a:ea typeface="华文楷体" panose="02010600040101010101" pitchFamily="2" charset="-122"/>
              </a:rPr>
              <a:t>结果和</a:t>
            </a:r>
            <a:endParaRPr lang="en-US" altLang="zh-CN" sz="3200" b="1" dirty="0">
              <a:solidFill>
                <a:srgbClr val="0000FF"/>
              </a:solidFill>
              <a:ea typeface="华文楷体" panose="02010600040101010101" pitchFamily="2" charset="-122"/>
            </a:endParaRPr>
          </a:p>
          <a:p>
            <a:pPr algn="ctr"/>
            <a:r>
              <a:rPr lang="zh-CN" altLang="en-US" sz="3200" b="1" dirty="0">
                <a:solidFill>
                  <a:srgbClr val="0000FF"/>
                </a:solidFill>
                <a:ea typeface="华文楷体" panose="02010600040101010101" pitchFamily="2" charset="-122"/>
              </a:rPr>
              <a:t>方法</a:t>
            </a:r>
            <a:r>
              <a:rPr lang="en-US" altLang="zh-CN" sz="3200" b="1" dirty="0">
                <a:solidFill>
                  <a:srgbClr val="0000FF"/>
                </a:solidFill>
                <a:ea typeface="华文楷体" panose="02010600040101010101" pitchFamily="2" charset="-122"/>
              </a:rPr>
              <a:t>1</a:t>
            </a:r>
            <a:r>
              <a:rPr lang="zh-CN" altLang="en-US" sz="3200" b="1" dirty="0">
                <a:solidFill>
                  <a:srgbClr val="0000FF"/>
                </a:solidFill>
                <a:ea typeface="华文楷体" panose="02010600040101010101" pitchFamily="2" charset="-122"/>
              </a:rPr>
              <a:t>一致</a:t>
            </a:r>
            <a:endParaRPr lang="en-US" altLang="zh-CN" sz="3200" b="1" dirty="0">
              <a:solidFill>
                <a:srgbClr val="0000FF"/>
              </a:solidFill>
              <a:ea typeface="华文楷体" panose="02010600040101010101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30E9E19-F41C-4B4E-82B0-71B77DF40D24}" type="datetime1">
              <a:rPr lang="zh-CN" altLang="en-US"/>
            </a:fld>
            <a:endParaRPr lang="en-US" altLang="zh-CN"/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6C8BB40D-70CE-4BE3-933D-FEE12775317E}" type="slidenum">
              <a:rPr lang="en-US" altLang="zh-CN">
                <a:solidFill>
                  <a:srgbClr val="898989"/>
                </a:solidFill>
              </a:rPr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43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华文楷体" panose="02010600040101010101" pitchFamily="2" charset="-122"/>
              </a:rPr>
              <a:t>一个多重和的</a:t>
            </a:r>
            <a:r>
              <a:rPr lang="en-US" altLang="zh-CN">
                <a:ea typeface="华文楷体" panose="02010600040101010101" pitchFamily="2" charset="-122"/>
              </a:rPr>
              <a:t>concrete example</a:t>
            </a:r>
            <a:endParaRPr lang="zh-CN" altLang="en-US">
              <a:ea typeface="华文楷体" panose="02010600040101010101" pitchFamily="2" charset="-122"/>
            </a:endParaRPr>
          </a:p>
        </p:txBody>
      </p:sp>
      <p:sp>
        <p:nvSpPr>
          <p:cNvPr id="202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3178175" cy="2044700"/>
          </a:xfrm>
        </p:spPr>
        <p:txBody>
          <a:bodyPr rtlCol="0"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anose="02010600040101010101" pitchFamily="2" charset="-122"/>
              </a:rPr>
              <a:t>第三种方法：</a:t>
            </a:r>
            <a:endParaRPr lang="en-US" altLang="zh-CN" dirty="0">
              <a:latin typeface="+mj-lt"/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anose="02010600040101010101" pitchFamily="2" charset="-122"/>
              </a:rPr>
              <a:t>在将</a:t>
            </a:r>
            <a:r>
              <a:rPr lang="en-US" altLang="zh-CN" sz="2800" dirty="0">
                <a:latin typeface="+mj-lt"/>
                <a:ea typeface="华文楷体" panose="02010600040101010101" pitchFamily="2" charset="-122"/>
              </a:rPr>
              <a:t>S</a:t>
            </a:r>
            <a:r>
              <a:rPr lang="en-US" altLang="zh-CN" sz="2800" baseline="-25000" dirty="0">
                <a:latin typeface="+mj-lt"/>
                <a:ea typeface="华文楷体" panose="02010600040101010101" pitchFamily="2" charset="-122"/>
              </a:rPr>
              <a:t>n</a:t>
            </a:r>
            <a:r>
              <a:rPr lang="zh-CN" altLang="en-US" sz="2800" dirty="0">
                <a:latin typeface="+mj-lt"/>
                <a:ea typeface="华文楷体" panose="02010600040101010101" pitchFamily="2" charset="-122"/>
              </a:rPr>
              <a:t>表达成多重和之前，用</a:t>
            </a:r>
            <a:r>
              <a:rPr lang="en-US" altLang="zh-CN" sz="2800" i="1" dirty="0" err="1">
                <a:latin typeface="+mj-lt"/>
                <a:ea typeface="华文楷体" panose="02010600040101010101" pitchFamily="2" charset="-122"/>
              </a:rPr>
              <a:t>k</a:t>
            </a:r>
            <a:r>
              <a:rPr lang="en-US" altLang="zh-CN" sz="2800" dirty="0" err="1">
                <a:latin typeface="+mj-lt"/>
                <a:ea typeface="华文楷体" panose="02010600040101010101" pitchFamily="2" charset="-122"/>
              </a:rPr>
              <a:t>+</a:t>
            </a:r>
            <a:r>
              <a:rPr lang="en-US" altLang="zh-CN" sz="2800" i="1" dirty="0" err="1">
                <a:latin typeface="+mj-lt"/>
                <a:ea typeface="华文楷体" panose="02010600040101010101" pitchFamily="2" charset="-122"/>
              </a:rPr>
              <a:t>j</a:t>
            </a:r>
            <a:r>
              <a:rPr lang="zh-CN" altLang="en-US" sz="2800" dirty="0">
                <a:latin typeface="+mj-lt"/>
                <a:ea typeface="华文楷体" panose="02010600040101010101" pitchFamily="2" charset="-122"/>
              </a:rPr>
              <a:t>替换</a:t>
            </a:r>
            <a:r>
              <a:rPr lang="en-US" altLang="zh-CN" sz="2800" i="1" dirty="0">
                <a:latin typeface="+mj-lt"/>
                <a:ea typeface="华文楷体" panose="02010600040101010101" pitchFamily="2" charset="-122"/>
              </a:rPr>
              <a:t>k</a:t>
            </a:r>
            <a:r>
              <a:rPr lang="zh-CN" altLang="en-US" sz="2800" dirty="0">
                <a:latin typeface="+mj-lt"/>
                <a:ea typeface="华文楷体" panose="02010600040101010101" pitchFamily="2" charset="-122"/>
              </a:rPr>
              <a:t>。</a:t>
            </a:r>
            <a:endParaRPr lang="en-US" altLang="zh-CN" sz="2800" dirty="0">
              <a:latin typeface="+mj-lt"/>
              <a:ea typeface="华文楷体" panose="02010600040101010101" pitchFamily="2" charset="-122"/>
            </a:endParaRPr>
          </a:p>
        </p:txBody>
      </p:sp>
      <p:sp>
        <p:nvSpPr>
          <p:cNvPr id="14343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4344" name="Rectangle 7"/>
          <p:cNvSpPr>
            <a:spLocks noChangeArrowheads="1"/>
          </p:cNvSpPr>
          <p:nvPr/>
        </p:nvSpPr>
        <p:spPr bwMode="auto">
          <a:xfrm>
            <a:off x="0" y="2195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338" name="Object 2"/>
              <p:cNvSpPr txBox="1"/>
              <p:nvPr/>
            </p:nvSpPr>
            <p:spPr bwMode="auto">
              <a:xfrm>
                <a:off x="5945450" y="1512311"/>
                <a:ext cx="2565485" cy="5302662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m:rPr>
                          <m:aln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den>
                          </m:f>
                        </m:e>
                      </m:nary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nary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/>
                            <m:e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nary>
                        </m:e>
                      </m:nary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nary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nary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/>
                            <m:e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nary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altLang="zh-CN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br>
                  <a:rPr lang="zh-CN" alt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r>
                  <a:rPr lang="zh-CN" altLang="en-US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    </a:t>
                </a:r>
                <a14:m>
                  <m:oMath xmlns:m="http://schemas.openxmlformats.org/officeDocument/2006/math">
                    <m:r>
                      <m:rPr>
                        <m:aln/>
                      </m:rP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14338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45450" y="1512311"/>
                <a:ext cx="2565485" cy="5302662"/>
              </a:xfrm>
              <a:prstGeom prst="rect">
                <a:avLst/>
              </a:prstGeom>
              <a:blipFill rotWithShape="1">
                <a:blip r:embed="rId1"/>
                <a:stretch>
                  <a:fillRect l="-23" t="-7" r="1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345" name="矩形 12"/>
          <p:cNvSpPr>
            <a:spLocks noChangeArrowheads="1"/>
          </p:cNvSpPr>
          <p:nvPr/>
        </p:nvSpPr>
        <p:spPr bwMode="auto">
          <a:xfrm>
            <a:off x="3132138" y="1577975"/>
            <a:ext cx="2735262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zh-CN" altLang="en-US" sz="2400" dirty="0">
                <a:solidFill>
                  <a:srgbClr val="FF0000"/>
                </a:solidFill>
                <a:ea typeface="华文楷体" panose="02010600040101010101" pitchFamily="2" charset="-122"/>
              </a:rPr>
              <a:t>计算目标</a:t>
            </a:r>
            <a:endParaRPr lang="en-US" altLang="zh-CN" sz="2400" dirty="0">
              <a:solidFill>
                <a:srgbClr val="FF0000"/>
              </a:solidFill>
              <a:ea typeface="华文楷体" panose="02010600040101010101" pitchFamily="2" charset="-122"/>
            </a:endParaRPr>
          </a:p>
          <a:p>
            <a:pPr algn="r"/>
            <a:endParaRPr lang="en-US" altLang="zh-CN" sz="2400" dirty="0">
              <a:solidFill>
                <a:srgbClr val="FF0000"/>
              </a:solidFill>
              <a:ea typeface="华文楷体" panose="02010600040101010101" pitchFamily="2" charset="-122"/>
            </a:endParaRPr>
          </a:p>
          <a:p>
            <a:pPr algn="r"/>
            <a:r>
              <a:rPr lang="zh-CN" altLang="en-US" sz="2400" dirty="0">
                <a:solidFill>
                  <a:srgbClr val="FF0000"/>
                </a:solidFill>
                <a:ea typeface="华文楷体" panose="02010600040101010101" pitchFamily="2" charset="-122"/>
              </a:rPr>
              <a:t>用</a:t>
            </a:r>
            <a:r>
              <a:rPr lang="en-US" altLang="zh-CN" sz="2400" i="1" dirty="0" err="1">
                <a:solidFill>
                  <a:srgbClr val="FF0000"/>
                </a:solidFill>
                <a:ea typeface="华文楷体" panose="02010600040101010101" pitchFamily="2" charset="-122"/>
              </a:rPr>
              <a:t>k</a:t>
            </a:r>
            <a:r>
              <a:rPr lang="en-US" altLang="zh-CN" sz="2400" dirty="0" err="1">
                <a:solidFill>
                  <a:srgbClr val="FF0000"/>
                </a:solidFill>
                <a:ea typeface="华文楷体" panose="02010600040101010101" pitchFamily="2" charset="-122"/>
              </a:rPr>
              <a:t>+</a:t>
            </a:r>
            <a:r>
              <a:rPr lang="en-US" altLang="zh-CN" sz="2400" i="1" dirty="0" err="1">
                <a:solidFill>
                  <a:srgbClr val="FF0000"/>
                </a:solidFill>
                <a:ea typeface="华文楷体" panose="02010600040101010101" pitchFamily="2" charset="-122"/>
              </a:rPr>
              <a:t>j</a:t>
            </a:r>
            <a:r>
              <a:rPr lang="zh-CN" altLang="en-US" sz="2400" dirty="0">
                <a:solidFill>
                  <a:srgbClr val="FF0000"/>
                </a:solidFill>
                <a:ea typeface="华文楷体" panose="02010600040101010101" pitchFamily="2" charset="-122"/>
              </a:rPr>
              <a:t>替换</a:t>
            </a:r>
            <a:r>
              <a:rPr lang="en-US" altLang="zh-CN" sz="2400" i="1" dirty="0">
                <a:solidFill>
                  <a:srgbClr val="FF0000"/>
                </a:solidFill>
                <a:ea typeface="华文楷体" panose="02010600040101010101" pitchFamily="2" charset="-122"/>
              </a:rPr>
              <a:t>k</a:t>
            </a:r>
            <a:endParaRPr lang="en-US" altLang="zh-CN" sz="2400" i="1" dirty="0">
              <a:solidFill>
                <a:srgbClr val="FF0000"/>
              </a:solidFill>
              <a:ea typeface="华文楷体" panose="02010600040101010101" pitchFamily="2" charset="-122"/>
            </a:endParaRPr>
          </a:p>
          <a:p>
            <a:pPr algn="r"/>
            <a:endParaRPr lang="en-US" altLang="zh-CN" sz="2400" dirty="0">
              <a:solidFill>
                <a:srgbClr val="FF0000"/>
              </a:solidFill>
              <a:ea typeface="华文楷体" panose="02010600040101010101" pitchFamily="2" charset="-122"/>
            </a:endParaRPr>
          </a:p>
          <a:p>
            <a:pPr algn="r"/>
            <a:r>
              <a:rPr lang="zh-CN" altLang="en-US" sz="2400" dirty="0">
                <a:solidFill>
                  <a:srgbClr val="FF0000"/>
                </a:solidFill>
                <a:ea typeface="华文楷体" panose="02010600040101010101" pitchFamily="2" charset="-122"/>
              </a:rPr>
              <a:t>先在</a:t>
            </a:r>
            <a:r>
              <a:rPr lang="en-US" altLang="zh-CN" sz="2400" i="1" dirty="0">
                <a:solidFill>
                  <a:srgbClr val="FF0000"/>
                </a:solidFill>
                <a:ea typeface="华文楷体" panose="02010600040101010101" pitchFamily="2" charset="-122"/>
              </a:rPr>
              <a:t>j</a:t>
            </a:r>
            <a:r>
              <a:rPr lang="zh-CN" altLang="en-US" sz="2400" dirty="0">
                <a:solidFill>
                  <a:srgbClr val="FF0000"/>
                </a:solidFill>
                <a:ea typeface="华文楷体" panose="02010600040101010101" pitchFamily="2" charset="-122"/>
              </a:rPr>
              <a:t>上求和</a:t>
            </a:r>
            <a:endParaRPr lang="en-US" altLang="zh-CN" sz="2400" dirty="0">
              <a:solidFill>
                <a:srgbClr val="FF0000"/>
              </a:solidFill>
              <a:ea typeface="华文楷体" panose="02010600040101010101" pitchFamily="2" charset="-122"/>
            </a:endParaRPr>
          </a:p>
          <a:p>
            <a:pPr algn="r"/>
            <a:endParaRPr lang="en-US" altLang="zh-CN" sz="2400" dirty="0">
              <a:solidFill>
                <a:srgbClr val="FF0000"/>
              </a:solidFill>
              <a:ea typeface="华文楷体" panose="02010600040101010101" pitchFamily="2" charset="-122"/>
            </a:endParaRPr>
          </a:p>
          <a:p>
            <a:pPr algn="r"/>
            <a:r>
              <a:rPr lang="zh-CN" altLang="en-US" sz="2400" dirty="0">
                <a:solidFill>
                  <a:srgbClr val="FF0000"/>
                </a:solidFill>
                <a:ea typeface="华文楷体" panose="02010600040101010101" pitchFamily="2" charset="-122"/>
              </a:rPr>
              <a:t>算出</a:t>
            </a:r>
            <a:r>
              <a:rPr lang="en-US" altLang="zh-CN" sz="2400" i="1" dirty="0">
                <a:solidFill>
                  <a:srgbClr val="FF0000"/>
                </a:solidFill>
                <a:ea typeface="华文楷体" panose="02010600040101010101" pitchFamily="2" charset="-122"/>
              </a:rPr>
              <a:t>j</a:t>
            </a:r>
            <a:r>
              <a:rPr lang="zh-CN" altLang="en-US" sz="2400" dirty="0">
                <a:solidFill>
                  <a:srgbClr val="FF0000"/>
                </a:solidFill>
                <a:ea typeface="华文楷体" panose="02010600040101010101" pitchFamily="2" charset="-122"/>
              </a:rPr>
              <a:t>上的和</a:t>
            </a:r>
            <a:endParaRPr lang="en-US" altLang="zh-CN" sz="2400" dirty="0">
              <a:solidFill>
                <a:srgbClr val="FF0000"/>
              </a:solidFill>
              <a:ea typeface="华文楷体" panose="02010600040101010101" pitchFamily="2" charset="-122"/>
            </a:endParaRPr>
          </a:p>
          <a:p>
            <a:pPr algn="r"/>
            <a:endParaRPr lang="en-US" altLang="zh-CN" sz="2400" dirty="0">
              <a:solidFill>
                <a:srgbClr val="FF0000"/>
              </a:solidFill>
              <a:ea typeface="华文楷体" panose="02010600040101010101" pitchFamily="2" charset="-122"/>
            </a:endParaRPr>
          </a:p>
          <a:p>
            <a:pPr algn="r"/>
            <a:r>
              <a:rPr lang="zh-CN" altLang="en-US" sz="2400" dirty="0">
                <a:solidFill>
                  <a:srgbClr val="FF0000"/>
                </a:solidFill>
                <a:ea typeface="华文楷体" panose="02010600040101010101" pitchFamily="2" charset="-122"/>
              </a:rPr>
              <a:t>使用结合律</a:t>
            </a:r>
            <a:endParaRPr lang="en-US" altLang="zh-CN" sz="2400" dirty="0">
              <a:solidFill>
                <a:srgbClr val="FF0000"/>
              </a:solidFill>
              <a:ea typeface="华文楷体" panose="02010600040101010101" pitchFamily="2" charset="-122"/>
            </a:endParaRPr>
          </a:p>
          <a:p>
            <a:pPr algn="r"/>
            <a:endParaRPr lang="en-US" altLang="zh-CN" sz="2400" dirty="0">
              <a:solidFill>
                <a:srgbClr val="FF0000"/>
              </a:solidFill>
              <a:ea typeface="华文楷体" panose="02010600040101010101" pitchFamily="2" charset="-122"/>
            </a:endParaRPr>
          </a:p>
          <a:p>
            <a:pPr algn="r"/>
            <a:r>
              <a:rPr lang="zh-CN" altLang="en-US" sz="2400" dirty="0">
                <a:solidFill>
                  <a:srgbClr val="FF0000"/>
                </a:solidFill>
                <a:ea typeface="华文楷体" panose="02010600040101010101" pitchFamily="2" charset="-122"/>
              </a:rPr>
              <a:t>很容易</a:t>
            </a:r>
            <a:endParaRPr lang="en-US" altLang="zh-CN" sz="2400" dirty="0">
              <a:solidFill>
                <a:srgbClr val="FF0000"/>
              </a:solidFill>
              <a:ea typeface="华文楷体" panose="02010600040101010101" pitchFamily="2" charset="-122"/>
            </a:endParaRPr>
          </a:p>
          <a:p>
            <a:pPr algn="r"/>
            <a:endParaRPr lang="en-US" altLang="zh-CN" sz="2400" dirty="0">
              <a:solidFill>
                <a:srgbClr val="FF0000"/>
              </a:solidFill>
              <a:ea typeface="华文楷体" panose="02010600040101010101" pitchFamily="2" charset="-122"/>
            </a:endParaRPr>
          </a:p>
          <a:p>
            <a:pPr algn="r"/>
            <a:r>
              <a:rPr lang="zh-CN" altLang="en-US" sz="2400" dirty="0">
                <a:solidFill>
                  <a:srgbClr val="FF0000"/>
                </a:solidFill>
                <a:ea typeface="华文楷体" panose="02010600040101010101" pitchFamily="2" charset="-122"/>
              </a:rPr>
              <a:t>采用调和数记号</a:t>
            </a:r>
            <a:endParaRPr lang="en-US" altLang="zh-CN" sz="2400" dirty="0">
              <a:solidFill>
                <a:srgbClr val="FF0000"/>
              </a:solidFill>
              <a:ea typeface="华文楷体" panose="0201060004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D9CE9C0-0950-4B90-AF58-13A2FB62BDD6}" type="datetime1">
              <a:rPr lang="zh-CN" altLang="en-US"/>
            </a:fld>
            <a:endParaRPr lang="en-US" altLang="zh-CN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836C1562-3814-4AA4-8FC1-2AC489C5F7A4}" type="slidenum">
              <a:rPr lang="en-US" altLang="zh-CN">
                <a:solidFill>
                  <a:srgbClr val="898989"/>
                </a:solidFill>
              </a:rPr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53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华文楷体" panose="02010600040101010101" pitchFamily="2" charset="-122"/>
              </a:rPr>
              <a:t>一个多重和的</a:t>
            </a:r>
            <a:r>
              <a:rPr lang="en-US" altLang="zh-CN">
                <a:ea typeface="华文楷体" panose="02010600040101010101" pitchFamily="2" charset="-122"/>
              </a:rPr>
              <a:t>concrete example</a:t>
            </a:r>
            <a:endParaRPr lang="zh-CN" altLang="en-US">
              <a:ea typeface="华文楷体" panose="02010600040101010101" pitchFamily="2" charset="-122"/>
            </a:endParaRPr>
          </a:p>
        </p:txBody>
      </p:sp>
      <p:sp>
        <p:nvSpPr>
          <p:cNvPr id="204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2800">
                <a:latin typeface="+mj-lt"/>
                <a:ea typeface="华文楷体" panose="02010600040101010101" pitchFamily="2" charset="-122"/>
              </a:rPr>
              <a:t>综合前面的三种不同方法，可以得到</a:t>
            </a:r>
            <a:endParaRPr lang="en-US" altLang="zh-CN" sz="2800">
              <a:latin typeface="+mj-lt"/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sz="2800">
              <a:latin typeface="+mj-lt"/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sz="2800">
                <a:latin typeface="+mj-lt"/>
                <a:ea typeface="华文楷体" panose="02010600040101010101" pitchFamily="2" charset="-122"/>
              </a:rPr>
              <a:t>从代数、几何两种角度总结三种方法中的经验：</a:t>
            </a:r>
            <a:endParaRPr lang="en-US" altLang="zh-CN" sz="2800">
              <a:latin typeface="+mj-lt"/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sz="2800">
                <a:solidFill>
                  <a:srgbClr val="0000FF"/>
                </a:solidFill>
                <a:latin typeface="+mj-lt"/>
                <a:ea typeface="华文楷体" panose="02010600040101010101" pitchFamily="2" charset="-122"/>
              </a:rPr>
              <a:t>代数：</a:t>
            </a:r>
            <a:r>
              <a:rPr lang="zh-CN" altLang="en-US" sz="2800">
                <a:latin typeface="+mj-lt"/>
                <a:ea typeface="华文楷体" panose="02010600040101010101" pitchFamily="2" charset="-122"/>
              </a:rPr>
              <a:t>如果在被加项中有</a:t>
            </a:r>
            <a:r>
              <a:rPr lang="en-US" altLang="zh-CN" sz="2800">
                <a:latin typeface="+mj-lt"/>
                <a:ea typeface="华文楷体" panose="02010600040101010101" pitchFamily="2" charset="-122"/>
              </a:rPr>
              <a:t>k+f(j)</a:t>
            </a:r>
            <a:r>
              <a:rPr lang="zh-CN" altLang="en-US" sz="2800">
                <a:latin typeface="+mj-lt"/>
                <a:ea typeface="华文楷体" panose="02010600040101010101" pitchFamily="2" charset="-122"/>
              </a:rPr>
              <a:t>之类的表达式，可以将</a:t>
            </a:r>
            <a:r>
              <a:rPr lang="en-US" altLang="zh-CN" sz="2800">
                <a:latin typeface="+mj-lt"/>
                <a:ea typeface="华文楷体" panose="02010600040101010101" pitchFamily="2" charset="-122"/>
              </a:rPr>
              <a:t>k</a:t>
            </a:r>
            <a:r>
              <a:rPr lang="zh-CN" altLang="en-US" sz="2800">
                <a:latin typeface="+mj-lt"/>
                <a:ea typeface="华文楷体" panose="02010600040101010101" pitchFamily="2" charset="-122"/>
              </a:rPr>
              <a:t>替换成</a:t>
            </a:r>
            <a:r>
              <a:rPr lang="en-US" altLang="zh-CN" sz="2800">
                <a:latin typeface="+mj-lt"/>
                <a:ea typeface="华文楷体" panose="02010600040101010101" pitchFamily="2" charset="-122"/>
              </a:rPr>
              <a:t>k-f(j)</a:t>
            </a:r>
            <a:r>
              <a:rPr lang="zh-CN" altLang="en-US" sz="2800">
                <a:latin typeface="+mj-lt"/>
                <a:ea typeface="华文楷体" panose="02010600040101010101" pitchFamily="2" charset="-122"/>
              </a:rPr>
              <a:t>，然后在</a:t>
            </a:r>
            <a:r>
              <a:rPr lang="en-US" altLang="zh-CN" sz="2800">
                <a:latin typeface="+mj-lt"/>
                <a:ea typeface="华文楷体" panose="02010600040101010101" pitchFamily="2" charset="-122"/>
              </a:rPr>
              <a:t>j</a:t>
            </a:r>
            <a:r>
              <a:rPr lang="zh-CN" altLang="en-US" sz="2800">
                <a:latin typeface="+mj-lt"/>
                <a:ea typeface="华文楷体" panose="02010600040101010101" pitchFamily="2" charset="-122"/>
              </a:rPr>
              <a:t>上求和；</a:t>
            </a:r>
            <a:endParaRPr lang="en-US" altLang="zh-CN" sz="2800">
              <a:latin typeface="+mj-lt"/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sz="2800">
                <a:latin typeface="+mj-lt"/>
                <a:ea typeface="华文楷体" panose="02010600040101010101" pitchFamily="2" charset="-122"/>
              </a:rPr>
              <a:t>几何：</a:t>
            </a:r>
            <a:endParaRPr lang="zh-CN" altLang="en-US" sz="2800">
              <a:latin typeface="+mj-lt"/>
              <a:ea typeface="华文楷体" panose="02010600040101010101" pitchFamily="2" charset="-122"/>
            </a:endParaRPr>
          </a:p>
        </p:txBody>
      </p:sp>
      <p:sp>
        <p:nvSpPr>
          <p:cNvPr id="15368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362" name="Object 3"/>
              <p:cNvSpPr txBox="1"/>
              <p:nvPr/>
            </p:nvSpPr>
            <p:spPr bwMode="auto">
              <a:xfrm>
                <a:off x="3376613" y="1989138"/>
                <a:ext cx="2347912" cy="711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85000" lnSpcReduction="1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5362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76613" y="1989138"/>
                <a:ext cx="2347912" cy="711200"/>
              </a:xfrm>
              <a:prstGeom prst="rect">
                <a:avLst/>
              </a:prstGeom>
              <a:blipFill rotWithShape="1">
                <a:blip r:embed="rId1"/>
                <a:stretch>
                  <a:fillRect l="-14" t="-45" b="4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363" name="Object 4"/>
              <p:cNvSpPr txBox="1"/>
              <p:nvPr/>
            </p:nvSpPr>
            <p:spPr bwMode="auto">
              <a:xfrm>
                <a:off x="2916238" y="4149725"/>
                <a:ext cx="3600450" cy="2500313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5"/>
                                <m:mcJc m:val="center"/>
                              </m:mcPr>
                            </m:mc>
                          </m:mcs>
                          <m:plcHide m:val="on"/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mr>
                        <m:m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/>
                          <m:e>
                            <m:f>
                              <m:f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f>
                              <m:f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f>
                              <m:f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mr>
                        <m:m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e/>
                          <m:e/>
                          <m:e>
                            <m:f>
                              <m:f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f>
                              <m:f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mr>
                        <m:m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e/>
                          <m:e/>
                          <m:e/>
                          <m:e>
                            <m:f>
                              <m:f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mr>
                        <m:m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e/>
                          <m:e/>
                          <m:e/>
                          <m:e/>
                        </m:mr>
                      </m:m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5363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16238" y="4149725"/>
                <a:ext cx="3600450" cy="2500313"/>
              </a:xfrm>
              <a:prstGeom prst="rect">
                <a:avLst/>
              </a:prstGeom>
              <a:blipFill rotWithShape="1">
                <a:blip r:embed="rId2"/>
                <a:stretch>
                  <a:fillRect l="-9" r="9" b="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接箭头连接符 10"/>
          <p:cNvCxnSpPr/>
          <p:nvPr/>
        </p:nvCxnSpPr>
        <p:spPr>
          <a:xfrm>
            <a:off x="4427538" y="4797425"/>
            <a:ext cx="2016125" cy="0"/>
          </a:xfrm>
          <a:prstGeom prst="straightConnector1">
            <a:avLst/>
          </a:prstGeom>
          <a:ln w="127000">
            <a:solidFill>
              <a:srgbClr val="0000FF">
                <a:alpha val="30000"/>
              </a:srgb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>
            <a:off x="4572000" y="4652963"/>
            <a:ext cx="0" cy="1871662"/>
          </a:xfrm>
          <a:prstGeom prst="straightConnector1">
            <a:avLst/>
          </a:prstGeom>
          <a:ln w="127000">
            <a:solidFill>
              <a:srgbClr val="00B050">
                <a:alpha val="30000"/>
              </a:srgb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>
            <a:off x="4427538" y="4652963"/>
            <a:ext cx="1944687" cy="1800225"/>
          </a:xfrm>
          <a:prstGeom prst="straightConnector1">
            <a:avLst/>
          </a:prstGeom>
          <a:ln w="127000">
            <a:solidFill>
              <a:srgbClr val="FF0000">
                <a:alpha val="30000"/>
              </a:srgb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D9CE9C0-0950-4B90-AF58-13A2FB62BDD6}" type="datetime1">
              <a:rPr lang="zh-CN" altLang="en-US"/>
            </a:fld>
            <a:endParaRPr lang="en-US" altLang="zh-CN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EB1AD48F-3F00-455F-8710-34B194077ADD}" type="slidenum">
              <a:rPr lang="en-US" altLang="zh-CN">
                <a:solidFill>
                  <a:srgbClr val="898989"/>
                </a:solidFill>
              </a:rPr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25604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2636838"/>
            <a:ext cx="8229600" cy="1512887"/>
          </a:xfrm>
        </p:spPr>
        <p:txBody>
          <a:bodyPr/>
          <a:lstStyle/>
          <a:p>
            <a:r>
              <a:rPr lang="en-US" altLang="zh-CN" dirty="0">
                <a:ea typeface="华文楷体" panose="02010600040101010101" pitchFamily="2" charset="-122"/>
              </a:rPr>
              <a:t>2.5 General Methods</a:t>
            </a:r>
            <a:br>
              <a:rPr lang="en-US" altLang="zh-CN" dirty="0">
                <a:ea typeface="华文楷体" panose="02010600040101010101" pitchFamily="2" charset="-122"/>
              </a:rPr>
            </a:br>
            <a:r>
              <a:rPr lang="zh-CN" altLang="en-US" dirty="0">
                <a:ea typeface="华文楷体" panose="02010600040101010101" pitchFamily="2" charset="-122"/>
              </a:rPr>
              <a:t>一般方法总结</a:t>
            </a:r>
            <a:endParaRPr lang="zh-CN" altLang="en-US" dirty="0">
              <a:ea typeface="华文楷体" panose="02010600040101010101" pitchFamily="2" charset="-122"/>
            </a:endParaRPr>
          </a:p>
        </p:txBody>
      </p:sp>
      <p:sp>
        <p:nvSpPr>
          <p:cNvPr id="25605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D9CE9C0-0950-4B90-AF58-13A2FB62BDD6}" type="datetime1">
              <a:rPr lang="zh-CN" altLang="en-US"/>
            </a:fld>
            <a:endParaRPr lang="en-US" altLang="zh-CN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64366CDC-3316-4703-ADA8-3E56FB28C1A0}" type="slidenum">
              <a:rPr lang="en-US" altLang="zh-CN">
                <a:solidFill>
                  <a:srgbClr val="898989"/>
                </a:solidFill>
              </a:rPr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63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华文楷体" panose="02010600040101010101" pitchFamily="2" charset="-122"/>
              </a:rPr>
              <a:t>2.5 </a:t>
            </a:r>
            <a:r>
              <a:rPr lang="zh-CN" altLang="en-US" dirty="0">
                <a:ea typeface="华文楷体" panose="02010600040101010101" pitchFamily="2" charset="-122"/>
              </a:rPr>
              <a:t>一般方法总结</a:t>
            </a:r>
            <a:endParaRPr lang="zh-CN" altLang="en-US" dirty="0">
              <a:ea typeface="华文楷体" panose="02010600040101010101" pitchFamily="2" charset="-122"/>
            </a:endParaRPr>
          </a:p>
        </p:txBody>
      </p:sp>
      <p:sp>
        <p:nvSpPr>
          <p:cNvPr id="204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anose="02010600040101010101" pitchFamily="2" charset="-122"/>
              </a:rPr>
              <a:t>在掌握了求和的记号、求和与递归的关系，以及多重求和的有关技巧之后，对常见的求和方法做一个简明的列举和介绍。通过具体问题展开介绍：</a:t>
            </a:r>
            <a:endParaRPr lang="en-US" altLang="zh-CN" dirty="0">
              <a:latin typeface="+mj-lt"/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anose="02010600040101010101" pitchFamily="2" charset="-122"/>
              </a:rPr>
              <a:t>计算目标：求前</a:t>
            </a:r>
            <a:r>
              <a:rPr lang="en-US" altLang="zh-CN" i="1" dirty="0">
                <a:latin typeface="+mj-lt"/>
                <a:ea typeface="华文楷体" panose="02010600040101010101" pitchFamily="2" charset="-122"/>
              </a:rPr>
              <a:t>n</a:t>
            </a:r>
            <a:r>
              <a:rPr lang="zh-CN" altLang="en-US" dirty="0">
                <a:latin typeface="+mj-lt"/>
                <a:ea typeface="华文楷体" panose="02010600040101010101" pitchFamily="2" charset="-122"/>
              </a:rPr>
              <a:t>个平方和的封闭形式解。在解未知之前，将其记做□</a:t>
            </a:r>
            <a:r>
              <a:rPr lang="en-US" altLang="zh-CN" baseline="-25000" dirty="0">
                <a:latin typeface="+mj-lt"/>
                <a:ea typeface="华文楷体" panose="02010600040101010101" pitchFamily="2" charset="-122"/>
              </a:rPr>
              <a:t>n </a:t>
            </a:r>
            <a:endParaRPr lang="zh-CN" altLang="en-US" dirty="0">
              <a:latin typeface="+mj-lt"/>
              <a:ea typeface="华文楷体" panose="02010600040101010101" pitchFamily="2" charset="-122"/>
            </a:endParaRPr>
          </a:p>
        </p:txBody>
      </p:sp>
      <p:sp>
        <p:nvSpPr>
          <p:cNvPr id="16391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386" name="Object 4"/>
              <p:cNvSpPr txBox="1"/>
              <p:nvPr/>
            </p:nvSpPr>
            <p:spPr bwMode="auto">
              <a:xfrm>
                <a:off x="3995738" y="4797153"/>
                <a:ext cx="1728390" cy="936104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dirty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□</m:t>
                      </m:r>
                      <m:r>
                        <m:rPr>
                          <m:nor/>
                        </m:rPr>
                        <a:rPr lang="en-US" altLang="zh-CN" baseline="-25000" dirty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n</m:t>
                      </m:r>
                      <m:r>
                        <a:rPr lang="en-US" altLang="zh-CN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6386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95738" y="4797153"/>
                <a:ext cx="1728390" cy="936104"/>
              </a:xfrm>
              <a:prstGeom prst="rect">
                <a:avLst/>
              </a:prstGeom>
              <a:blipFill rotWithShape="1">
                <a:blip r:embed="rId1"/>
                <a:stretch>
                  <a:fillRect l="-18" t="-39" r="14" b="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6CA2204-2BE9-445C-9E48-59F1A71C894E}" type="datetime1">
              <a:rPr lang="zh-CN" altLang="en-US"/>
            </a:fld>
            <a:endParaRPr lang="en-US" altLang="zh-CN"/>
          </a:p>
        </p:txBody>
      </p:sp>
      <p:sp>
        <p:nvSpPr>
          <p:cNvPr id="11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BA4C216E-A7E7-40AE-957A-177A4C2F75D4}" type="slidenum">
              <a:rPr lang="en-US" altLang="zh-CN">
                <a:solidFill>
                  <a:srgbClr val="898989"/>
                </a:solidFill>
              </a:rPr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74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华文楷体" panose="02010600040101010101" pitchFamily="2" charset="-122"/>
              </a:rPr>
              <a:t>方法</a:t>
            </a:r>
            <a:r>
              <a:rPr lang="en-US" altLang="zh-CN">
                <a:ea typeface="华文楷体" panose="02010600040101010101" pitchFamily="2" charset="-122"/>
              </a:rPr>
              <a:t>0~1</a:t>
            </a:r>
            <a:endParaRPr lang="zh-CN" altLang="en-US">
              <a:ea typeface="华文楷体" panose="02010600040101010101" pitchFamily="2" charset="-122"/>
            </a:endParaRPr>
          </a:p>
        </p:txBody>
      </p:sp>
      <p:sp>
        <p:nvSpPr>
          <p:cNvPr id="205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 fontScale="92500" lnSpcReduction="2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solidFill>
                  <a:srgbClr val="0000FF"/>
                </a:solidFill>
                <a:latin typeface="+mj-lt"/>
                <a:ea typeface="华文楷体" panose="02010600040101010101" pitchFamily="2" charset="-122"/>
              </a:rPr>
              <a:t>方法</a:t>
            </a:r>
            <a:r>
              <a:rPr lang="en-US" altLang="zh-CN" dirty="0">
                <a:solidFill>
                  <a:srgbClr val="0000FF"/>
                </a:solidFill>
                <a:latin typeface="+mj-lt"/>
                <a:ea typeface="华文楷体" panose="02010600040101010101" pitchFamily="2" charset="-122"/>
              </a:rPr>
              <a:t>0</a:t>
            </a:r>
            <a:r>
              <a:rPr lang="zh-CN" altLang="en-US" dirty="0">
                <a:solidFill>
                  <a:srgbClr val="0000FF"/>
                </a:solidFill>
                <a:latin typeface="+mj-lt"/>
                <a:ea typeface="华文楷体" panose="02010600040101010101" pitchFamily="2" charset="-122"/>
              </a:rPr>
              <a:t>（查找书籍）：</a:t>
            </a:r>
            <a:endParaRPr lang="en-US" altLang="zh-CN" dirty="0">
              <a:solidFill>
                <a:srgbClr val="0000FF"/>
              </a:solidFill>
              <a:latin typeface="+mj-lt"/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dirty="0">
                <a:latin typeface="+mj-lt"/>
                <a:ea typeface="华文楷体" panose="02010600040101010101" pitchFamily="2" charset="-122"/>
              </a:rPr>
              <a:t>		</a:t>
            </a:r>
            <a:r>
              <a:rPr lang="zh-CN" altLang="en-US" dirty="0">
                <a:latin typeface="+mj-lt"/>
                <a:ea typeface="华文楷体" panose="02010600040101010101" pitchFamily="2" charset="-122"/>
              </a:rPr>
              <a:t>去书里面查找到答案为                   。</a:t>
            </a:r>
            <a:endParaRPr lang="en-US" altLang="zh-CN" dirty="0">
              <a:latin typeface="+mj-lt"/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dirty="0">
                <a:latin typeface="+mj-lt"/>
                <a:ea typeface="华文楷体" panose="02010600040101010101" pitchFamily="2" charset="-122"/>
              </a:rPr>
              <a:t>注：</a:t>
            </a:r>
            <a:r>
              <a:rPr lang="en-US" altLang="zh-CN" dirty="0">
                <a:latin typeface="+mj-lt"/>
                <a:ea typeface="华文楷体" panose="02010600040101010101" pitchFamily="2" charset="-122"/>
              </a:rPr>
              <a:t>(1) </a:t>
            </a:r>
            <a:r>
              <a:rPr lang="zh-CN" altLang="en-US" dirty="0">
                <a:latin typeface="+mj-lt"/>
                <a:ea typeface="华文楷体" panose="02010600040101010101" pitchFamily="2" charset="-122"/>
              </a:rPr>
              <a:t>知道去找什么书往往并不容易，需要积累；</a:t>
            </a:r>
            <a:r>
              <a:rPr lang="en-US" altLang="zh-CN" dirty="0">
                <a:latin typeface="+mj-lt"/>
                <a:ea typeface="华文楷体" panose="02010600040101010101" pitchFamily="2" charset="-122"/>
              </a:rPr>
              <a:t>(2) </a:t>
            </a:r>
            <a:r>
              <a:rPr lang="zh-CN" altLang="en-US" dirty="0">
                <a:latin typeface="+mj-lt"/>
                <a:ea typeface="华文楷体" panose="02010600040101010101" pitchFamily="2" charset="-122"/>
              </a:rPr>
              <a:t>计算机科学或者数学自身内部也有很多方向，而且基本上是“隔行如隔山”，我们很难成为全能选手，所以快速、准确地找到需要的工具和结论是非常重要的，也是研究和开发工作中的关键本领。</a:t>
            </a:r>
            <a:endParaRPr lang="zh-CN" altLang="en-US" dirty="0">
              <a:latin typeface="+mj-lt"/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solidFill>
                  <a:srgbClr val="0000FF"/>
                </a:solidFill>
                <a:latin typeface="+mj-lt"/>
                <a:ea typeface="华文楷体" panose="02010600040101010101" pitchFamily="2" charset="-122"/>
              </a:rPr>
              <a:t>方法</a:t>
            </a:r>
            <a:r>
              <a:rPr lang="en-US" altLang="zh-CN" dirty="0">
                <a:solidFill>
                  <a:srgbClr val="0000FF"/>
                </a:solidFill>
                <a:latin typeface="+mj-lt"/>
                <a:ea typeface="华文楷体" panose="02010600040101010101" pitchFamily="2" charset="-122"/>
              </a:rPr>
              <a:t>1</a:t>
            </a:r>
            <a:r>
              <a:rPr lang="zh-CN" altLang="en-US" dirty="0">
                <a:solidFill>
                  <a:srgbClr val="0000FF"/>
                </a:solidFill>
                <a:latin typeface="+mj-lt"/>
                <a:ea typeface="华文楷体" panose="02010600040101010101" pitchFamily="2" charset="-122"/>
              </a:rPr>
              <a:t>（猜测证明）：</a:t>
            </a:r>
            <a:endParaRPr lang="en-US" altLang="zh-CN" dirty="0">
              <a:solidFill>
                <a:srgbClr val="0000FF"/>
              </a:solidFill>
              <a:latin typeface="+mj-lt"/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dirty="0">
                <a:latin typeface="+mj-lt"/>
                <a:ea typeface="华文楷体" panose="02010600040101010101" pitchFamily="2" charset="-122"/>
              </a:rPr>
              <a:t>		Guess—Prove</a:t>
            </a:r>
            <a:r>
              <a:rPr lang="zh-CN" altLang="en-US" dirty="0">
                <a:latin typeface="+mj-lt"/>
                <a:ea typeface="华文楷体" panose="02010600040101010101" pitchFamily="2" charset="-122"/>
              </a:rPr>
              <a:t>。首先猜出                    再用数学归纳法证明。</a:t>
            </a:r>
            <a:endParaRPr lang="zh-CN" altLang="en-US" dirty="0">
              <a:latin typeface="+mj-lt"/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zh-CN" altLang="en-US" dirty="0">
              <a:latin typeface="+mj-lt"/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zh-CN" altLang="en-US" dirty="0">
              <a:latin typeface="+mj-lt"/>
              <a:ea typeface="华文楷体" panose="02010600040101010101" pitchFamily="2" charset="-122"/>
            </a:endParaRPr>
          </a:p>
        </p:txBody>
      </p:sp>
      <p:sp>
        <p:nvSpPr>
          <p:cNvPr id="17416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7417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741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410" name="Object 5"/>
              <p:cNvSpPr txBox="1"/>
              <p:nvPr/>
            </p:nvSpPr>
            <p:spPr bwMode="auto">
              <a:xfrm>
                <a:off x="5176838" y="1882775"/>
                <a:ext cx="1671637" cy="682625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7410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76838" y="1882775"/>
                <a:ext cx="1671637" cy="682625"/>
              </a:xfrm>
              <a:prstGeom prst="rect">
                <a:avLst/>
              </a:prstGeom>
              <a:blipFill rotWithShape="1">
                <a:blip r:embed="rId1"/>
                <a:stretch>
                  <a:fillRect l="-19" r="-13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411" name="Object 6"/>
              <p:cNvSpPr txBox="1"/>
              <p:nvPr/>
            </p:nvSpPr>
            <p:spPr bwMode="auto">
              <a:xfrm>
                <a:off x="5492750" y="4885084"/>
                <a:ext cx="1671638" cy="992188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7411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92750" y="4885084"/>
                <a:ext cx="1671638" cy="992188"/>
              </a:xfrm>
              <a:prstGeom prst="rect">
                <a:avLst/>
              </a:prstGeom>
              <a:blipFill rotWithShape="1">
                <a:blip r:embed="rId2"/>
                <a:stretch>
                  <a:fillRect t="-3" r="-1842" b="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6CA2204-2BE9-445C-9E48-59F1A71C894E}" type="datetime1">
              <a:rPr lang="zh-CN" altLang="en-US"/>
            </a:fld>
            <a:endParaRPr lang="en-US" altLang="zh-CN"/>
          </a:p>
        </p:txBody>
      </p:sp>
      <p:sp>
        <p:nvSpPr>
          <p:cNvPr id="11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1D1DB368-F2D1-49C3-A17A-93138E8827E2}" type="slidenum">
              <a:rPr lang="en-US" altLang="zh-CN">
                <a:solidFill>
                  <a:srgbClr val="898989"/>
                </a:solidFill>
              </a:rPr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266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华文楷体" panose="02010600040101010101" pitchFamily="2" charset="-122"/>
              </a:rPr>
              <a:t>方法</a:t>
            </a:r>
            <a:r>
              <a:rPr lang="en-US" altLang="zh-CN">
                <a:ea typeface="华文楷体" panose="02010600040101010101" pitchFamily="2" charset="-122"/>
              </a:rPr>
              <a:t>0~1</a:t>
            </a:r>
            <a:endParaRPr lang="zh-CN" altLang="en-US">
              <a:ea typeface="华文楷体" panose="02010600040101010101" pitchFamily="2" charset="-122"/>
            </a:endParaRPr>
          </a:p>
        </p:txBody>
      </p:sp>
      <p:sp>
        <p:nvSpPr>
          <p:cNvPr id="205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3600">
                <a:latin typeface="+mj-lt"/>
                <a:ea typeface="华文楷体" panose="02010600040101010101" pitchFamily="2" charset="-122"/>
              </a:rPr>
              <a:t>尽管方法</a:t>
            </a:r>
            <a:r>
              <a:rPr lang="en-US" altLang="zh-CN" sz="3600">
                <a:latin typeface="+mj-lt"/>
                <a:ea typeface="华文楷体" panose="02010600040101010101" pitchFamily="2" charset="-122"/>
              </a:rPr>
              <a:t>0</a:t>
            </a:r>
            <a:r>
              <a:rPr lang="zh-CN" altLang="en-US" sz="3600">
                <a:latin typeface="+mj-lt"/>
                <a:ea typeface="华文楷体" panose="02010600040101010101" pitchFamily="2" charset="-122"/>
              </a:rPr>
              <a:t>和方法</a:t>
            </a:r>
            <a:r>
              <a:rPr lang="en-US" altLang="zh-CN" sz="3600">
                <a:latin typeface="+mj-lt"/>
                <a:ea typeface="华文楷体" panose="02010600040101010101" pitchFamily="2" charset="-122"/>
              </a:rPr>
              <a:t>1</a:t>
            </a:r>
            <a:r>
              <a:rPr lang="zh-CN" altLang="en-US" sz="3600">
                <a:latin typeface="+mj-lt"/>
                <a:ea typeface="华文楷体" panose="02010600040101010101" pitchFamily="2" charset="-122"/>
              </a:rPr>
              <a:t>是常用的基本数学工具，但并不是</a:t>
            </a:r>
            <a:r>
              <a:rPr lang="en-US" altLang="zh-CN" sz="3600">
                <a:latin typeface="+mj-lt"/>
                <a:ea typeface="华文楷体" panose="02010600040101010101" pitchFamily="2" charset="-122"/>
              </a:rPr>
              <a:t>CM</a:t>
            </a:r>
            <a:r>
              <a:rPr lang="zh-CN" altLang="en-US" sz="3600">
                <a:latin typeface="+mj-lt"/>
                <a:ea typeface="华文楷体" panose="02010600040101010101" pitchFamily="2" charset="-122"/>
              </a:rPr>
              <a:t>的主旨和主推方法。</a:t>
            </a:r>
            <a:endParaRPr lang="en-US" altLang="zh-CN" sz="3600">
              <a:latin typeface="+mj-lt"/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sz="3600">
                <a:solidFill>
                  <a:srgbClr val="0000FF"/>
                </a:solidFill>
                <a:latin typeface="+mj-lt"/>
                <a:ea typeface="华文楷体" panose="02010600040101010101" pitchFamily="2" charset="-122"/>
              </a:rPr>
              <a:t>我们的目标是，在下面的条件下，计算出正确的结果：</a:t>
            </a:r>
            <a:endParaRPr lang="en-US" altLang="zh-CN" sz="3600">
              <a:solidFill>
                <a:srgbClr val="0000FF"/>
              </a:solidFill>
              <a:latin typeface="+mj-lt"/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altLang="zh-CN" sz="2800">
                <a:solidFill>
                  <a:srgbClr val="0000FF"/>
                </a:solidFill>
                <a:latin typeface="+mj-lt"/>
                <a:ea typeface="华文楷体" panose="02010600040101010101" pitchFamily="2" charset="-122"/>
              </a:rPr>
              <a:t>1</a:t>
            </a:r>
            <a:r>
              <a:rPr lang="zh-CN" altLang="en-US" sz="2800">
                <a:solidFill>
                  <a:srgbClr val="0000FF"/>
                </a:solidFill>
                <a:latin typeface="+mj-lt"/>
                <a:ea typeface="华文楷体" panose="02010600040101010101" pitchFamily="2" charset="-122"/>
              </a:rPr>
              <a:t>、没有现成结论或参考资料；</a:t>
            </a:r>
            <a:endParaRPr lang="en-US" altLang="zh-CN" sz="2800">
              <a:solidFill>
                <a:srgbClr val="0000FF"/>
              </a:solidFill>
              <a:latin typeface="+mj-lt"/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altLang="zh-CN" sz="2800">
                <a:solidFill>
                  <a:srgbClr val="0000FF"/>
                </a:solidFill>
                <a:latin typeface="+mj-lt"/>
                <a:ea typeface="华文楷体" panose="02010600040101010101" pitchFamily="2" charset="-122"/>
              </a:rPr>
              <a:t>2</a:t>
            </a:r>
            <a:r>
              <a:rPr lang="zh-CN" altLang="en-US" sz="2800">
                <a:solidFill>
                  <a:srgbClr val="0000FF"/>
                </a:solidFill>
                <a:latin typeface="+mj-lt"/>
                <a:ea typeface="华文楷体" panose="02010600040101010101" pitchFamily="2" charset="-122"/>
              </a:rPr>
              <a:t>、没有灵光一现地猜出结论。</a:t>
            </a:r>
            <a:endParaRPr lang="en-US" altLang="zh-CN" sz="2800">
              <a:solidFill>
                <a:srgbClr val="0000FF"/>
              </a:solidFill>
              <a:latin typeface="+mj-lt"/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sz="3600">
                <a:latin typeface="+mj-lt"/>
                <a:ea typeface="华文楷体" panose="02010600040101010101" pitchFamily="2" charset="-122"/>
              </a:rPr>
              <a:t>所以继续看后面的方法</a:t>
            </a:r>
            <a:r>
              <a:rPr lang="en-US" altLang="zh-CN" sz="3600">
                <a:latin typeface="+mj-lt"/>
                <a:ea typeface="华文楷体" panose="02010600040101010101" pitchFamily="2" charset="-122"/>
              </a:rPr>
              <a:t>&gt;&gt;&gt;&gt;&gt;&gt;&gt;&gt;&gt;&gt;&gt;&gt;&gt;</a:t>
            </a:r>
            <a:endParaRPr lang="zh-CN" altLang="en-US" sz="3600">
              <a:latin typeface="+mj-lt"/>
              <a:ea typeface="华文楷体" panose="02010600040101010101" pitchFamily="2" charset="-122"/>
            </a:endParaRPr>
          </a:p>
        </p:txBody>
      </p:sp>
      <p:sp>
        <p:nvSpPr>
          <p:cNvPr id="26630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663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6632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6CA2204-2BE9-445C-9E48-59F1A71C894E}" type="datetime1">
              <a:rPr lang="zh-CN" altLang="en-US"/>
            </a:fld>
            <a:endParaRPr lang="en-US" altLang="zh-CN"/>
          </a:p>
        </p:txBody>
      </p:sp>
      <p:sp>
        <p:nvSpPr>
          <p:cNvPr id="11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94F5EB7A-3C1D-4829-9716-0F20A9062529}" type="slidenum">
              <a:rPr lang="en-US" altLang="zh-CN">
                <a:solidFill>
                  <a:srgbClr val="898989"/>
                </a:solidFill>
              </a:rPr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华文楷体" panose="02010600040101010101" pitchFamily="2" charset="-122"/>
              </a:rPr>
              <a:t>方法</a:t>
            </a:r>
            <a:r>
              <a:rPr lang="en-US" altLang="zh-CN" dirty="0">
                <a:ea typeface="华文楷体" panose="02010600040101010101" pitchFamily="2" charset="-122"/>
              </a:rPr>
              <a:t>2</a:t>
            </a:r>
            <a:r>
              <a:rPr lang="zh-CN" altLang="en-US" dirty="0">
                <a:solidFill>
                  <a:srgbClr val="0000FF"/>
                </a:solidFill>
                <a:ea typeface="华文楷体" panose="02010600040101010101" pitchFamily="2" charset="-122"/>
              </a:rPr>
              <a:t>（扰动求和）</a:t>
            </a:r>
            <a:endParaRPr lang="zh-CN" altLang="en-US" dirty="0">
              <a:ea typeface="华文楷体" panose="02010600040101010101" pitchFamily="2" charset="-122"/>
            </a:endParaRPr>
          </a:p>
        </p:txBody>
      </p:sp>
      <p:sp>
        <p:nvSpPr>
          <p:cNvPr id="205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 fontScale="92500" lnSpcReduction="2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anose="02010600040101010101" pitchFamily="2" charset="-122"/>
              </a:rPr>
              <a:t>回顾扰动求和方法，要将</a:t>
            </a:r>
            <a:r>
              <a:rPr lang="zh-CN" altLang="en-US" dirty="0">
                <a:ea typeface="华文楷体" panose="02010600040101010101" pitchFamily="2" charset="-122"/>
              </a:rPr>
              <a:t>□</a:t>
            </a:r>
            <a:r>
              <a:rPr lang="en-US" altLang="zh-CN" i="1" baseline="-25000" dirty="0">
                <a:ea typeface="华文楷体" panose="02010600040101010101" pitchFamily="2" charset="-122"/>
              </a:rPr>
              <a:t>n </a:t>
            </a:r>
            <a:r>
              <a:rPr lang="en-US" altLang="zh-CN" baseline="-25000" dirty="0">
                <a:ea typeface="华文楷体" panose="02010600040101010101" pitchFamily="2" charset="-122"/>
              </a:rPr>
              <a:t>+ 1</a:t>
            </a:r>
            <a:r>
              <a:rPr lang="zh-CN" altLang="en-US" dirty="0">
                <a:latin typeface="+mj-lt"/>
                <a:ea typeface="华文楷体" panose="02010600040101010101" pitchFamily="2" charset="-122"/>
              </a:rPr>
              <a:t>表示成含有</a:t>
            </a:r>
            <a:r>
              <a:rPr lang="zh-CN" altLang="en-US" dirty="0">
                <a:ea typeface="华文楷体" panose="02010600040101010101" pitchFamily="2" charset="-122"/>
              </a:rPr>
              <a:t>□</a:t>
            </a:r>
            <a:r>
              <a:rPr lang="en-US" altLang="zh-CN" i="1" baseline="-25000" dirty="0">
                <a:ea typeface="华文楷体" panose="02010600040101010101" pitchFamily="2" charset="-122"/>
              </a:rPr>
              <a:t>n</a:t>
            </a:r>
            <a:r>
              <a:rPr lang="zh-CN" altLang="en-US" dirty="0">
                <a:latin typeface="+mj-lt"/>
                <a:ea typeface="华文楷体" panose="02010600040101010101" pitchFamily="2" charset="-122"/>
              </a:rPr>
              <a:t>的多个表达式，然后联立方程求解得到</a:t>
            </a:r>
            <a:r>
              <a:rPr lang="zh-CN" altLang="en-US" dirty="0">
                <a:ea typeface="华文楷体" panose="02010600040101010101" pitchFamily="2" charset="-122"/>
              </a:rPr>
              <a:t>□</a:t>
            </a:r>
            <a:r>
              <a:rPr lang="en-US" altLang="zh-CN" i="1" baseline="-25000" dirty="0">
                <a:ea typeface="华文楷体" panose="02010600040101010101" pitchFamily="2" charset="-122"/>
              </a:rPr>
              <a:t>n </a:t>
            </a:r>
            <a:r>
              <a:rPr lang="zh-CN" altLang="en-US" dirty="0">
                <a:latin typeface="+mj-lt"/>
                <a:ea typeface="华文楷体" panose="02010600040101010101" pitchFamily="2" charset="-122"/>
              </a:rPr>
              <a:t>。</a:t>
            </a:r>
            <a:endParaRPr lang="en-US" altLang="zh-CN" dirty="0">
              <a:latin typeface="+mj-lt"/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ea typeface="华文楷体" panose="02010600040101010101" pitchFamily="2" charset="-122"/>
              </a:rPr>
              <a:t> </a:t>
            </a:r>
            <a:endParaRPr lang="en-US" altLang="zh-CN" dirty="0"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ea typeface="华文楷体" panose="02010600040101010101" pitchFamily="2" charset="-122"/>
              </a:rPr>
              <a:t>先</a:t>
            </a:r>
            <a:r>
              <a:rPr lang="zh-CN" altLang="en-US" dirty="0">
                <a:latin typeface="+mj-lt"/>
                <a:ea typeface="华文楷体" panose="02010600040101010101" pitchFamily="2" charset="-122"/>
              </a:rPr>
              <a:t>抽出□</a:t>
            </a:r>
            <a:r>
              <a:rPr lang="en-US" altLang="zh-CN" i="1" baseline="-25000" dirty="0">
                <a:latin typeface="+mj-lt"/>
                <a:ea typeface="华文楷体" panose="02010600040101010101" pitchFamily="2" charset="-122"/>
              </a:rPr>
              <a:t>n </a:t>
            </a:r>
            <a:r>
              <a:rPr lang="en-US" altLang="zh-CN" baseline="-25000" dirty="0">
                <a:latin typeface="+mj-lt"/>
                <a:ea typeface="华文楷体" panose="02010600040101010101" pitchFamily="2" charset="-122"/>
              </a:rPr>
              <a:t>+ 1</a:t>
            </a:r>
            <a:r>
              <a:rPr lang="zh-CN" altLang="en-US" dirty="0">
                <a:latin typeface="+mj-lt"/>
                <a:ea typeface="华文楷体" panose="02010600040101010101" pitchFamily="2" charset="-122"/>
              </a:rPr>
              <a:t>的第一项，得到：</a:t>
            </a:r>
            <a:endParaRPr lang="en-US" altLang="zh-CN" dirty="0">
              <a:latin typeface="+mj-lt"/>
              <a:ea typeface="华文楷体" panose="02010600040101010101" pitchFamily="2" charset="-122"/>
            </a:endParaRPr>
          </a:p>
          <a:p>
            <a:pPr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dirty="0">
                <a:ea typeface="华文楷体" panose="02010600040101010101" pitchFamily="2" charset="-122"/>
              </a:rPr>
              <a:t>□</a:t>
            </a:r>
            <a:r>
              <a:rPr lang="en-US" altLang="zh-CN" i="1" baseline="-25000" dirty="0">
                <a:ea typeface="华文楷体" panose="02010600040101010101" pitchFamily="2" charset="-122"/>
              </a:rPr>
              <a:t>n </a:t>
            </a:r>
            <a:r>
              <a:rPr lang="en-US" altLang="zh-CN" baseline="-25000" dirty="0">
                <a:ea typeface="华文楷体" panose="02010600040101010101" pitchFamily="2" charset="-122"/>
              </a:rPr>
              <a:t>+ 1</a:t>
            </a:r>
            <a:r>
              <a:rPr lang="en-US" altLang="zh-CN" dirty="0">
                <a:latin typeface="+mj-lt"/>
                <a:ea typeface="华文楷体" panose="02010600040101010101" pitchFamily="2" charset="-122"/>
              </a:rPr>
              <a:t> = </a:t>
            </a:r>
            <a:r>
              <a:rPr lang="en-US" altLang="zh-CN" dirty="0">
                <a:ea typeface="华文楷体" panose="02010600040101010101" pitchFamily="2" charset="-122"/>
              </a:rPr>
              <a:t>1 + </a:t>
            </a:r>
            <a:r>
              <a:rPr lang="en-US" altLang="zh-CN" dirty="0">
                <a:solidFill>
                  <a:srgbClr val="0000FF"/>
                </a:solidFill>
                <a:ea typeface="华文楷体" panose="02010600040101010101" pitchFamily="2" charset="-122"/>
              </a:rPr>
              <a:t>(1 + 1)</a:t>
            </a:r>
            <a:r>
              <a:rPr lang="en-US" altLang="zh-CN" baseline="30000" dirty="0">
                <a:solidFill>
                  <a:srgbClr val="0000FF"/>
                </a:solidFill>
                <a:ea typeface="华文楷体" panose="02010600040101010101" pitchFamily="2" charset="-122"/>
              </a:rPr>
              <a:t>2</a:t>
            </a:r>
            <a:r>
              <a:rPr lang="en-US" altLang="zh-CN" dirty="0">
                <a:solidFill>
                  <a:srgbClr val="0000FF"/>
                </a:solidFill>
                <a:ea typeface="华文楷体" panose="02010600040101010101" pitchFamily="2" charset="-122"/>
              </a:rPr>
              <a:t> + … + (n + 1)</a:t>
            </a:r>
            <a:r>
              <a:rPr lang="en-US" altLang="zh-CN" baseline="30000" dirty="0">
                <a:solidFill>
                  <a:srgbClr val="0000FF"/>
                </a:solidFill>
                <a:ea typeface="华文楷体" panose="02010600040101010101" pitchFamily="2" charset="-122"/>
              </a:rPr>
              <a:t>2</a:t>
            </a:r>
            <a:endParaRPr lang="en-US" altLang="zh-CN" baseline="30000" dirty="0">
              <a:solidFill>
                <a:srgbClr val="0000FF"/>
              </a:solidFill>
              <a:ea typeface="华文楷体" panose="02010600040101010101" pitchFamily="2" charset="-122"/>
            </a:endParaRPr>
          </a:p>
          <a:p>
            <a:pPr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dirty="0">
                <a:ea typeface="华文楷体" panose="02010600040101010101" pitchFamily="2" charset="-122"/>
              </a:rPr>
              <a:t>= 1 + (1</a:t>
            </a:r>
            <a:r>
              <a:rPr lang="en-US" altLang="zh-CN" baseline="30000" dirty="0">
                <a:ea typeface="华文楷体" panose="02010600040101010101" pitchFamily="2" charset="-122"/>
              </a:rPr>
              <a:t>2</a:t>
            </a:r>
            <a:r>
              <a:rPr lang="en-US" altLang="zh-CN" dirty="0">
                <a:ea typeface="华文楷体" panose="02010600040101010101" pitchFamily="2" charset="-122"/>
              </a:rPr>
              <a:t> + … + n</a:t>
            </a:r>
            <a:r>
              <a:rPr lang="en-US" altLang="zh-CN" baseline="30000" dirty="0">
                <a:ea typeface="华文楷体" panose="02010600040101010101" pitchFamily="2" charset="-122"/>
              </a:rPr>
              <a:t>2</a:t>
            </a:r>
            <a:r>
              <a:rPr lang="en-US" altLang="zh-CN" dirty="0">
                <a:ea typeface="华文楷体" panose="02010600040101010101" pitchFamily="2" charset="-122"/>
              </a:rPr>
              <a:t>) + 2(1 + … + n) + n</a:t>
            </a:r>
            <a:endParaRPr lang="en-US" altLang="zh-CN" dirty="0">
              <a:ea typeface="华文楷体" panose="02010600040101010101" pitchFamily="2" charset="-122"/>
            </a:endParaRPr>
          </a:p>
          <a:p>
            <a:pPr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dirty="0">
                <a:ea typeface="华文楷体" panose="02010600040101010101" pitchFamily="2" charset="-122"/>
              </a:rPr>
              <a:t>= 1 + </a:t>
            </a:r>
            <a:r>
              <a:rPr lang="zh-CN" altLang="en-US" dirty="0">
                <a:ea typeface="华文楷体" panose="02010600040101010101" pitchFamily="2" charset="-122"/>
              </a:rPr>
              <a:t>□</a:t>
            </a:r>
            <a:r>
              <a:rPr lang="en-US" altLang="zh-CN" i="1" baseline="-25000" dirty="0">
                <a:ea typeface="华文楷体" panose="02010600040101010101" pitchFamily="2" charset="-122"/>
              </a:rPr>
              <a:t>n  </a:t>
            </a:r>
            <a:r>
              <a:rPr lang="en-US" altLang="zh-CN" dirty="0">
                <a:ea typeface="华文楷体" panose="02010600040101010101" pitchFamily="2" charset="-122"/>
              </a:rPr>
              <a:t>+ 2(1 + … + n) + n</a:t>
            </a:r>
            <a:endParaRPr lang="en-US" altLang="zh-CN" dirty="0"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anose="02010600040101010101" pitchFamily="2" charset="-122"/>
              </a:rPr>
              <a:t>再抽出</a:t>
            </a:r>
            <a:r>
              <a:rPr lang="zh-CN" altLang="en-US" dirty="0">
                <a:ea typeface="华文楷体" panose="02010600040101010101" pitchFamily="2" charset="-122"/>
              </a:rPr>
              <a:t>□</a:t>
            </a:r>
            <a:r>
              <a:rPr lang="en-US" altLang="zh-CN" i="1" baseline="-25000" dirty="0">
                <a:ea typeface="华文楷体" panose="02010600040101010101" pitchFamily="2" charset="-122"/>
              </a:rPr>
              <a:t>n </a:t>
            </a:r>
            <a:r>
              <a:rPr lang="en-US" altLang="zh-CN" baseline="-25000" dirty="0">
                <a:ea typeface="华文楷体" panose="02010600040101010101" pitchFamily="2" charset="-122"/>
              </a:rPr>
              <a:t>+ 1</a:t>
            </a:r>
            <a:r>
              <a:rPr lang="zh-CN" altLang="en-US" dirty="0">
                <a:latin typeface="+mj-lt"/>
                <a:ea typeface="华文楷体" panose="02010600040101010101" pitchFamily="2" charset="-122"/>
              </a:rPr>
              <a:t>的最末项，得到：</a:t>
            </a:r>
            <a:endParaRPr lang="en-US" altLang="zh-CN" dirty="0">
              <a:latin typeface="+mj-lt"/>
              <a:ea typeface="华文楷体" panose="02010600040101010101" pitchFamily="2" charset="-122"/>
            </a:endParaRPr>
          </a:p>
          <a:p>
            <a:pPr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dirty="0">
                <a:ea typeface="华文楷体" panose="02010600040101010101" pitchFamily="2" charset="-122"/>
              </a:rPr>
              <a:t>□</a:t>
            </a:r>
            <a:r>
              <a:rPr lang="en-US" altLang="zh-CN" i="1" baseline="-25000" dirty="0">
                <a:ea typeface="华文楷体" panose="02010600040101010101" pitchFamily="2" charset="-122"/>
              </a:rPr>
              <a:t>n </a:t>
            </a:r>
            <a:r>
              <a:rPr lang="en-US" altLang="zh-CN" baseline="-25000" dirty="0">
                <a:ea typeface="华文楷体" panose="02010600040101010101" pitchFamily="2" charset="-122"/>
              </a:rPr>
              <a:t>+ 1</a:t>
            </a:r>
            <a:r>
              <a:rPr lang="en-US" altLang="zh-CN" dirty="0">
                <a:ea typeface="华文楷体" panose="02010600040101010101" pitchFamily="2" charset="-122"/>
              </a:rPr>
              <a:t> = </a:t>
            </a:r>
            <a:r>
              <a:rPr lang="zh-CN" altLang="en-US" dirty="0">
                <a:ea typeface="华文楷体" panose="02010600040101010101" pitchFamily="2" charset="-122"/>
              </a:rPr>
              <a:t>□</a:t>
            </a:r>
            <a:r>
              <a:rPr lang="en-US" altLang="zh-CN" i="1" baseline="-25000" dirty="0">
                <a:ea typeface="华文楷体" panose="02010600040101010101" pitchFamily="2" charset="-122"/>
              </a:rPr>
              <a:t>n  </a:t>
            </a:r>
            <a:r>
              <a:rPr lang="en-US" altLang="zh-CN" dirty="0">
                <a:ea typeface="华文楷体" panose="02010600040101010101" pitchFamily="2" charset="-122"/>
              </a:rPr>
              <a:t>+ (n + 1)</a:t>
            </a:r>
            <a:r>
              <a:rPr lang="en-US" altLang="zh-CN" baseline="30000" dirty="0">
                <a:ea typeface="华文楷体" panose="02010600040101010101" pitchFamily="2" charset="-122"/>
              </a:rPr>
              <a:t>2</a:t>
            </a:r>
            <a:endParaRPr lang="en-US" altLang="zh-CN" baseline="30000" dirty="0"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anose="02010600040101010101" pitchFamily="2" charset="-122"/>
              </a:rPr>
              <a:t> 联立两个方程</a:t>
            </a:r>
            <a:r>
              <a:rPr lang="en-US" altLang="zh-CN" dirty="0">
                <a:latin typeface="+mj-lt"/>
                <a:ea typeface="华文楷体" panose="02010600040101010101" pitchFamily="2" charset="-122"/>
              </a:rPr>
              <a:t>……???!!!......</a:t>
            </a:r>
            <a:r>
              <a:rPr lang="zh-CN" altLang="en-US" dirty="0">
                <a:solidFill>
                  <a:srgbClr val="FF0000"/>
                </a:solidFill>
                <a:ea typeface="华文楷体" panose="02010600040101010101" pitchFamily="2" charset="-122"/>
              </a:rPr>
              <a:t>□</a:t>
            </a:r>
            <a:r>
              <a:rPr lang="en-US" altLang="zh-CN" i="1" baseline="-25000" dirty="0">
                <a:solidFill>
                  <a:srgbClr val="FF0000"/>
                </a:solidFill>
                <a:ea typeface="华文楷体" panose="02010600040101010101" pitchFamily="2" charset="-122"/>
              </a:rPr>
              <a:t>n</a:t>
            </a:r>
            <a:r>
              <a:rPr lang="zh-CN" altLang="en-US" dirty="0">
                <a:solidFill>
                  <a:srgbClr val="FF0000"/>
                </a:solidFill>
                <a:latin typeface="+mj-lt"/>
                <a:ea typeface="华文楷体" panose="02010600040101010101" pitchFamily="2" charset="-122"/>
              </a:rPr>
              <a:t>消失了！</a:t>
            </a:r>
            <a:r>
              <a:rPr lang="en-US" altLang="zh-CN" dirty="0">
                <a:latin typeface="+mj-lt"/>
                <a:ea typeface="华文楷体" panose="02010600040101010101" pitchFamily="2" charset="-122"/>
              </a:rPr>
              <a:t> </a:t>
            </a:r>
            <a:endParaRPr lang="zh-CN" altLang="en-US" dirty="0">
              <a:latin typeface="+mj-lt"/>
              <a:ea typeface="华文楷体" panose="02010600040101010101" pitchFamily="2" charset="-122"/>
            </a:endParaRPr>
          </a:p>
        </p:txBody>
      </p:sp>
      <p:sp>
        <p:nvSpPr>
          <p:cNvPr id="27654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7655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7656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6CA2204-2BE9-445C-9E48-59F1A71C894E}" type="datetime1">
              <a:rPr lang="zh-CN" altLang="en-US"/>
            </a:fld>
            <a:endParaRPr lang="en-US" altLang="zh-CN"/>
          </a:p>
        </p:txBody>
      </p:sp>
      <p:sp>
        <p:nvSpPr>
          <p:cNvPr id="11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EDB22E88-BCBE-4050-B06F-1F737885D8F1}" type="slidenum">
              <a:rPr lang="en-US" altLang="zh-CN">
                <a:solidFill>
                  <a:srgbClr val="898989"/>
                </a:solidFill>
              </a:rPr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286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华文楷体" panose="02010600040101010101" pitchFamily="2" charset="-122"/>
              </a:rPr>
              <a:t>方法</a:t>
            </a:r>
            <a:r>
              <a:rPr lang="en-US" altLang="zh-CN" dirty="0">
                <a:ea typeface="华文楷体" panose="02010600040101010101" pitchFamily="2" charset="-122"/>
              </a:rPr>
              <a:t>2</a:t>
            </a:r>
            <a:r>
              <a:rPr lang="zh-CN" altLang="en-US" dirty="0">
                <a:solidFill>
                  <a:srgbClr val="0000FF"/>
                </a:solidFill>
                <a:ea typeface="华文楷体" panose="02010600040101010101" pitchFamily="2" charset="-122"/>
              </a:rPr>
              <a:t> （扰动求和）</a:t>
            </a:r>
            <a:endParaRPr lang="zh-CN" altLang="en-US" dirty="0">
              <a:ea typeface="华文楷体" panose="02010600040101010101" pitchFamily="2" charset="-122"/>
            </a:endParaRPr>
          </a:p>
        </p:txBody>
      </p:sp>
      <p:sp>
        <p:nvSpPr>
          <p:cNvPr id="205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anose="02010600040101010101" pitchFamily="2" charset="-122"/>
              </a:rPr>
              <a:t>但是前面的扰动法并非一无所获，尽管方程联立后平方和项消失了，但是容易得到</a:t>
            </a:r>
            <a:endParaRPr lang="en-US" altLang="zh-CN" dirty="0">
              <a:latin typeface="+mj-lt"/>
              <a:ea typeface="华文楷体" panose="02010600040101010101" pitchFamily="2" charset="-122"/>
            </a:endParaRPr>
          </a:p>
          <a:p>
            <a:pPr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dirty="0">
                <a:latin typeface="+mj-lt"/>
                <a:ea typeface="华文楷体" panose="02010600040101010101" pitchFamily="2" charset="-122"/>
              </a:rPr>
              <a:t>2(1 + 2 + … + n) = (n + 1)</a:t>
            </a:r>
            <a:r>
              <a:rPr lang="en-US" altLang="zh-CN" baseline="30000" dirty="0">
                <a:latin typeface="+mj-lt"/>
                <a:ea typeface="华文楷体" panose="02010600040101010101" pitchFamily="2" charset="-122"/>
              </a:rPr>
              <a:t>2</a:t>
            </a:r>
            <a:r>
              <a:rPr lang="en-US" altLang="zh-CN" dirty="0">
                <a:latin typeface="+mj-lt"/>
                <a:ea typeface="华文楷体" panose="02010600040101010101" pitchFamily="2" charset="-122"/>
              </a:rPr>
              <a:t> – n – 1</a:t>
            </a:r>
            <a:endParaRPr lang="en-US" altLang="zh-CN" dirty="0">
              <a:latin typeface="+mj-lt"/>
              <a:ea typeface="华文楷体" panose="02010600040101010101" pitchFamily="2" charset="-122"/>
            </a:endParaRPr>
          </a:p>
          <a:p>
            <a:pPr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dirty="0">
              <a:latin typeface="+mj-lt"/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anose="02010600040101010101" pitchFamily="2" charset="-122"/>
              </a:rPr>
              <a:t>换言之，通过对平方求和的扰动，意外地得到了整数求和的封闭解（出现了次数的降低！）。那么要求平方和的封闭解，是否需要对立方求和进行扰动呢？</a:t>
            </a:r>
            <a:endParaRPr lang="zh-CN" altLang="en-US" dirty="0">
              <a:latin typeface="+mj-lt"/>
              <a:ea typeface="华文楷体" panose="02010600040101010101" pitchFamily="2" charset="-122"/>
            </a:endParaRPr>
          </a:p>
        </p:txBody>
      </p:sp>
      <p:sp>
        <p:nvSpPr>
          <p:cNvPr id="28678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867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8680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6CA2204-2BE9-445C-9E48-59F1A71C894E}" type="datetime1">
              <a:rPr lang="zh-CN" altLang="en-US"/>
            </a:fld>
            <a:endParaRPr lang="en-US" altLang="zh-CN"/>
          </a:p>
        </p:txBody>
      </p:sp>
      <p:sp>
        <p:nvSpPr>
          <p:cNvPr id="11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4F782D7D-B9BB-402D-B6EC-7655D158EFD4}" type="slidenum">
              <a:rPr lang="en-US" altLang="zh-CN">
                <a:solidFill>
                  <a:srgbClr val="898989"/>
                </a:solidFill>
              </a:rPr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94703"/>
            <a:ext cx="8229600" cy="1143000"/>
          </a:xfrm>
        </p:spPr>
        <p:txBody>
          <a:bodyPr/>
          <a:lstStyle/>
          <a:p>
            <a:r>
              <a:rPr lang="zh-CN" altLang="en-US" dirty="0">
                <a:ea typeface="华文楷体" panose="02010600040101010101" pitchFamily="2" charset="-122"/>
              </a:rPr>
              <a:t>方法</a:t>
            </a:r>
            <a:r>
              <a:rPr lang="en-US" altLang="zh-CN" dirty="0">
                <a:ea typeface="华文楷体" panose="02010600040101010101" pitchFamily="2" charset="-122"/>
              </a:rPr>
              <a:t>2</a:t>
            </a:r>
            <a:r>
              <a:rPr lang="zh-CN" altLang="en-US" dirty="0">
                <a:solidFill>
                  <a:srgbClr val="0000FF"/>
                </a:solidFill>
                <a:ea typeface="华文楷体" panose="02010600040101010101" pitchFamily="2" charset="-122"/>
              </a:rPr>
              <a:t>（扰动求和）</a:t>
            </a:r>
            <a:endParaRPr lang="zh-CN" altLang="en-US" dirty="0">
              <a:ea typeface="华文楷体" panose="02010600040101010101" pitchFamily="2" charset="-122"/>
            </a:endParaRPr>
          </a:p>
        </p:txBody>
      </p:sp>
      <p:sp>
        <p:nvSpPr>
          <p:cNvPr id="205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229600" cy="5111750"/>
          </a:xfrm>
        </p:spPr>
        <p:txBody>
          <a:bodyPr rtlCol="0">
            <a:normAutofit fontScale="85000" lnSpcReduction="1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CN" dirty="0">
                <a:latin typeface="+mj-lt"/>
                <a:ea typeface="华文楷体" panose="02010600040101010101" pitchFamily="2" charset="-122"/>
              </a:rPr>
              <a:t>OK</a:t>
            </a:r>
            <a:r>
              <a:rPr lang="zh-CN" altLang="en-US" dirty="0">
                <a:latin typeface="+mj-lt"/>
                <a:ea typeface="华文楷体" panose="02010600040101010101" pitchFamily="2" charset="-122"/>
              </a:rPr>
              <a:t>，抽出前</a:t>
            </a:r>
            <a:r>
              <a:rPr lang="en-US" altLang="zh-CN" dirty="0">
                <a:latin typeface="+mj-lt"/>
                <a:ea typeface="华文楷体" panose="02010600040101010101" pitchFamily="2" charset="-122"/>
              </a:rPr>
              <a:t>n + 1</a:t>
            </a:r>
            <a:r>
              <a:rPr lang="zh-CN" altLang="en-US" dirty="0">
                <a:latin typeface="+mj-lt"/>
                <a:ea typeface="华文楷体" panose="02010600040101010101" pitchFamily="2" charset="-122"/>
              </a:rPr>
              <a:t>个正整数立方求和</a:t>
            </a:r>
            <a:r>
              <a:rPr lang="en-US" altLang="zh-CN" dirty="0">
                <a:latin typeface="+mj-lt"/>
                <a:ea typeface="华文楷体" panose="02010600040101010101" pitchFamily="2" charset="-122"/>
              </a:rPr>
              <a:t>C</a:t>
            </a:r>
            <a:r>
              <a:rPr lang="en-US" altLang="zh-CN" baseline="-25000" dirty="0">
                <a:latin typeface="+mj-lt"/>
                <a:ea typeface="华文楷体" panose="02010600040101010101" pitchFamily="2" charset="-122"/>
              </a:rPr>
              <a:t>n+1</a:t>
            </a:r>
            <a:r>
              <a:rPr lang="zh-CN" altLang="en-US" dirty="0">
                <a:latin typeface="+mj-lt"/>
                <a:ea typeface="华文楷体" panose="02010600040101010101" pitchFamily="2" charset="-122"/>
              </a:rPr>
              <a:t>的第</a:t>
            </a:r>
            <a:r>
              <a:rPr lang="en-US" altLang="zh-CN" dirty="0">
                <a:latin typeface="+mj-lt"/>
                <a:ea typeface="华文楷体" panose="02010600040101010101" pitchFamily="2" charset="-122"/>
              </a:rPr>
              <a:t>1</a:t>
            </a:r>
            <a:r>
              <a:rPr lang="zh-CN" altLang="en-US" dirty="0">
                <a:latin typeface="+mj-lt"/>
                <a:ea typeface="华文楷体" panose="02010600040101010101" pitchFamily="2" charset="-122"/>
              </a:rPr>
              <a:t>项：</a:t>
            </a:r>
            <a:endParaRPr lang="en-US" altLang="zh-CN" dirty="0">
              <a:latin typeface="+mj-lt"/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dirty="0">
                <a:ea typeface="华文楷体" panose="02010600040101010101" pitchFamily="2" charset="-122"/>
              </a:rPr>
              <a:t>	C</a:t>
            </a:r>
            <a:r>
              <a:rPr lang="en-US" altLang="zh-CN" baseline="-25000" dirty="0">
                <a:ea typeface="华文楷体" panose="02010600040101010101" pitchFamily="2" charset="-122"/>
              </a:rPr>
              <a:t>n+1  </a:t>
            </a:r>
            <a:r>
              <a:rPr lang="en-US" altLang="zh-CN" dirty="0">
                <a:latin typeface="+mj-lt"/>
                <a:ea typeface="华文楷体" panose="02010600040101010101" pitchFamily="2" charset="-122"/>
              </a:rPr>
              <a:t>= 1</a:t>
            </a:r>
            <a:r>
              <a:rPr lang="en-US" altLang="zh-CN" baseline="30000" dirty="0">
                <a:latin typeface="+mj-lt"/>
                <a:ea typeface="华文楷体" panose="02010600040101010101" pitchFamily="2" charset="-122"/>
              </a:rPr>
              <a:t>3</a:t>
            </a:r>
            <a:r>
              <a:rPr lang="en-US" altLang="zh-CN" dirty="0">
                <a:latin typeface="+mj-lt"/>
                <a:ea typeface="华文楷体" panose="02010600040101010101" pitchFamily="2" charset="-122"/>
              </a:rPr>
              <a:t> + 2</a:t>
            </a:r>
            <a:r>
              <a:rPr lang="en-US" altLang="zh-CN" baseline="30000" dirty="0">
                <a:latin typeface="+mj-lt"/>
                <a:ea typeface="华文楷体" panose="02010600040101010101" pitchFamily="2" charset="-122"/>
              </a:rPr>
              <a:t>3</a:t>
            </a:r>
            <a:r>
              <a:rPr lang="en-US" altLang="zh-CN" dirty="0">
                <a:latin typeface="+mj-lt"/>
                <a:ea typeface="华文楷体" panose="02010600040101010101" pitchFamily="2" charset="-122"/>
              </a:rPr>
              <a:t> + … + (n + 1)</a:t>
            </a:r>
            <a:r>
              <a:rPr lang="en-US" altLang="zh-CN" baseline="30000" dirty="0">
                <a:latin typeface="+mj-lt"/>
                <a:ea typeface="华文楷体" panose="02010600040101010101" pitchFamily="2" charset="-122"/>
              </a:rPr>
              <a:t>3</a:t>
            </a:r>
            <a:r>
              <a:rPr lang="en-US" altLang="zh-CN" dirty="0">
                <a:latin typeface="+mj-lt"/>
                <a:ea typeface="华文楷体" panose="02010600040101010101" pitchFamily="2" charset="-122"/>
              </a:rPr>
              <a:t> </a:t>
            </a:r>
            <a:endParaRPr lang="en-US" altLang="zh-CN" dirty="0">
              <a:latin typeface="+mj-lt"/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dirty="0">
                <a:latin typeface="+mj-lt"/>
                <a:ea typeface="华文楷体" panose="02010600040101010101" pitchFamily="2" charset="-122"/>
              </a:rPr>
              <a:t>	         = 1 + </a:t>
            </a:r>
            <a:r>
              <a:rPr lang="en-US" altLang="zh-CN" dirty="0">
                <a:solidFill>
                  <a:srgbClr val="0000FF"/>
                </a:solidFill>
                <a:latin typeface="+mj-lt"/>
                <a:ea typeface="华文楷体" panose="02010600040101010101" pitchFamily="2" charset="-122"/>
              </a:rPr>
              <a:t>(1 + 1)</a:t>
            </a:r>
            <a:r>
              <a:rPr lang="en-US" altLang="zh-CN" baseline="30000" dirty="0">
                <a:solidFill>
                  <a:srgbClr val="0000FF"/>
                </a:solidFill>
                <a:latin typeface="+mj-lt"/>
                <a:ea typeface="华文楷体" panose="02010600040101010101" pitchFamily="2" charset="-122"/>
              </a:rPr>
              <a:t>3</a:t>
            </a:r>
            <a:r>
              <a:rPr lang="en-US" altLang="zh-CN" dirty="0">
                <a:solidFill>
                  <a:srgbClr val="0000FF"/>
                </a:solidFill>
                <a:latin typeface="+mj-lt"/>
                <a:ea typeface="华文楷体" panose="02010600040101010101" pitchFamily="2" charset="-122"/>
              </a:rPr>
              <a:t> + … + (n + 1)</a:t>
            </a:r>
            <a:r>
              <a:rPr lang="en-US" altLang="zh-CN" baseline="30000" dirty="0">
                <a:solidFill>
                  <a:srgbClr val="0000FF"/>
                </a:solidFill>
                <a:latin typeface="+mj-lt"/>
                <a:ea typeface="华文楷体" panose="02010600040101010101" pitchFamily="2" charset="-122"/>
              </a:rPr>
              <a:t>3</a:t>
            </a:r>
            <a:endParaRPr lang="en-US" altLang="zh-CN" baseline="30000" dirty="0">
              <a:solidFill>
                <a:srgbClr val="0000FF"/>
              </a:solidFill>
              <a:latin typeface="+mj-lt"/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dirty="0">
                <a:latin typeface="+mj-lt"/>
                <a:ea typeface="华文楷体" panose="02010600040101010101" pitchFamily="2" charset="-122"/>
              </a:rPr>
              <a:t>	         = 1 + (1</a:t>
            </a:r>
            <a:r>
              <a:rPr lang="en-US" altLang="zh-CN" baseline="30000" dirty="0">
                <a:latin typeface="+mj-lt"/>
                <a:ea typeface="华文楷体" panose="02010600040101010101" pitchFamily="2" charset="-122"/>
              </a:rPr>
              <a:t>3</a:t>
            </a:r>
            <a:r>
              <a:rPr lang="en-US" altLang="zh-CN" dirty="0">
                <a:latin typeface="+mj-lt"/>
                <a:ea typeface="华文楷体" panose="02010600040101010101" pitchFamily="2" charset="-122"/>
              </a:rPr>
              <a:t> + 3·1</a:t>
            </a:r>
            <a:r>
              <a:rPr lang="en-US" altLang="zh-CN" baseline="30000" dirty="0">
                <a:latin typeface="+mj-lt"/>
                <a:ea typeface="华文楷体" panose="02010600040101010101" pitchFamily="2" charset="-122"/>
              </a:rPr>
              <a:t>2</a:t>
            </a:r>
            <a:r>
              <a:rPr lang="en-US" altLang="zh-CN" dirty="0">
                <a:latin typeface="+mj-lt"/>
                <a:ea typeface="华文楷体" panose="02010600040101010101" pitchFamily="2" charset="-122"/>
              </a:rPr>
              <a:t> + 3</a:t>
            </a:r>
            <a:r>
              <a:rPr lang="en-US" altLang="zh-CN" dirty="0">
                <a:ea typeface="华文楷体" panose="02010600040101010101" pitchFamily="2" charset="-122"/>
              </a:rPr>
              <a:t>·1</a:t>
            </a:r>
            <a:r>
              <a:rPr lang="en-US" altLang="zh-CN" baseline="30000" dirty="0">
                <a:ea typeface="华文楷体" panose="02010600040101010101" pitchFamily="2" charset="-122"/>
              </a:rPr>
              <a:t>1</a:t>
            </a:r>
            <a:r>
              <a:rPr lang="en-US" altLang="zh-CN" dirty="0">
                <a:latin typeface="+mj-lt"/>
                <a:ea typeface="华文楷体" panose="02010600040101010101" pitchFamily="2" charset="-122"/>
              </a:rPr>
              <a:t> + 1) + … + [n</a:t>
            </a:r>
            <a:r>
              <a:rPr lang="en-US" altLang="zh-CN" baseline="30000" dirty="0">
                <a:latin typeface="+mj-lt"/>
                <a:ea typeface="华文楷体" panose="02010600040101010101" pitchFamily="2" charset="-122"/>
              </a:rPr>
              <a:t>3</a:t>
            </a:r>
            <a:r>
              <a:rPr lang="en-US" altLang="zh-CN" dirty="0">
                <a:latin typeface="+mj-lt"/>
                <a:ea typeface="华文楷体" panose="02010600040101010101" pitchFamily="2" charset="-122"/>
              </a:rPr>
              <a:t> + 3n</a:t>
            </a:r>
            <a:r>
              <a:rPr lang="en-US" altLang="zh-CN" baseline="30000" dirty="0">
                <a:latin typeface="+mj-lt"/>
                <a:ea typeface="华文楷体" panose="02010600040101010101" pitchFamily="2" charset="-122"/>
              </a:rPr>
              <a:t>2</a:t>
            </a:r>
            <a:r>
              <a:rPr lang="en-US" altLang="zh-CN" dirty="0">
                <a:latin typeface="+mj-lt"/>
                <a:ea typeface="华文楷体" panose="02010600040101010101" pitchFamily="2" charset="-122"/>
              </a:rPr>
              <a:t> + 3n + 1]</a:t>
            </a:r>
            <a:endParaRPr lang="en-US" altLang="zh-CN" dirty="0">
              <a:latin typeface="+mj-lt"/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dirty="0">
                <a:latin typeface="+mj-lt"/>
                <a:ea typeface="华文楷体" panose="02010600040101010101" pitchFamily="2" charset="-122"/>
              </a:rPr>
              <a:t>	         = 1 + </a:t>
            </a:r>
            <a:r>
              <a:rPr lang="en-US" altLang="zh-CN" dirty="0">
                <a:solidFill>
                  <a:srgbClr val="0000FF"/>
                </a:solidFill>
                <a:latin typeface="+mj-lt"/>
                <a:ea typeface="华文楷体" panose="02010600040101010101" pitchFamily="2" charset="-122"/>
              </a:rPr>
              <a:t>(1</a:t>
            </a:r>
            <a:r>
              <a:rPr lang="en-US" altLang="zh-CN" baseline="30000" dirty="0">
                <a:solidFill>
                  <a:srgbClr val="0000FF"/>
                </a:solidFill>
                <a:latin typeface="+mj-lt"/>
                <a:ea typeface="华文楷体" panose="02010600040101010101" pitchFamily="2" charset="-122"/>
              </a:rPr>
              <a:t>3</a:t>
            </a:r>
            <a:r>
              <a:rPr lang="en-US" altLang="zh-CN" dirty="0">
                <a:solidFill>
                  <a:srgbClr val="0000FF"/>
                </a:solidFill>
                <a:latin typeface="+mj-lt"/>
                <a:ea typeface="华文楷体" panose="02010600040101010101" pitchFamily="2" charset="-122"/>
              </a:rPr>
              <a:t> + … + n</a:t>
            </a:r>
            <a:r>
              <a:rPr lang="en-US" altLang="zh-CN" baseline="30000" dirty="0">
                <a:solidFill>
                  <a:srgbClr val="0000FF"/>
                </a:solidFill>
                <a:latin typeface="+mj-lt"/>
                <a:ea typeface="华文楷体" panose="02010600040101010101" pitchFamily="2" charset="-122"/>
              </a:rPr>
              <a:t>3</a:t>
            </a:r>
            <a:r>
              <a:rPr lang="en-US" altLang="zh-CN" dirty="0">
                <a:solidFill>
                  <a:srgbClr val="0000FF"/>
                </a:solidFill>
                <a:latin typeface="+mj-lt"/>
                <a:ea typeface="华文楷体" panose="02010600040101010101" pitchFamily="2" charset="-122"/>
              </a:rPr>
              <a:t>)</a:t>
            </a:r>
            <a:r>
              <a:rPr lang="en-US" altLang="zh-CN" dirty="0">
                <a:latin typeface="+mj-lt"/>
                <a:ea typeface="华文楷体" panose="02010600040101010101" pitchFamily="2" charset="-122"/>
              </a:rPr>
              <a:t> + 3</a:t>
            </a:r>
            <a:r>
              <a:rPr lang="en-US" altLang="zh-CN" dirty="0">
                <a:solidFill>
                  <a:srgbClr val="FF0000"/>
                </a:solidFill>
                <a:latin typeface="+mj-lt"/>
                <a:ea typeface="华文楷体" panose="02010600040101010101" pitchFamily="2" charset="-122"/>
              </a:rPr>
              <a:t>(1</a:t>
            </a:r>
            <a:r>
              <a:rPr lang="en-US" altLang="zh-CN" baseline="30000" dirty="0">
                <a:solidFill>
                  <a:srgbClr val="FF0000"/>
                </a:solidFill>
                <a:latin typeface="+mj-lt"/>
                <a:ea typeface="华文楷体" panose="02010600040101010101" pitchFamily="2" charset="-122"/>
              </a:rPr>
              <a:t>2</a:t>
            </a:r>
            <a:r>
              <a:rPr lang="en-US" altLang="zh-CN" dirty="0">
                <a:solidFill>
                  <a:srgbClr val="FF0000"/>
                </a:solidFill>
                <a:latin typeface="+mj-lt"/>
                <a:ea typeface="华文楷体" panose="02010600040101010101" pitchFamily="2" charset="-122"/>
              </a:rPr>
              <a:t> + … + n</a:t>
            </a:r>
            <a:r>
              <a:rPr lang="en-US" altLang="zh-CN" baseline="30000" dirty="0">
                <a:solidFill>
                  <a:srgbClr val="FF0000"/>
                </a:solidFill>
                <a:latin typeface="+mj-lt"/>
                <a:ea typeface="华文楷体" panose="02010600040101010101" pitchFamily="2" charset="-122"/>
              </a:rPr>
              <a:t>2</a:t>
            </a:r>
            <a:r>
              <a:rPr lang="en-US" altLang="zh-CN" dirty="0">
                <a:solidFill>
                  <a:srgbClr val="FF0000"/>
                </a:solidFill>
                <a:latin typeface="+mj-lt"/>
                <a:ea typeface="华文楷体" panose="02010600040101010101" pitchFamily="2" charset="-122"/>
              </a:rPr>
              <a:t>) </a:t>
            </a:r>
            <a:r>
              <a:rPr lang="en-US" altLang="zh-CN" dirty="0">
                <a:latin typeface="+mj-lt"/>
                <a:ea typeface="华文楷体" panose="02010600040101010101" pitchFamily="2" charset="-122"/>
              </a:rPr>
              <a:t>+ 3</a:t>
            </a:r>
            <a:r>
              <a:rPr lang="en-US" altLang="zh-CN" dirty="0">
                <a:solidFill>
                  <a:srgbClr val="00B050"/>
                </a:solidFill>
                <a:latin typeface="+mj-lt"/>
                <a:ea typeface="华文楷体" panose="02010600040101010101" pitchFamily="2" charset="-122"/>
              </a:rPr>
              <a:t>(1 + …+ n) </a:t>
            </a:r>
            <a:r>
              <a:rPr lang="en-US" altLang="zh-CN" dirty="0">
                <a:latin typeface="+mj-lt"/>
                <a:ea typeface="华文楷体" panose="02010600040101010101" pitchFamily="2" charset="-122"/>
              </a:rPr>
              <a:t>+ n 	  = 1 + C</a:t>
            </a:r>
            <a:r>
              <a:rPr lang="en-US" altLang="zh-CN" baseline="-25000" dirty="0">
                <a:latin typeface="+mj-lt"/>
                <a:ea typeface="华文楷体" panose="02010600040101010101" pitchFamily="2" charset="-122"/>
              </a:rPr>
              <a:t>n</a:t>
            </a:r>
            <a:r>
              <a:rPr lang="en-US" altLang="zh-CN" dirty="0">
                <a:latin typeface="+mj-lt"/>
                <a:ea typeface="华文楷体" panose="02010600040101010101" pitchFamily="2" charset="-122"/>
              </a:rPr>
              <a:t> + 3</a:t>
            </a:r>
            <a:r>
              <a:rPr lang="zh-CN" altLang="en-US" dirty="0">
                <a:ea typeface="华文楷体" panose="02010600040101010101" pitchFamily="2" charset="-122"/>
              </a:rPr>
              <a:t>□</a:t>
            </a:r>
            <a:r>
              <a:rPr lang="en-US" altLang="zh-CN" i="1" baseline="-25000" dirty="0">
                <a:ea typeface="华文楷体" panose="02010600040101010101" pitchFamily="2" charset="-122"/>
              </a:rPr>
              <a:t>n  </a:t>
            </a:r>
            <a:r>
              <a:rPr lang="en-US" altLang="zh-CN" dirty="0">
                <a:latin typeface="+mj-lt"/>
                <a:ea typeface="华文楷体" panose="02010600040101010101" pitchFamily="2" charset="-122"/>
              </a:rPr>
              <a:t>+ 3(1 + … + n) + n</a:t>
            </a:r>
            <a:endParaRPr lang="en-US" altLang="zh-CN" dirty="0">
              <a:latin typeface="+mj-lt"/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anose="02010600040101010101" pitchFamily="2" charset="-122"/>
              </a:rPr>
              <a:t>然后，抽出前</a:t>
            </a:r>
            <a:r>
              <a:rPr lang="en-US" altLang="zh-CN" dirty="0">
                <a:latin typeface="+mj-lt"/>
                <a:ea typeface="华文楷体" panose="02010600040101010101" pitchFamily="2" charset="-122"/>
              </a:rPr>
              <a:t>n+1</a:t>
            </a:r>
            <a:r>
              <a:rPr lang="zh-CN" altLang="en-US" dirty="0">
                <a:latin typeface="+mj-lt"/>
                <a:ea typeface="华文楷体" panose="02010600040101010101" pitchFamily="2" charset="-122"/>
              </a:rPr>
              <a:t>个正整数立方求和</a:t>
            </a:r>
            <a:r>
              <a:rPr lang="en-US" altLang="zh-CN" dirty="0">
                <a:ea typeface="华文楷体" panose="02010600040101010101" pitchFamily="2" charset="-122"/>
              </a:rPr>
              <a:t>C</a:t>
            </a:r>
            <a:r>
              <a:rPr lang="en-US" altLang="zh-CN" baseline="-25000" dirty="0">
                <a:ea typeface="华文楷体" panose="02010600040101010101" pitchFamily="2" charset="-122"/>
              </a:rPr>
              <a:t>n+1</a:t>
            </a:r>
            <a:r>
              <a:rPr lang="zh-CN" altLang="en-US" dirty="0">
                <a:latin typeface="+mj-lt"/>
                <a:ea typeface="华文楷体" panose="02010600040101010101" pitchFamily="2" charset="-122"/>
              </a:rPr>
              <a:t>的第末项：</a:t>
            </a:r>
            <a:endParaRPr lang="en-US" altLang="zh-CN" dirty="0">
              <a:latin typeface="+mj-lt"/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dirty="0">
                <a:latin typeface="+mj-lt"/>
                <a:ea typeface="华文楷体" panose="02010600040101010101" pitchFamily="2" charset="-122"/>
              </a:rPr>
              <a:t>	</a:t>
            </a:r>
            <a:r>
              <a:rPr lang="en-US" altLang="zh-CN" dirty="0">
                <a:ea typeface="华文楷体" panose="02010600040101010101" pitchFamily="2" charset="-122"/>
              </a:rPr>
              <a:t> C</a:t>
            </a:r>
            <a:r>
              <a:rPr lang="en-US" altLang="zh-CN" baseline="-25000" dirty="0">
                <a:ea typeface="华文楷体" panose="02010600040101010101" pitchFamily="2" charset="-122"/>
              </a:rPr>
              <a:t>n+1  </a:t>
            </a:r>
            <a:r>
              <a:rPr lang="en-US" altLang="zh-CN" dirty="0">
                <a:ea typeface="华文楷体" panose="02010600040101010101" pitchFamily="2" charset="-122"/>
              </a:rPr>
              <a:t>= C</a:t>
            </a:r>
            <a:r>
              <a:rPr lang="en-US" altLang="zh-CN" baseline="-25000" dirty="0">
                <a:ea typeface="华文楷体" panose="02010600040101010101" pitchFamily="2" charset="-122"/>
              </a:rPr>
              <a:t>n</a:t>
            </a:r>
            <a:r>
              <a:rPr lang="en-US" altLang="zh-CN" dirty="0">
                <a:ea typeface="华文楷体" panose="02010600040101010101" pitchFamily="2" charset="-122"/>
              </a:rPr>
              <a:t> + (n + 1)</a:t>
            </a:r>
            <a:r>
              <a:rPr lang="en-US" altLang="zh-CN" baseline="30000" dirty="0">
                <a:ea typeface="华文楷体" panose="02010600040101010101" pitchFamily="2" charset="-122"/>
              </a:rPr>
              <a:t>3</a:t>
            </a:r>
            <a:r>
              <a:rPr lang="en-US" altLang="zh-CN" baseline="-25000" dirty="0">
                <a:ea typeface="华文楷体" panose="02010600040101010101" pitchFamily="2" charset="-122"/>
              </a:rPr>
              <a:t> </a:t>
            </a:r>
            <a:r>
              <a:rPr lang="en-US" altLang="zh-CN" dirty="0">
                <a:ea typeface="华文楷体" panose="02010600040101010101" pitchFamily="2" charset="-122"/>
              </a:rPr>
              <a:t>= C</a:t>
            </a:r>
            <a:r>
              <a:rPr lang="en-US" altLang="zh-CN" baseline="-25000" dirty="0">
                <a:ea typeface="华文楷体" panose="02010600040101010101" pitchFamily="2" charset="-122"/>
              </a:rPr>
              <a:t>n</a:t>
            </a:r>
            <a:r>
              <a:rPr lang="en-US" altLang="zh-CN" dirty="0">
                <a:ea typeface="华文楷体" panose="02010600040101010101" pitchFamily="2" charset="-122"/>
              </a:rPr>
              <a:t> + n</a:t>
            </a:r>
            <a:r>
              <a:rPr lang="en-US" altLang="zh-CN" baseline="30000" dirty="0">
                <a:ea typeface="华文楷体" panose="02010600040101010101" pitchFamily="2" charset="-122"/>
              </a:rPr>
              <a:t>3</a:t>
            </a:r>
            <a:r>
              <a:rPr lang="en-US" altLang="zh-CN" dirty="0">
                <a:ea typeface="华文楷体" panose="02010600040101010101" pitchFamily="2" charset="-122"/>
              </a:rPr>
              <a:t> + 3n</a:t>
            </a:r>
            <a:r>
              <a:rPr lang="en-US" altLang="zh-CN" baseline="30000" dirty="0">
                <a:ea typeface="华文楷体" panose="02010600040101010101" pitchFamily="2" charset="-122"/>
              </a:rPr>
              <a:t>2</a:t>
            </a:r>
            <a:r>
              <a:rPr lang="en-US" altLang="zh-CN" dirty="0">
                <a:ea typeface="华文楷体" panose="02010600040101010101" pitchFamily="2" charset="-122"/>
              </a:rPr>
              <a:t> + 3n + 1</a:t>
            </a:r>
            <a:endParaRPr lang="en-US" altLang="zh-CN" dirty="0"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anose="02010600040101010101" pitchFamily="2" charset="-122"/>
              </a:rPr>
              <a:t>联立方程，得到</a:t>
            </a:r>
            <a:endParaRPr lang="en-US" altLang="zh-CN" dirty="0">
              <a:latin typeface="+mj-lt"/>
              <a:ea typeface="华文楷体" panose="02010600040101010101" pitchFamily="2" charset="-122"/>
            </a:endParaRPr>
          </a:p>
          <a:p>
            <a:pPr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dirty="0">
                <a:ea typeface="华文楷体" panose="02010600040101010101" pitchFamily="2" charset="-122"/>
              </a:rPr>
              <a:t>1 +</a:t>
            </a:r>
            <a:r>
              <a:rPr lang="en-US" altLang="zh-CN" dirty="0">
                <a:solidFill>
                  <a:srgbClr val="0000FF"/>
                </a:solidFill>
                <a:ea typeface="华文楷体" panose="02010600040101010101" pitchFamily="2" charset="-122"/>
              </a:rPr>
              <a:t> C</a:t>
            </a:r>
            <a:r>
              <a:rPr lang="en-US" altLang="zh-CN" baseline="-25000" dirty="0">
                <a:solidFill>
                  <a:srgbClr val="0000FF"/>
                </a:solidFill>
                <a:ea typeface="华文楷体" panose="02010600040101010101" pitchFamily="2" charset="-122"/>
              </a:rPr>
              <a:t>n</a:t>
            </a:r>
            <a:r>
              <a:rPr lang="en-US" altLang="zh-CN" dirty="0">
                <a:solidFill>
                  <a:srgbClr val="0000FF"/>
                </a:solidFill>
                <a:ea typeface="华文楷体" panose="02010600040101010101" pitchFamily="2" charset="-122"/>
              </a:rPr>
              <a:t> </a:t>
            </a:r>
            <a:r>
              <a:rPr lang="en-US" altLang="zh-CN" dirty="0">
                <a:ea typeface="华文楷体" panose="02010600040101010101" pitchFamily="2" charset="-122"/>
              </a:rPr>
              <a:t>+ 3</a:t>
            </a:r>
            <a:r>
              <a:rPr lang="zh-CN" altLang="en-US" dirty="0">
                <a:ea typeface="华文楷体" panose="02010600040101010101" pitchFamily="2" charset="-122"/>
              </a:rPr>
              <a:t>□</a:t>
            </a:r>
            <a:r>
              <a:rPr lang="en-US" altLang="zh-CN" i="1" baseline="-25000" dirty="0">
                <a:ea typeface="华文楷体" panose="02010600040101010101" pitchFamily="2" charset="-122"/>
              </a:rPr>
              <a:t>n  </a:t>
            </a:r>
            <a:r>
              <a:rPr lang="en-US" altLang="zh-CN" dirty="0">
                <a:ea typeface="华文楷体" panose="02010600040101010101" pitchFamily="2" charset="-122"/>
              </a:rPr>
              <a:t>+ 3(1 + … + n) + n = </a:t>
            </a:r>
            <a:r>
              <a:rPr lang="en-US" altLang="zh-CN" dirty="0">
                <a:solidFill>
                  <a:srgbClr val="0000FF"/>
                </a:solidFill>
                <a:ea typeface="华文楷体" panose="02010600040101010101" pitchFamily="2" charset="-122"/>
              </a:rPr>
              <a:t>C</a:t>
            </a:r>
            <a:r>
              <a:rPr lang="en-US" altLang="zh-CN" baseline="-25000" dirty="0">
                <a:solidFill>
                  <a:srgbClr val="0000FF"/>
                </a:solidFill>
                <a:ea typeface="华文楷体" panose="02010600040101010101" pitchFamily="2" charset="-122"/>
              </a:rPr>
              <a:t>n</a:t>
            </a:r>
            <a:r>
              <a:rPr lang="en-US" altLang="zh-CN" dirty="0">
                <a:ea typeface="华文楷体" panose="02010600040101010101" pitchFamily="2" charset="-122"/>
              </a:rPr>
              <a:t> + n</a:t>
            </a:r>
            <a:r>
              <a:rPr lang="en-US" altLang="zh-CN" baseline="30000" dirty="0">
                <a:ea typeface="华文楷体" panose="02010600040101010101" pitchFamily="2" charset="-122"/>
              </a:rPr>
              <a:t>3</a:t>
            </a:r>
            <a:r>
              <a:rPr lang="en-US" altLang="zh-CN" dirty="0">
                <a:ea typeface="华文楷体" panose="02010600040101010101" pitchFamily="2" charset="-122"/>
              </a:rPr>
              <a:t> + 3n</a:t>
            </a:r>
            <a:r>
              <a:rPr lang="en-US" altLang="zh-CN" baseline="30000" dirty="0">
                <a:ea typeface="华文楷体" panose="02010600040101010101" pitchFamily="2" charset="-122"/>
              </a:rPr>
              <a:t>2</a:t>
            </a:r>
            <a:r>
              <a:rPr lang="en-US" altLang="zh-CN" dirty="0">
                <a:ea typeface="华文楷体" panose="02010600040101010101" pitchFamily="2" charset="-122"/>
              </a:rPr>
              <a:t> + 3n + 1</a:t>
            </a:r>
            <a:endParaRPr lang="en-US" altLang="zh-CN" dirty="0"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anose="02010600040101010101" pitchFamily="2" charset="-122"/>
              </a:rPr>
              <a:t>易解出</a:t>
            </a:r>
            <a:r>
              <a:rPr lang="en-US" altLang="zh-CN" dirty="0">
                <a:latin typeface="+mj-lt"/>
                <a:ea typeface="华文楷体" panose="02010600040101010101" pitchFamily="2" charset="-122"/>
              </a:rPr>
              <a:t>3</a:t>
            </a:r>
            <a:r>
              <a:rPr lang="zh-CN" altLang="en-US" dirty="0">
                <a:ea typeface="华文楷体" panose="02010600040101010101" pitchFamily="2" charset="-122"/>
              </a:rPr>
              <a:t>□</a:t>
            </a:r>
            <a:r>
              <a:rPr lang="en-US" altLang="zh-CN" i="1" baseline="-25000" dirty="0">
                <a:ea typeface="华文楷体" panose="02010600040101010101" pitchFamily="2" charset="-122"/>
              </a:rPr>
              <a:t>n </a:t>
            </a:r>
            <a:r>
              <a:rPr lang="en-US" altLang="zh-CN" dirty="0">
                <a:ea typeface="华文楷体" panose="02010600040101010101" pitchFamily="2" charset="-122"/>
              </a:rPr>
              <a:t>= n</a:t>
            </a:r>
            <a:r>
              <a:rPr lang="en-US" altLang="zh-CN" baseline="30000" dirty="0">
                <a:ea typeface="华文楷体" panose="02010600040101010101" pitchFamily="2" charset="-122"/>
              </a:rPr>
              <a:t>3</a:t>
            </a:r>
            <a:r>
              <a:rPr lang="en-US" altLang="zh-CN" dirty="0">
                <a:ea typeface="华文楷体" panose="02010600040101010101" pitchFamily="2" charset="-122"/>
              </a:rPr>
              <a:t> + 3n</a:t>
            </a:r>
            <a:r>
              <a:rPr lang="en-US" altLang="zh-CN" baseline="30000" dirty="0">
                <a:ea typeface="华文楷体" panose="02010600040101010101" pitchFamily="2" charset="-122"/>
              </a:rPr>
              <a:t>2</a:t>
            </a:r>
            <a:r>
              <a:rPr lang="en-US" altLang="zh-CN" dirty="0">
                <a:ea typeface="华文楷体" panose="02010600040101010101" pitchFamily="2" charset="-122"/>
              </a:rPr>
              <a:t> + 3n + 1 – [3(1 +…+ n) + n + 1]</a:t>
            </a:r>
            <a:endParaRPr lang="en-US" altLang="zh-CN" dirty="0">
              <a:latin typeface="+mj-lt"/>
              <a:ea typeface="华文楷体" panose="02010600040101010101" pitchFamily="2" charset="-122"/>
            </a:endParaRPr>
          </a:p>
        </p:txBody>
      </p:sp>
      <p:sp>
        <p:nvSpPr>
          <p:cNvPr id="29702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9703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9704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F4E35156-562E-45C3-9AC6-5E01488B62E6}" type="datetime1">
              <a:rPr lang="zh-CN" altLang="en-US"/>
            </a:fld>
            <a:endParaRPr lang="en-US" altLang="zh-CN"/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6CED1DB5-9DC6-4129-922E-A4A79ADD658B}" type="slidenum">
              <a:rPr lang="en-US" altLang="zh-CN">
                <a:solidFill>
                  <a:srgbClr val="898989"/>
                </a:solidFill>
              </a:rPr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307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华文楷体" panose="02010600040101010101" pitchFamily="2" charset="-122"/>
              </a:rPr>
              <a:t>方法</a:t>
            </a:r>
            <a:r>
              <a:rPr lang="en-US" altLang="zh-CN" dirty="0">
                <a:ea typeface="华文楷体" panose="02010600040101010101" pitchFamily="2" charset="-122"/>
              </a:rPr>
              <a:t>3</a:t>
            </a:r>
            <a:r>
              <a:rPr lang="zh-CN" altLang="en-US" dirty="0">
                <a:solidFill>
                  <a:srgbClr val="0000FF"/>
                </a:solidFill>
                <a:ea typeface="华文楷体" panose="02010600040101010101" pitchFamily="2" charset="-122"/>
              </a:rPr>
              <a:t>（成套法求和）</a:t>
            </a:r>
            <a:endParaRPr lang="zh-CN" altLang="en-US" dirty="0">
              <a:ea typeface="华文楷体" panose="02010600040101010101" pitchFamily="2" charset="-122"/>
            </a:endParaRPr>
          </a:p>
        </p:txBody>
      </p:sp>
      <p:sp>
        <p:nvSpPr>
          <p:cNvPr id="206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 fontScale="92500" lnSpcReduction="1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anose="02010600040101010101" pitchFamily="2" charset="-122"/>
              </a:rPr>
              <a:t>对递归方程</a:t>
            </a:r>
            <a:endParaRPr lang="en-US" altLang="zh-CN" dirty="0">
              <a:latin typeface="+mj-lt"/>
              <a:ea typeface="华文楷体" panose="02010600040101010101" pitchFamily="2" charset="-122"/>
            </a:endParaRPr>
          </a:p>
          <a:p>
            <a:pPr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dirty="0">
                <a:latin typeface="+mj-lt"/>
                <a:ea typeface="华文楷体" panose="02010600040101010101" pitchFamily="2" charset="-122"/>
              </a:rPr>
              <a:t>R</a:t>
            </a:r>
            <a:r>
              <a:rPr lang="en-US" altLang="zh-CN" baseline="-25000" dirty="0">
                <a:latin typeface="+mj-lt"/>
                <a:ea typeface="华文楷体" panose="02010600040101010101" pitchFamily="2" charset="-122"/>
              </a:rPr>
              <a:t>0</a:t>
            </a:r>
            <a:r>
              <a:rPr lang="en-US" altLang="zh-CN" dirty="0">
                <a:latin typeface="+mj-lt"/>
                <a:ea typeface="华文楷体" panose="02010600040101010101" pitchFamily="2" charset="-122"/>
              </a:rPr>
              <a:t> = </a:t>
            </a:r>
            <a:r>
              <a:rPr lang="el-GR" altLang="zh-CN" dirty="0">
                <a:latin typeface="+mj-lt"/>
                <a:ea typeface="华文楷体" panose="02010600040101010101" pitchFamily="2" charset="-122"/>
              </a:rPr>
              <a:t>α</a:t>
            </a:r>
            <a:r>
              <a:rPr lang="en-US" altLang="zh-CN" dirty="0">
                <a:latin typeface="+mj-lt"/>
                <a:ea typeface="华文楷体" panose="02010600040101010101" pitchFamily="2" charset="-122"/>
              </a:rPr>
              <a:t>;</a:t>
            </a:r>
            <a:endParaRPr lang="en-US" altLang="zh-CN" dirty="0">
              <a:latin typeface="+mj-lt"/>
              <a:ea typeface="华文楷体" panose="02010600040101010101" pitchFamily="2" charset="-122"/>
            </a:endParaRPr>
          </a:p>
          <a:p>
            <a:pPr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dirty="0">
                <a:latin typeface="+mj-lt"/>
                <a:ea typeface="华文楷体" panose="02010600040101010101" pitchFamily="2" charset="-122"/>
              </a:rPr>
              <a:t>R</a:t>
            </a:r>
            <a:r>
              <a:rPr lang="en-US" altLang="zh-CN" baseline="-25000" dirty="0">
                <a:latin typeface="+mj-lt"/>
                <a:ea typeface="华文楷体" panose="02010600040101010101" pitchFamily="2" charset="-122"/>
              </a:rPr>
              <a:t>n</a:t>
            </a:r>
            <a:r>
              <a:rPr lang="en-US" altLang="zh-CN" dirty="0">
                <a:latin typeface="+mj-lt"/>
                <a:ea typeface="华文楷体" panose="02010600040101010101" pitchFamily="2" charset="-122"/>
              </a:rPr>
              <a:t> = R</a:t>
            </a:r>
            <a:r>
              <a:rPr lang="en-US" altLang="zh-CN" baseline="-25000" dirty="0">
                <a:latin typeface="+mj-lt"/>
                <a:ea typeface="华文楷体" panose="02010600040101010101" pitchFamily="2" charset="-122"/>
              </a:rPr>
              <a:t>n-1</a:t>
            </a:r>
            <a:r>
              <a:rPr lang="en-US" altLang="zh-CN" dirty="0">
                <a:latin typeface="+mj-lt"/>
                <a:ea typeface="华文楷体" panose="02010600040101010101" pitchFamily="2" charset="-122"/>
              </a:rPr>
              <a:t> + </a:t>
            </a:r>
            <a:r>
              <a:rPr lang="el-GR" altLang="zh-CN" dirty="0">
                <a:latin typeface="+mj-lt"/>
                <a:ea typeface="华文楷体" panose="02010600040101010101" pitchFamily="2" charset="-122"/>
              </a:rPr>
              <a:t>β</a:t>
            </a:r>
            <a:r>
              <a:rPr lang="en-US" altLang="zh-CN" dirty="0">
                <a:latin typeface="+mj-lt"/>
                <a:ea typeface="华文楷体" panose="02010600040101010101" pitchFamily="2" charset="-122"/>
              </a:rPr>
              <a:t> + </a:t>
            </a:r>
            <a:r>
              <a:rPr lang="el-GR" altLang="zh-CN" dirty="0">
                <a:latin typeface="+mj-lt"/>
                <a:ea typeface="华文楷体" panose="02010600040101010101" pitchFamily="2" charset="-122"/>
              </a:rPr>
              <a:t>γ</a:t>
            </a:r>
            <a:r>
              <a:rPr lang="en-US" altLang="zh-CN" dirty="0">
                <a:latin typeface="+mj-lt"/>
                <a:ea typeface="华文楷体" panose="02010600040101010101" pitchFamily="2" charset="-122"/>
              </a:rPr>
              <a:t>n + </a:t>
            </a:r>
            <a:r>
              <a:rPr lang="el-GR" altLang="zh-CN" dirty="0">
                <a:latin typeface="+mj-lt"/>
                <a:ea typeface="华文楷体" panose="02010600040101010101" pitchFamily="2" charset="-122"/>
              </a:rPr>
              <a:t>δ</a:t>
            </a:r>
            <a:r>
              <a:rPr lang="en-US" altLang="zh-CN" dirty="0">
                <a:latin typeface="+mj-lt"/>
                <a:ea typeface="华文楷体" panose="02010600040101010101" pitchFamily="2" charset="-122"/>
              </a:rPr>
              <a:t>n</a:t>
            </a:r>
            <a:r>
              <a:rPr lang="en-US" altLang="zh-CN" baseline="30000" dirty="0">
                <a:latin typeface="+mj-lt"/>
                <a:ea typeface="华文楷体" panose="02010600040101010101" pitchFamily="2" charset="-122"/>
              </a:rPr>
              <a:t>2</a:t>
            </a:r>
            <a:endParaRPr lang="en-US" altLang="zh-CN" baseline="30000" dirty="0">
              <a:latin typeface="+mj-lt"/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anose="02010600040101010101" pitchFamily="2" charset="-122"/>
              </a:rPr>
              <a:t>封闭解的一般形式为</a:t>
            </a:r>
            <a:endParaRPr lang="en-US" altLang="zh-CN" dirty="0">
              <a:latin typeface="+mj-lt"/>
              <a:ea typeface="华文楷体" panose="02010600040101010101" pitchFamily="2" charset="-122"/>
            </a:endParaRPr>
          </a:p>
          <a:p>
            <a:pPr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dirty="0">
                <a:latin typeface="+mj-lt"/>
                <a:ea typeface="华文楷体" panose="02010600040101010101" pitchFamily="2" charset="-122"/>
              </a:rPr>
              <a:t>R</a:t>
            </a:r>
            <a:r>
              <a:rPr lang="en-US" altLang="zh-CN" baseline="-25000" dirty="0">
                <a:latin typeface="+mj-lt"/>
                <a:ea typeface="华文楷体" panose="02010600040101010101" pitchFamily="2" charset="-122"/>
              </a:rPr>
              <a:t>n</a:t>
            </a:r>
            <a:r>
              <a:rPr lang="en-US" altLang="zh-CN" dirty="0">
                <a:latin typeface="+mj-lt"/>
                <a:ea typeface="华文楷体" panose="02010600040101010101" pitchFamily="2" charset="-122"/>
              </a:rPr>
              <a:t> = A(n)</a:t>
            </a:r>
            <a:r>
              <a:rPr lang="el-GR" altLang="zh-CN" dirty="0">
                <a:ea typeface="华文楷体" panose="02010600040101010101" pitchFamily="2" charset="-122"/>
              </a:rPr>
              <a:t>α</a:t>
            </a:r>
            <a:r>
              <a:rPr lang="en-US" altLang="zh-CN" dirty="0">
                <a:latin typeface="+mj-lt"/>
                <a:ea typeface="华文楷体" panose="02010600040101010101" pitchFamily="2" charset="-122"/>
              </a:rPr>
              <a:t> + B(n)</a:t>
            </a:r>
            <a:r>
              <a:rPr lang="el-GR" altLang="zh-CN" dirty="0">
                <a:ea typeface="华文楷体" panose="02010600040101010101" pitchFamily="2" charset="-122"/>
              </a:rPr>
              <a:t>β</a:t>
            </a:r>
            <a:r>
              <a:rPr lang="en-US" altLang="zh-CN" dirty="0">
                <a:latin typeface="+mj-lt"/>
                <a:ea typeface="华文楷体" panose="02010600040101010101" pitchFamily="2" charset="-122"/>
              </a:rPr>
              <a:t> + C(n)</a:t>
            </a:r>
            <a:r>
              <a:rPr lang="el-GR" altLang="zh-CN" dirty="0">
                <a:ea typeface="华文楷体" panose="02010600040101010101" pitchFamily="2" charset="-122"/>
              </a:rPr>
              <a:t>γ</a:t>
            </a:r>
            <a:r>
              <a:rPr lang="en-US" altLang="zh-CN" dirty="0">
                <a:latin typeface="+mj-lt"/>
                <a:ea typeface="华文楷体" panose="02010600040101010101" pitchFamily="2" charset="-122"/>
              </a:rPr>
              <a:t> + D(n)</a:t>
            </a:r>
            <a:r>
              <a:rPr lang="el-GR" altLang="zh-CN" dirty="0">
                <a:ea typeface="华文楷体" panose="02010600040101010101" pitchFamily="2" charset="-122"/>
              </a:rPr>
              <a:t>δ</a:t>
            </a:r>
            <a:endParaRPr lang="en-US" altLang="zh-CN" dirty="0">
              <a:latin typeface="+mj-lt"/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anose="02010600040101010101" pitchFamily="2" charset="-122"/>
              </a:rPr>
              <a:t>令</a:t>
            </a:r>
            <a:r>
              <a:rPr lang="el-GR" altLang="zh-CN" dirty="0">
                <a:ea typeface="华文楷体" panose="02010600040101010101" pitchFamily="2" charset="-122"/>
              </a:rPr>
              <a:t>δ</a:t>
            </a:r>
            <a:r>
              <a:rPr lang="en-US" altLang="zh-CN" dirty="0">
                <a:ea typeface="华文楷体" panose="02010600040101010101" pitchFamily="2" charset="-122"/>
              </a:rPr>
              <a:t> = 0</a:t>
            </a:r>
            <a:r>
              <a:rPr lang="zh-CN" altLang="en-US" dirty="0">
                <a:ea typeface="华文楷体" panose="02010600040101010101" pitchFamily="2" charset="-122"/>
              </a:rPr>
              <a:t>，可以很容易地解出</a:t>
            </a:r>
            <a:r>
              <a:rPr lang="en-US" altLang="zh-CN" dirty="0">
                <a:ea typeface="华文楷体" panose="02010600040101010101" pitchFamily="2" charset="-122"/>
              </a:rPr>
              <a:t>A</a:t>
            </a:r>
            <a:r>
              <a:rPr lang="zh-CN" altLang="en-US" dirty="0">
                <a:ea typeface="华文楷体" panose="02010600040101010101" pitchFamily="2" charset="-122"/>
              </a:rPr>
              <a:t>、</a:t>
            </a:r>
            <a:r>
              <a:rPr lang="en-US" altLang="zh-CN" dirty="0">
                <a:ea typeface="华文楷体" panose="02010600040101010101" pitchFamily="2" charset="-122"/>
              </a:rPr>
              <a:t>B</a:t>
            </a:r>
            <a:r>
              <a:rPr lang="zh-CN" altLang="en-US" dirty="0">
                <a:ea typeface="华文楷体" panose="02010600040101010101" pitchFamily="2" charset="-122"/>
              </a:rPr>
              <a:t>和</a:t>
            </a:r>
            <a:r>
              <a:rPr lang="en-US" altLang="zh-CN" dirty="0">
                <a:ea typeface="华文楷体" panose="02010600040101010101" pitchFamily="2" charset="-122"/>
              </a:rPr>
              <a:t>C</a:t>
            </a:r>
            <a:r>
              <a:rPr lang="zh-CN" altLang="en-US" dirty="0">
                <a:ea typeface="华文楷体" panose="02010600040101010101" pitchFamily="2" charset="-122"/>
              </a:rPr>
              <a:t>的表达式（参见</a:t>
            </a:r>
            <a:r>
              <a:rPr lang="en-US" altLang="zh-CN" dirty="0">
                <a:ea typeface="华文楷体" panose="02010600040101010101" pitchFamily="2" charset="-122"/>
              </a:rPr>
              <a:t>2.2</a:t>
            </a:r>
            <a:r>
              <a:rPr lang="zh-CN" altLang="en-US" dirty="0">
                <a:ea typeface="华文楷体" panose="02010600040101010101" pitchFamily="2" charset="-122"/>
              </a:rPr>
              <a:t>）。</a:t>
            </a:r>
            <a:r>
              <a:rPr lang="zh-CN" altLang="en-US" dirty="0">
                <a:latin typeface="+mj-lt"/>
                <a:ea typeface="华文楷体" panose="02010600040101010101" pitchFamily="2" charset="-122"/>
              </a:rPr>
              <a:t>然后在</a:t>
            </a:r>
            <a:r>
              <a:rPr lang="en-US" altLang="zh-CN" dirty="0">
                <a:latin typeface="+mj-lt"/>
                <a:ea typeface="华文楷体" panose="02010600040101010101" pitchFamily="2" charset="-122"/>
              </a:rPr>
              <a:t>(</a:t>
            </a:r>
            <a:r>
              <a:rPr lang="el-GR" altLang="zh-CN" dirty="0">
                <a:ea typeface="华文楷体" panose="02010600040101010101" pitchFamily="2" charset="-122"/>
              </a:rPr>
              <a:t>α</a:t>
            </a:r>
            <a:r>
              <a:rPr lang="en-US" altLang="zh-CN" dirty="0">
                <a:ea typeface="华文楷体" panose="02010600040101010101" pitchFamily="2" charset="-122"/>
              </a:rPr>
              <a:t>, </a:t>
            </a:r>
            <a:r>
              <a:rPr lang="el-GR" altLang="zh-CN" dirty="0">
                <a:ea typeface="华文楷体" panose="02010600040101010101" pitchFamily="2" charset="-122"/>
              </a:rPr>
              <a:t>β</a:t>
            </a:r>
            <a:r>
              <a:rPr lang="en-US" altLang="zh-CN" dirty="0">
                <a:ea typeface="华文楷体" panose="02010600040101010101" pitchFamily="2" charset="-122"/>
              </a:rPr>
              <a:t>, </a:t>
            </a:r>
            <a:r>
              <a:rPr lang="el-GR" altLang="zh-CN" dirty="0">
                <a:ea typeface="华文楷体" panose="02010600040101010101" pitchFamily="2" charset="-122"/>
              </a:rPr>
              <a:t>γ</a:t>
            </a:r>
            <a:r>
              <a:rPr lang="en-US" altLang="zh-CN" dirty="0">
                <a:ea typeface="华文楷体" panose="02010600040101010101" pitchFamily="2" charset="-122"/>
              </a:rPr>
              <a:t>, </a:t>
            </a:r>
            <a:r>
              <a:rPr lang="el-GR" altLang="zh-CN" dirty="0">
                <a:ea typeface="华文楷体" panose="02010600040101010101" pitchFamily="2" charset="-122"/>
              </a:rPr>
              <a:t>δ</a:t>
            </a:r>
            <a:r>
              <a:rPr lang="en-US" altLang="zh-CN" dirty="0">
                <a:latin typeface="+mj-lt"/>
                <a:ea typeface="华文楷体" panose="02010600040101010101" pitchFamily="2" charset="-122"/>
              </a:rPr>
              <a:t>) = (0, 1, -3, 3)</a:t>
            </a:r>
            <a:r>
              <a:rPr lang="zh-CN" altLang="en-US" dirty="0">
                <a:latin typeface="+mj-lt"/>
                <a:ea typeface="华文楷体" panose="02010600040101010101" pitchFamily="2" charset="-122"/>
              </a:rPr>
              <a:t>上求得</a:t>
            </a:r>
            <a:r>
              <a:rPr lang="en-US" altLang="zh-CN" dirty="0">
                <a:latin typeface="+mj-lt"/>
                <a:ea typeface="华文楷体" panose="02010600040101010101" pitchFamily="2" charset="-122"/>
              </a:rPr>
              <a:t>R</a:t>
            </a:r>
            <a:r>
              <a:rPr lang="en-US" altLang="zh-CN" baseline="-25000" dirty="0">
                <a:latin typeface="+mj-lt"/>
                <a:ea typeface="华文楷体" panose="02010600040101010101" pitchFamily="2" charset="-122"/>
              </a:rPr>
              <a:t>n</a:t>
            </a:r>
            <a:r>
              <a:rPr lang="en-US" altLang="zh-CN" dirty="0">
                <a:latin typeface="+mj-lt"/>
                <a:ea typeface="华文楷体" panose="02010600040101010101" pitchFamily="2" charset="-122"/>
              </a:rPr>
              <a:t> = n</a:t>
            </a:r>
            <a:r>
              <a:rPr lang="en-US" altLang="zh-CN" baseline="30000" dirty="0">
                <a:latin typeface="+mj-lt"/>
                <a:ea typeface="华文楷体" panose="02010600040101010101" pitchFamily="2" charset="-122"/>
              </a:rPr>
              <a:t>3</a:t>
            </a:r>
            <a:r>
              <a:rPr lang="zh-CN" altLang="en-US" dirty="0">
                <a:latin typeface="+mj-lt"/>
                <a:ea typeface="华文楷体" panose="02010600040101010101" pitchFamily="2" charset="-122"/>
              </a:rPr>
              <a:t>，因此有</a:t>
            </a:r>
            <a:r>
              <a:rPr lang="en-US" altLang="zh-CN" dirty="0">
                <a:latin typeface="+mj-lt"/>
                <a:ea typeface="华文楷体" panose="02010600040101010101" pitchFamily="2" charset="-122"/>
              </a:rPr>
              <a:t>D(n) = (n</a:t>
            </a:r>
            <a:r>
              <a:rPr lang="en-US" altLang="zh-CN" baseline="30000" dirty="0">
                <a:latin typeface="+mj-lt"/>
                <a:ea typeface="华文楷体" panose="02010600040101010101" pitchFamily="2" charset="-122"/>
              </a:rPr>
              <a:t>3</a:t>
            </a:r>
            <a:r>
              <a:rPr lang="en-US" altLang="zh-CN" dirty="0">
                <a:latin typeface="+mj-lt"/>
                <a:ea typeface="华文楷体" panose="02010600040101010101" pitchFamily="2" charset="-122"/>
              </a:rPr>
              <a:t> + 3C(n) - B(n)) / 3</a:t>
            </a:r>
            <a:r>
              <a:rPr lang="zh-CN" altLang="en-US" dirty="0">
                <a:latin typeface="+mj-lt"/>
                <a:ea typeface="华文楷体" panose="02010600040101010101" pitchFamily="2" charset="-122"/>
              </a:rPr>
              <a:t>。</a:t>
            </a:r>
            <a:endParaRPr lang="en-US" altLang="zh-CN" dirty="0">
              <a:latin typeface="+mj-lt"/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anose="02010600040101010101" pitchFamily="2" charset="-122"/>
              </a:rPr>
              <a:t>最后在</a:t>
            </a:r>
            <a:r>
              <a:rPr lang="en-US" altLang="zh-CN" dirty="0">
                <a:ea typeface="华文楷体" panose="02010600040101010101" pitchFamily="2" charset="-122"/>
              </a:rPr>
              <a:t>(</a:t>
            </a:r>
            <a:r>
              <a:rPr lang="el-GR" altLang="zh-CN" dirty="0">
                <a:ea typeface="华文楷体" panose="02010600040101010101" pitchFamily="2" charset="-122"/>
              </a:rPr>
              <a:t>α</a:t>
            </a:r>
            <a:r>
              <a:rPr lang="en-US" altLang="zh-CN" dirty="0">
                <a:ea typeface="华文楷体" panose="02010600040101010101" pitchFamily="2" charset="-122"/>
              </a:rPr>
              <a:t>, </a:t>
            </a:r>
            <a:r>
              <a:rPr lang="el-GR" altLang="zh-CN" dirty="0">
                <a:ea typeface="华文楷体" panose="02010600040101010101" pitchFamily="2" charset="-122"/>
              </a:rPr>
              <a:t>β</a:t>
            </a:r>
            <a:r>
              <a:rPr lang="en-US" altLang="zh-CN" dirty="0">
                <a:ea typeface="华文楷体" panose="02010600040101010101" pitchFamily="2" charset="-122"/>
              </a:rPr>
              <a:t>, </a:t>
            </a:r>
            <a:r>
              <a:rPr lang="el-GR" altLang="zh-CN" dirty="0">
                <a:ea typeface="华文楷体" panose="02010600040101010101" pitchFamily="2" charset="-122"/>
              </a:rPr>
              <a:t>γ</a:t>
            </a:r>
            <a:r>
              <a:rPr lang="en-US" altLang="zh-CN" dirty="0">
                <a:ea typeface="华文楷体" panose="02010600040101010101" pitchFamily="2" charset="-122"/>
              </a:rPr>
              <a:t>, </a:t>
            </a:r>
            <a:r>
              <a:rPr lang="el-GR" altLang="zh-CN" dirty="0">
                <a:ea typeface="华文楷体" panose="02010600040101010101" pitchFamily="2" charset="-122"/>
              </a:rPr>
              <a:t>δ</a:t>
            </a:r>
            <a:r>
              <a:rPr lang="en-US" altLang="zh-CN" dirty="0">
                <a:ea typeface="华文楷体" panose="02010600040101010101" pitchFamily="2" charset="-122"/>
              </a:rPr>
              <a:t>) = (0, 0, 0, 1)</a:t>
            </a:r>
            <a:r>
              <a:rPr lang="zh-CN" altLang="en-US" dirty="0">
                <a:ea typeface="华文楷体" panose="02010600040101010101" pitchFamily="2" charset="-122"/>
              </a:rPr>
              <a:t>上即可求得□</a:t>
            </a:r>
            <a:r>
              <a:rPr lang="en-US" altLang="zh-CN" i="1" baseline="-25000" dirty="0">
                <a:ea typeface="华文楷体" panose="02010600040101010101" pitchFamily="2" charset="-122"/>
              </a:rPr>
              <a:t>n </a:t>
            </a:r>
            <a:r>
              <a:rPr lang="zh-CN" altLang="en-US" dirty="0">
                <a:ea typeface="华文楷体" panose="02010600040101010101" pitchFamily="2" charset="-122"/>
              </a:rPr>
              <a:t>。</a:t>
            </a:r>
            <a:endParaRPr lang="en-US" altLang="zh-CN" dirty="0">
              <a:latin typeface="+mj-lt"/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zh-CN" altLang="en-US" dirty="0">
              <a:latin typeface="+mj-lt"/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zh-CN" altLang="en-US" dirty="0">
              <a:latin typeface="+mj-lt"/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zh-CN" altLang="en-US" dirty="0">
              <a:latin typeface="+mj-lt"/>
              <a:ea typeface="华文楷体" panose="02010600040101010101" pitchFamily="2" charset="-122"/>
            </a:endParaRPr>
          </a:p>
        </p:txBody>
      </p:sp>
      <p:sp>
        <p:nvSpPr>
          <p:cNvPr id="30726" name="Rectangle 5"/>
          <p:cNvSpPr>
            <a:spLocks noChangeArrowheads="1"/>
          </p:cNvSpPr>
          <p:nvPr/>
        </p:nvSpPr>
        <p:spPr bwMode="auto">
          <a:xfrm>
            <a:off x="0" y="31861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0727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F4E35156-562E-45C3-9AC6-5E01488B62E6}" type="datetime1">
              <a:rPr lang="zh-CN" altLang="en-US"/>
            </a:fld>
            <a:endParaRPr lang="en-US" altLang="zh-CN"/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7DD82F28-DC75-47F6-89D3-004770DFE7C9}" type="slidenum">
              <a:rPr lang="en-US" altLang="zh-CN">
                <a:solidFill>
                  <a:srgbClr val="898989"/>
                </a:solidFill>
              </a:rPr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华文楷体" panose="02010600040101010101" pitchFamily="2" charset="-122"/>
              </a:rPr>
              <a:t>方法</a:t>
            </a:r>
            <a:r>
              <a:rPr lang="en-US" altLang="zh-CN" dirty="0">
                <a:ea typeface="华文楷体" panose="02010600040101010101" pitchFamily="2" charset="-122"/>
              </a:rPr>
              <a:t>4</a:t>
            </a:r>
            <a:r>
              <a:rPr lang="zh-CN" altLang="en-US" dirty="0">
                <a:solidFill>
                  <a:srgbClr val="0000FF"/>
                </a:solidFill>
                <a:ea typeface="华文楷体" panose="02010600040101010101" pitchFamily="2" charset="-122"/>
              </a:rPr>
              <a:t>（积分替换）</a:t>
            </a:r>
            <a:endParaRPr lang="zh-CN" altLang="en-US" dirty="0">
              <a:ea typeface="华文楷体" panose="02010600040101010101" pitchFamily="2" charset="-122"/>
            </a:endParaRPr>
          </a:p>
        </p:txBody>
      </p:sp>
      <p:sp>
        <p:nvSpPr>
          <p:cNvPr id="206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2444" y="1417638"/>
            <a:ext cx="5338936" cy="4938712"/>
          </a:xfrm>
        </p:spPr>
        <p:txBody>
          <a:bodyPr rtlCol="0">
            <a:normAutofit/>
          </a:bodyPr>
          <a:lstStyle/>
          <a:p>
            <a:pPr marL="342900" lvl="1" indent="-342900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3200" dirty="0">
                <a:latin typeface="+mj-lt"/>
                <a:ea typeface="华文楷体" panose="02010600040101010101" pitchFamily="2" charset="-122"/>
              </a:rPr>
              <a:t>注意到，积分实质上是离散求和的连续化，探索积分会给我们一些启发，乃至解决问题。</a:t>
            </a:r>
            <a:endParaRPr lang="en-US" altLang="zh-CN" sz="3200" dirty="0">
              <a:latin typeface="+mj-lt"/>
              <a:ea typeface="华文楷体" panose="02010600040101010101" pitchFamily="2" charset="-122"/>
            </a:endParaRPr>
          </a:p>
          <a:p>
            <a:pPr marL="342900" lvl="1" indent="-342900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3200" dirty="0">
                <a:latin typeface="+mj-lt"/>
                <a:ea typeface="华文楷体" panose="02010600040101010101" pitchFamily="2" charset="-122"/>
              </a:rPr>
              <a:t>首先计算平方求和的积分版本：</a:t>
            </a:r>
            <a:endParaRPr lang="en-US" altLang="zh-CN" sz="3200" dirty="0">
              <a:latin typeface="+mj-lt"/>
              <a:ea typeface="华文楷体" panose="02010600040101010101" pitchFamily="2" charset="-122"/>
            </a:endParaRPr>
          </a:p>
          <a:p>
            <a:pPr marL="342900" lvl="1" indent="-342900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3200" dirty="0">
                <a:latin typeface="+mj-lt"/>
                <a:ea typeface="华文楷体" panose="02010600040101010101" pitchFamily="2" charset="-122"/>
              </a:rPr>
              <a:t>可以认为平方求和的结果近似等于</a:t>
            </a:r>
            <a:r>
              <a:rPr lang="en-US" altLang="zh-CN" sz="3200" dirty="0">
                <a:latin typeface="+mj-lt"/>
                <a:ea typeface="华文楷体" panose="02010600040101010101" pitchFamily="2" charset="-122"/>
              </a:rPr>
              <a:t>n</a:t>
            </a:r>
            <a:r>
              <a:rPr lang="en-US" altLang="zh-CN" sz="3200" baseline="30000" dirty="0">
                <a:latin typeface="+mj-lt"/>
                <a:ea typeface="华文楷体" panose="02010600040101010101" pitchFamily="2" charset="-122"/>
              </a:rPr>
              <a:t>3</a:t>
            </a:r>
            <a:r>
              <a:rPr lang="en-US" altLang="zh-CN" sz="3200" dirty="0">
                <a:latin typeface="+mj-lt"/>
                <a:ea typeface="华文楷体" panose="02010600040101010101" pitchFamily="2" charset="-122"/>
              </a:rPr>
              <a:t>/3</a:t>
            </a:r>
            <a:r>
              <a:rPr lang="zh-CN" altLang="en-US" sz="3200" dirty="0">
                <a:latin typeface="+mj-lt"/>
                <a:ea typeface="华文楷体" panose="02010600040101010101" pitchFamily="2" charset="-122"/>
              </a:rPr>
              <a:t>。</a:t>
            </a:r>
            <a:endParaRPr lang="en-US" altLang="zh-CN" sz="3200" dirty="0">
              <a:latin typeface="+mj-lt"/>
              <a:ea typeface="华文楷体" panose="02010600040101010101" pitchFamily="2" charset="-122"/>
            </a:endParaRPr>
          </a:p>
        </p:txBody>
      </p:sp>
      <p:sp>
        <p:nvSpPr>
          <p:cNvPr id="18439" name="Rectangle 5"/>
          <p:cNvSpPr>
            <a:spLocks noChangeArrowheads="1"/>
          </p:cNvSpPr>
          <p:nvPr/>
        </p:nvSpPr>
        <p:spPr bwMode="auto">
          <a:xfrm>
            <a:off x="0" y="31861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8440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434" name="Object 4"/>
              <p:cNvSpPr txBox="1"/>
              <p:nvPr/>
            </p:nvSpPr>
            <p:spPr bwMode="auto">
              <a:xfrm>
                <a:off x="1907704" y="3893871"/>
                <a:ext cx="1655763" cy="737914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843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07704" y="3893871"/>
                <a:ext cx="1655763" cy="737914"/>
              </a:xfrm>
              <a:prstGeom prst="rect">
                <a:avLst/>
              </a:prstGeom>
              <a:blipFill rotWithShape="1">
                <a:blip r:embed="rId1"/>
                <a:stretch>
                  <a:fillRect l="-10" t="-7" r="29" b="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907" y="1086442"/>
            <a:ext cx="3963466" cy="515087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F4E35156-562E-45C3-9AC6-5E01488B62E6}" type="datetime1">
              <a:rPr lang="zh-CN" altLang="en-US"/>
            </a:fld>
            <a:endParaRPr lang="en-US" altLang="zh-CN"/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FF8E0434-6300-4B60-90DD-D5F19CB1F033}" type="slidenum">
              <a:rPr lang="en-US" altLang="zh-CN">
                <a:solidFill>
                  <a:srgbClr val="898989"/>
                </a:solidFill>
              </a:rPr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317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华文楷体" panose="02010600040101010101" pitchFamily="2" charset="-122"/>
              </a:rPr>
              <a:t>方法</a:t>
            </a:r>
            <a:r>
              <a:rPr lang="en-US" altLang="zh-CN" dirty="0">
                <a:ea typeface="华文楷体" panose="02010600040101010101" pitchFamily="2" charset="-122"/>
              </a:rPr>
              <a:t>4</a:t>
            </a:r>
            <a:r>
              <a:rPr lang="zh-CN" altLang="en-US" dirty="0">
                <a:solidFill>
                  <a:srgbClr val="0000FF"/>
                </a:solidFill>
                <a:ea typeface="华文楷体" panose="02010600040101010101" pitchFamily="2" charset="-122"/>
              </a:rPr>
              <a:t>（积分替换）</a:t>
            </a:r>
            <a:endParaRPr lang="zh-CN" altLang="en-US" dirty="0">
              <a:ea typeface="华文楷体" panose="02010600040101010101" pitchFamily="2" charset="-122"/>
            </a:endParaRPr>
          </a:p>
        </p:txBody>
      </p:sp>
      <p:sp>
        <p:nvSpPr>
          <p:cNvPr id="206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marL="342900" lvl="1" indent="-342900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3200" dirty="0">
                <a:latin typeface="+mj-lt"/>
                <a:ea typeface="华文楷体" panose="02010600040101010101" pitchFamily="2" charset="-122"/>
              </a:rPr>
              <a:t>下面考察近似结果与精确结果间的误差</a:t>
            </a:r>
            <a:r>
              <a:rPr lang="en-US" altLang="zh-CN" sz="3200" dirty="0" err="1">
                <a:latin typeface="+mj-lt"/>
                <a:ea typeface="华文楷体" panose="02010600040101010101" pitchFamily="2" charset="-122"/>
              </a:rPr>
              <a:t>E</a:t>
            </a:r>
            <a:r>
              <a:rPr lang="en-US" altLang="zh-CN" sz="3200" baseline="-25000" dirty="0" err="1">
                <a:latin typeface="+mj-lt"/>
                <a:ea typeface="华文楷体" panose="02010600040101010101" pitchFamily="2" charset="-122"/>
              </a:rPr>
              <a:t>n</a:t>
            </a:r>
            <a:r>
              <a:rPr lang="en-US" altLang="zh-CN" sz="3200" dirty="0">
                <a:latin typeface="+mj-lt"/>
                <a:ea typeface="华文楷体" panose="02010600040101010101" pitchFamily="2" charset="-122"/>
              </a:rPr>
              <a:t> </a:t>
            </a:r>
            <a:r>
              <a:rPr lang="zh-CN" altLang="en-US" sz="3200" dirty="0">
                <a:latin typeface="+mj-lt"/>
                <a:ea typeface="华文楷体" panose="02010600040101010101" pitchFamily="2" charset="-122"/>
              </a:rPr>
              <a:t>：</a:t>
            </a:r>
            <a:endParaRPr lang="en-US" altLang="zh-CN" sz="3200" dirty="0">
              <a:latin typeface="+mj-lt"/>
              <a:ea typeface="华文楷体" panose="02010600040101010101" pitchFamily="2" charset="-122"/>
            </a:endParaRPr>
          </a:p>
          <a:p>
            <a:pPr marL="342900" lvl="1" indent="-34290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sz="3200" dirty="0">
                <a:latin typeface="+mj-lt"/>
                <a:ea typeface="华文楷体" panose="02010600040101010101" pitchFamily="2" charset="-122"/>
              </a:rPr>
              <a:t>	</a:t>
            </a:r>
            <a:r>
              <a:rPr lang="en-US" altLang="zh-CN" sz="3200" dirty="0" err="1">
                <a:latin typeface="+mj-lt"/>
                <a:ea typeface="华文楷体" panose="02010600040101010101" pitchFamily="2" charset="-122"/>
              </a:rPr>
              <a:t>E</a:t>
            </a:r>
            <a:r>
              <a:rPr lang="en-US" altLang="zh-CN" sz="3200" baseline="-25000" dirty="0" err="1">
                <a:latin typeface="+mj-lt"/>
                <a:ea typeface="华文楷体" panose="02010600040101010101" pitchFamily="2" charset="-122"/>
              </a:rPr>
              <a:t>n</a:t>
            </a:r>
            <a:r>
              <a:rPr lang="en-US" altLang="zh-CN" sz="3200" dirty="0">
                <a:latin typeface="+mj-lt"/>
                <a:ea typeface="华文楷体" panose="02010600040101010101" pitchFamily="2" charset="-122"/>
              </a:rPr>
              <a:t> = </a:t>
            </a:r>
            <a:r>
              <a:rPr lang="zh-CN" altLang="en-US" sz="3200" dirty="0">
                <a:ea typeface="华文楷体" panose="02010600040101010101" pitchFamily="2" charset="-122"/>
              </a:rPr>
              <a:t>□</a:t>
            </a:r>
            <a:r>
              <a:rPr lang="en-US" altLang="zh-CN" sz="3200" i="1" baseline="-25000" dirty="0">
                <a:ea typeface="华文楷体" panose="02010600040101010101" pitchFamily="2" charset="-122"/>
              </a:rPr>
              <a:t>n </a:t>
            </a:r>
            <a:r>
              <a:rPr lang="en-US" altLang="zh-CN" sz="3200" dirty="0">
                <a:ea typeface="华文楷体" panose="02010600040101010101" pitchFamily="2" charset="-122"/>
              </a:rPr>
              <a:t>– n</a:t>
            </a:r>
            <a:r>
              <a:rPr lang="en-US" altLang="zh-CN" sz="3200" baseline="30000" dirty="0">
                <a:ea typeface="华文楷体" panose="02010600040101010101" pitchFamily="2" charset="-122"/>
              </a:rPr>
              <a:t>3</a:t>
            </a:r>
            <a:r>
              <a:rPr lang="en-US" altLang="zh-CN" sz="3200" dirty="0">
                <a:ea typeface="华文楷体" panose="02010600040101010101" pitchFamily="2" charset="-122"/>
              </a:rPr>
              <a:t>/3 = </a:t>
            </a:r>
            <a:r>
              <a:rPr lang="zh-CN" altLang="en-US" sz="3200" dirty="0">
                <a:ea typeface="华文楷体" panose="02010600040101010101" pitchFamily="2" charset="-122"/>
              </a:rPr>
              <a:t>□</a:t>
            </a:r>
            <a:r>
              <a:rPr lang="en-US" altLang="zh-CN" sz="3200" i="1" baseline="-25000" dirty="0">
                <a:ea typeface="华文楷体" panose="02010600040101010101" pitchFamily="2" charset="-122"/>
              </a:rPr>
              <a:t>n-1 </a:t>
            </a:r>
            <a:r>
              <a:rPr lang="en-US" altLang="zh-CN" sz="3200" dirty="0">
                <a:ea typeface="华文楷体" panose="02010600040101010101" pitchFamily="2" charset="-122"/>
              </a:rPr>
              <a:t>+ n</a:t>
            </a:r>
            <a:r>
              <a:rPr lang="en-US" altLang="zh-CN" sz="3200" baseline="30000" dirty="0">
                <a:ea typeface="华文楷体" panose="02010600040101010101" pitchFamily="2" charset="-122"/>
              </a:rPr>
              <a:t>2</a:t>
            </a:r>
            <a:r>
              <a:rPr lang="en-US" altLang="zh-CN" sz="3200" dirty="0">
                <a:ea typeface="华文楷体" panose="02010600040101010101" pitchFamily="2" charset="-122"/>
              </a:rPr>
              <a:t> – n</a:t>
            </a:r>
            <a:r>
              <a:rPr lang="en-US" altLang="zh-CN" sz="3200" baseline="30000" dirty="0">
                <a:ea typeface="华文楷体" panose="02010600040101010101" pitchFamily="2" charset="-122"/>
              </a:rPr>
              <a:t>3</a:t>
            </a:r>
            <a:r>
              <a:rPr lang="en-US" altLang="zh-CN" sz="3200" dirty="0">
                <a:ea typeface="华文楷体" panose="02010600040101010101" pitchFamily="2" charset="-122"/>
              </a:rPr>
              <a:t>/3 </a:t>
            </a:r>
            <a:endParaRPr lang="en-US" altLang="zh-CN" sz="3200" dirty="0">
              <a:ea typeface="华文楷体" panose="02010600040101010101" pitchFamily="2" charset="-122"/>
            </a:endParaRPr>
          </a:p>
          <a:p>
            <a:pPr marL="342900" lvl="1" indent="-34290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sz="3200" dirty="0">
                <a:latin typeface="+mj-lt"/>
                <a:ea typeface="华文楷体" panose="02010600040101010101" pitchFamily="2" charset="-122"/>
              </a:rPr>
              <a:t>	     = E</a:t>
            </a:r>
            <a:r>
              <a:rPr lang="en-US" altLang="zh-CN" sz="3200" baseline="-25000" dirty="0">
                <a:latin typeface="+mj-lt"/>
                <a:ea typeface="华文楷体" panose="02010600040101010101" pitchFamily="2" charset="-122"/>
              </a:rPr>
              <a:t>n-1</a:t>
            </a:r>
            <a:r>
              <a:rPr lang="en-US" altLang="zh-CN" sz="3200" dirty="0">
                <a:latin typeface="+mj-lt"/>
                <a:ea typeface="华文楷体" panose="02010600040101010101" pitchFamily="2" charset="-122"/>
              </a:rPr>
              <a:t> + (n-1)</a:t>
            </a:r>
            <a:r>
              <a:rPr lang="en-US" altLang="zh-CN" sz="3200" baseline="30000" dirty="0">
                <a:latin typeface="+mj-lt"/>
                <a:ea typeface="华文楷体" panose="02010600040101010101" pitchFamily="2" charset="-122"/>
              </a:rPr>
              <a:t>3</a:t>
            </a:r>
            <a:r>
              <a:rPr lang="en-US" altLang="zh-CN" sz="3200" dirty="0">
                <a:latin typeface="+mj-lt"/>
                <a:ea typeface="华文楷体" panose="02010600040101010101" pitchFamily="2" charset="-122"/>
              </a:rPr>
              <a:t>/3 + n</a:t>
            </a:r>
            <a:r>
              <a:rPr lang="en-US" altLang="zh-CN" sz="3200" baseline="30000" dirty="0">
                <a:latin typeface="+mj-lt"/>
                <a:ea typeface="华文楷体" panose="02010600040101010101" pitchFamily="2" charset="-122"/>
              </a:rPr>
              <a:t>2</a:t>
            </a:r>
            <a:r>
              <a:rPr lang="en-US" altLang="zh-CN" sz="3200" dirty="0">
                <a:latin typeface="+mj-lt"/>
                <a:ea typeface="华文楷体" panose="02010600040101010101" pitchFamily="2" charset="-122"/>
              </a:rPr>
              <a:t> – n</a:t>
            </a:r>
            <a:r>
              <a:rPr lang="en-US" altLang="zh-CN" sz="3200" baseline="30000" dirty="0">
                <a:latin typeface="+mj-lt"/>
                <a:ea typeface="华文楷体" panose="02010600040101010101" pitchFamily="2" charset="-122"/>
              </a:rPr>
              <a:t>3</a:t>
            </a:r>
            <a:r>
              <a:rPr lang="en-US" altLang="zh-CN" sz="3200" dirty="0">
                <a:latin typeface="+mj-lt"/>
                <a:ea typeface="华文楷体" panose="02010600040101010101" pitchFamily="2" charset="-122"/>
              </a:rPr>
              <a:t>/3</a:t>
            </a:r>
            <a:endParaRPr lang="en-US" altLang="zh-CN" sz="3200" dirty="0">
              <a:latin typeface="+mj-lt"/>
              <a:ea typeface="华文楷体" panose="02010600040101010101" pitchFamily="2" charset="-122"/>
            </a:endParaRPr>
          </a:p>
          <a:p>
            <a:pPr marL="342900" lvl="1" indent="-34290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sz="3200" dirty="0">
                <a:latin typeface="+mj-lt"/>
                <a:ea typeface="华文楷体" panose="02010600040101010101" pitchFamily="2" charset="-122"/>
              </a:rPr>
              <a:t>	     = </a:t>
            </a:r>
            <a:r>
              <a:rPr lang="en-US" altLang="zh-CN" sz="3200" dirty="0">
                <a:ea typeface="华文楷体" panose="02010600040101010101" pitchFamily="2" charset="-122"/>
              </a:rPr>
              <a:t>E</a:t>
            </a:r>
            <a:r>
              <a:rPr lang="en-US" altLang="zh-CN" sz="3200" baseline="-25000" dirty="0">
                <a:ea typeface="华文楷体" panose="02010600040101010101" pitchFamily="2" charset="-122"/>
              </a:rPr>
              <a:t>n-1</a:t>
            </a:r>
            <a:r>
              <a:rPr lang="en-US" altLang="zh-CN" sz="3200" dirty="0">
                <a:ea typeface="华文楷体" panose="02010600040101010101" pitchFamily="2" charset="-122"/>
              </a:rPr>
              <a:t> + n – 1/3</a:t>
            </a:r>
            <a:endParaRPr lang="en-US" altLang="zh-CN" sz="3200" dirty="0">
              <a:latin typeface="+mj-lt"/>
              <a:ea typeface="华文楷体" panose="02010600040101010101" pitchFamily="2" charset="-122"/>
            </a:endParaRPr>
          </a:p>
          <a:p>
            <a:pPr marL="342900" lvl="1" indent="-342900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3200" dirty="0">
                <a:latin typeface="+mj-lt"/>
                <a:ea typeface="华文楷体" panose="02010600040101010101" pitchFamily="2" charset="-122"/>
              </a:rPr>
              <a:t>同时可以得到</a:t>
            </a:r>
            <a:r>
              <a:rPr lang="en-US" altLang="zh-CN" sz="3200" dirty="0">
                <a:latin typeface="+mj-lt"/>
                <a:ea typeface="华文楷体" panose="02010600040101010101" pitchFamily="2" charset="-122"/>
              </a:rPr>
              <a:t>E</a:t>
            </a:r>
            <a:r>
              <a:rPr lang="en-US" altLang="zh-CN" sz="3200" baseline="-25000" dirty="0">
                <a:latin typeface="+mj-lt"/>
                <a:ea typeface="华文楷体" panose="02010600040101010101" pitchFamily="2" charset="-122"/>
              </a:rPr>
              <a:t>0</a:t>
            </a:r>
            <a:r>
              <a:rPr lang="en-US" altLang="zh-CN" sz="3200" dirty="0">
                <a:latin typeface="+mj-lt"/>
                <a:ea typeface="华文楷体" panose="02010600040101010101" pitchFamily="2" charset="-122"/>
              </a:rPr>
              <a:t> = 0</a:t>
            </a:r>
            <a:r>
              <a:rPr lang="zh-CN" altLang="en-US" sz="3200" dirty="0">
                <a:latin typeface="+mj-lt"/>
                <a:ea typeface="华文楷体" panose="02010600040101010101" pitchFamily="2" charset="-122"/>
              </a:rPr>
              <a:t>。根据此递归方程，可以解出</a:t>
            </a:r>
            <a:r>
              <a:rPr lang="en-US" altLang="zh-CN" sz="3200" dirty="0" err="1">
                <a:latin typeface="+mj-lt"/>
                <a:ea typeface="华文楷体" panose="02010600040101010101" pitchFamily="2" charset="-122"/>
              </a:rPr>
              <a:t>E</a:t>
            </a:r>
            <a:r>
              <a:rPr lang="en-US" altLang="zh-CN" sz="3200" baseline="-25000" dirty="0" err="1">
                <a:latin typeface="+mj-lt"/>
                <a:ea typeface="华文楷体" panose="02010600040101010101" pitchFamily="2" charset="-122"/>
              </a:rPr>
              <a:t>n</a:t>
            </a:r>
            <a:r>
              <a:rPr lang="en-US" altLang="zh-CN" sz="3200" dirty="0">
                <a:latin typeface="+mj-lt"/>
                <a:ea typeface="华文楷体" panose="02010600040101010101" pitchFamily="2" charset="-122"/>
              </a:rPr>
              <a:t> = (1 + … + n) – n/3</a:t>
            </a:r>
            <a:r>
              <a:rPr lang="zh-CN" altLang="en-US" sz="3200" dirty="0">
                <a:latin typeface="+mj-lt"/>
                <a:ea typeface="华文楷体" panose="02010600040101010101" pitchFamily="2" charset="-122"/>
              </a:rPr>
              <a:t>，并进而得到</a:t>
            </a:r>
            <a:r>
              <a:rPr lang="zh-CN" altLang="en-US" sz="3200" dirty="0">
                <a:ea typeface="华文楷体" panose="02010600040101010101" pitchFamily="2" charset="-122"/>
              </a:rPr>
              <a:t>□</a:t>
            </a:r>
            <a:r>
              <a:rPr lang="en-US" altLang="zh-CN" sz="3200" i="1" baseline="-25000" dirty="0">
                <a:ea typeface="华文楷体" panose="02010600040101010101" pitchFamily="2" charset="-122"/>
              </a:rPr>
              <a:t>n</a:t>
            </a:r>
            <a:r>
              <a:rPr lang="zh-CN" altLang="en-US" sz="3200" dirty="0">
                <a:latin typeface="+mj-lt"/>
                <a:ea typeface="华文楷体" panose="02010600040101010101" pitchFamily="2" charset="-122"/>
              </a:rPr>
              <a:t>的精确解。</a:t>
            </a:r>
            <a:endParaRPr lang="en-US" altLang="zh-CN" sz="3200" dirty="0">
              <a:latin typeface="+mj-lt"/>
              <a:ea typeface="华文楷体" panose="02010600040101010101" pitchFamily="2" charset="-122"/>
            </a:endParaRPr>
          </a:p>
        </p:txBody>
      </p:sp>
      <p:sp>
        <p:nvSpPr>
          <p:cNvPr id="31750" name="Rectangle 5"/>
          <p:cNvSpPr>
            <a:spLocks noChangeArrowheads="1"/>
          </p:cNvSpPr>
          <p:nvPr/>
        </p:nvSpPr>
        <p:spPr bwMode="auto">
          <a:xfrm>
            <a:off x="0" y="31861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175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F4E35156-562E-45C3-9AC6-5E01488B62E6}" type="datetime1">
              <a:rPr lang="zh-CN" altLang="en-US"/>
            </a:fld>
            <a:endParaRPr lang="en-US" altLang="zh-CN"/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BA2454A4-75FA-420F-A9DF-45077CFAEEF8}" type="slidenum">
              <a:rPr lang="en-US" altLang="zh-CN">
                <a:solidFill>
                  <a:srgbClr val="898989"/>
                </a:solidFill>
              </a:rPr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94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华文楷体" panose="02010600040101010101" pitchFamily="2" charset="-122"/>
              </a:rPr>
              <a:t>方法</a:t>
            </a:r>
            <a:r>
              <a:rPr lang="en-US" altLang="zh-CN" dirty="0">
                <a:ea typeface="华文楷体" panose="02010600040101010101" pitchFamily="2" charset="-122"/>
              </a:rPr>
              <a:t>4</a:t>
            </a:r>
            <a:r>
              <a:rPr lang="zh-CN" altLang="en-US" dirty="0">
                <a:solidFill>
                  <a:srgbClr val="0000FF"/>
                </a:solidFill>
                <a:ea typeface="华文楷体" panose="02010600040101010101" pitchFamily="2" charset="-122"/>
              </a:rPr>
              <a:t>（积分替换）</a:t>
            </a:r>
            <a:endParaRPr lang="zh-CN" altLang="en-US" dirty="0">
              <a:ea typeface="华文楷体" panose="02010600040101010101" pitchFamily="2" charset="-122"/>
            </a:endParaRPr>
          </a:p>
        </p:txBody>
      </p:sp>
      <p:sp>
        <p:nvSpPr>
          <p:cNvPr id="206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marL="342900" lvl="1" indent="-342900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3200" dirty="0">
                <a:latin typeface="+mj-lt"/>
                <a:ea typeface="华文楷体" panose="02010600040101010101" pitchFamily="2" charset="-122"/>
              </a:rPr>
              <a:t>对于</a:t>
            </a:r>
            <a:r>
              <a:rPr lang="en-US" altLang="zh-CN" sz="3200" dirty="0" err="1">
                <a:latin typeface="+mj-lt"/>
                <a:ea typeface="华文楷体" panose="02010600040101010101" pitchFamily="2" charset="-122"/>
              </a:rPr>
              <a:t>E</a:t>
            </a:r>
            <a:r>
              <a:rPr lang="en-US" altLang="zh-CN" sz="3200" baseline="-25000" dirty="0" err="1">
                <a:latin typeface="+mj-lt"/>
                <a:ea typeface="华文楷体" panose="02010600040101010101" pitchFamily="2" charset="-122"/>
              </a:rPr>
              <a:t>n</a:t>
            </a:r>
            <a:r>
              <a:rPr lang="zh-CN" altLang="en-US" sz="3200" dirty="0">
                <a:latin typeface="+mj-lt"/>
                <a:ea typeface="华文楷体" panose="02010600040101010101" pitchFamily="2" charset="-122"/>
              </a:rPr>
              <a:t>的计算，还可直接从积分的概念入手：</a:t>
            </a:r>
            <a:endParaRPr lang="en-US" altLang="zh-CN" sz="3200" dirty="0">
              <a:latin typeface="+mj-lt"/>
              <a:ea typeface="华文楷体" panose="02010600040101010101" pitchFamily="2" charset="-122"/>
            </a:endParaRPr>
          </a:p>
          <a:p>
            <a:pPr marL="342900" lvl="1" indent="-34290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sz="3200" dirty="0">
                <a:latin typeface="+mj-lt"/>
                <a:ea typeface="华文楷体" panose="02010600040101010101" pitchFamily="2" charset="-122"/>
              </a:rPr>
              <a:t>	</a:t>
            </a:r>
            <a:endParaRPr lang="en-US" altLang="zh-CN" sz="3200" dirty="0">
              <a:latin typeface="+mj-lt"/>
              <a:ea typeface="华文楷体" panose="02010600040101010101" pitchFamily="2" charset="-122"/>
            </a:endParaRPr>
          </a:p>
          <a:p>
            <a:pPr marL="342900" lvl="1" indent="-34290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sz="3200" dirty="0">
              <a:latin typeface="+mj-lt"/>
              <a:ea typeface="华文楷体" panose="02010600040101010101" pitchFamily="2" charset="-122"/>
            </a:endParaRPr>
          </a:p>
          <a:p>
            <a:pPr marL="342900" lvl="1" indent="-342900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3200" dirty="0">
                <a:latin typeface="+mj-lt"/>
                <a:ea typeface="华文楷体" panose="02010600040101010101" pitchFamily="2" charset="-122"/>
              </a:rPr>
              <a:t>同样可以得到</a:t>
            </a:r>
            <a:r>
              <a:rPr lang="en-US" altLang="zh-CN" sz="3200" dirty="0" err="1">
                <a:latin typeface="+mj-lt"/>
                <a:ea typeface="华文楷体" panose="02010600040101010101" pitchFamily="2" charset="-122"/>
              </a:rPr>
              <a:t>E</a:t>
            </a:r>
            <a:r>
              <a:rPr lang="en-US" altLang="zh-CN" sz="3200" baseline="-25000" dirty="0" err="1">
                <a:latin typeface="+mj-lt"/>
                <a:ea typeface="华文楷体" panose="02010600040101010101" pitchFamily="2" charset="-122"/>
              </a:rPr>
              <a:t>n</a:t>
            </a:r>
            <a:r>
              <a:rPr lang="en-US" altLang="zh-CN" sz="3200" dirty="0">
                <a:latin typeface="+mj-lt"/>
                <a:ea typeface="华文楷体" panose="02010600040101010101" pitchFamily="2" charset="-122"/>
              </a:rPr>
              <a:t> = (1 + … + n) – n/3</a:t>
            </a:r>
            <a:r>
              <a:rPr lang="zh-CN" altLang="en-US" sz="3200" dirty="0">
                <a:latin typeface="+mj-lt"/>
                <a:ea typeface="华文楷体" panose="02010600040101010101" pitchFamily="2" charset="-122"/>
              </a:rPr>
              <a:t>，并进而得到</a:t>
            </a:r>
            <a:r>
              <a:rPr lang="zh-CN" altLang="en-US" sz="3200" dirty="0">
                <a:ea typeface="华文楷体" panose="02010600040101010101" pitchFamily="2" charset="-122"/>
              </a:rPr>
              <a:t>□</a:t>
            </a:r>
            <a:r>
              <a:rPr lang="en-US" altLang="zh-CN" sz="3200" i="1" baseline="-25000" dirty="0">
                <a:ea typeface="华文楷体" panose="02010600040101010101" pitchFamily="2" charset="-122"/>
              </a:rPr>
              <a:t>n</a:t>
            </a:r>
            <a:r>
              <a:rPr lang="zh-CN" altLang="en-US" sz="3200" dirty="0">
                <a:latin typeface="+mj-lt"/>
                <a:ea typeface="华文楷体" panose="02010600040101010101" pitchFamily="2" charset="-122"/>
              </a:rPr>
              <a:t>的精确解。</a:t>
            </a:r>
            <a:endParaRPr lang="en-US" altLang="zh-CN" sz="3200" dirty="0">
              <a:latin typeface="+mj-lt"/>
              <a:ea typeface="华文楷体" panose="02010600040101010101" pitchFamily="2" charset="-122"/>
            </a:endParaRPr>
          </a:p>
        </p:txBody>
      </p:sp>
      <p:sp>
        <p:nvSpPr>
          <p:cNvPr id="19463" name="Rectangle 5"/>
          <p:cNvSpPr>
            <a:spLocks noChangeArrowheads="1"/>
          </p:cNvSpPr>
          <p:nvPr/>
        </p:nvSpPr>
        <p:spPr bwMode="auto">
          <a:xfrm>
            <a:off x="0" y="31861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9464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458" name="Object 2"/>
              <p:cNvSpPr txBox="1"/>
              <p:nvPr/>
            </p:nvSpPr>
            <p:spPr bwMode="auto">
              <a:xfrm>
                <a:off x="827088" y="2276872"/>
                <a:ext cx="7694612" cy="1008063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nary>
                                <m:nary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𝑑𝑥</m:t>
                                  </m:r>
                                </m:e>
                              </m:nary>
                            </m:e>
                          </m:d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p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−(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sSup>
                                    <m:sSup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altLang="zh-CN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9458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7088" y="2276872"/>
                <a:ext cx="7694612" cy="1008063"/>
              </a:xfrm>
              <a:prstGeom prst="rect">
                <a:avLst/>
              </a:prstGeom>
              <a:blipFill rotWithShape="1">
                <a:blip r:embed="rId1"/>
                <a:stretch>
                  <a:fillRect l="-4" t="-39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4C1B905-53EE-46A8-98DB-B8C0CD353695}" type="datetime1">
              <a:rPr lang="zh-CN" altLang="en-US"/>
            </a:fld>
            <a:endParaRPr lang="en-US" altLang="zh-CN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3FB7F316-376E-48C0-B72C-81450AB0F932}" type="slidenum">
              <a:rPr lang="en-US" altLang="zh-CN">
                <a:solidFill>
                  <a:srgbClr val="898989"/>
                </a:solidFill>
              </a:rPr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204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华文楷体" panose="02010600040101010101" pitchFamily="2" charset="-122"/>
              </a:rPr>
              <a:t>方法</a:t>
            </a:r>
            <a:r>
              <a:rPr lang="en-US" altLang="zh-CN" dirty="0">
                <a:ea typeface="华文楷体" panose="02010600040101010101" pitchFamily="2" charset="-122"/>
              </a:rPr>
              <a:t>5</a:t>
            </a:r>
            <a:r>
              <a:rPr lang="zh-CN" altLang="en-US" dirty="0">
                <a:solidFill>
                  <a:srgbClr val="0000FF"/>
                </a:solidFill>
                <a:ea typeface="华文楷体" panose="02010600040101010101" pitchFamily="2" charset="-122"/>
              </a:rPr>
              <a:t>（展开和收缩）</a:t>
            </a:r>
            <a:endParaRPr lang="zh-CN" altLang="en-US" dirty="0">
              <a:ea typeface="华文楷体" panose="02010600040101010101" pitchFamily="2" charset="-122"/>
            </a:endParaRPr>
          </a:p>
        </p:txBody>
      </p:sp>
      <p:sp>
        <p:nvSpPr>
          <p:cNvPr id="207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4857750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anose="02010600040101010101" pitchFamily="2" charset="-122"/>
              </a:rPr>
              <a:t>使用多重求和。使用形式上更复杂的多重求和来表达原求和问题。在多重求和下，对容易计算的和进行化简，将其转化成类似扰动法的方程求解问题。</a:t>
            </a:r>
            <a:endParaRPr lang="zh-CN" altLang="en-US" dirty="0">
              <a:latin typeface="+mj-lt"/>
              <a:ea typeface="华文楷体" panose="02010600040101010101" pitchFamily="2" charset="-122"/>
            </a:endParaRPr>
          </a:p>
        </p:txBody>
      </p:sp>
      <p:sp>
        <p:nvSpPr>
          <p:cNvPr id="20487" name="Rectangle 5"/>
          <p:cNvSpPr>
            <a:spLocks noChangeArrowheads="1"/>
          </p:cNvSpPr>
          <p:nvPr/>
        </p:nvSpPr>
        <p:spPr bwMode="auto">
          <a:xfrm>
            <a:off x="0" y="24050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482" name="Object 3"/>
              <p:cNvSpPr txBox="1"/>
              <p:nvPr/>
            </p:nvSpPr>
            <p:spPr bwMode="auto">
              <a:xfrm>
                <a:off x="1498497" y="3294823"/>
                <a:ext cx="6385871" cy="2222409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m:rPr>
                          <m:aln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/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nary>
                        </m:e>
                      </m:nary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CN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e>
                          </m:d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)+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⋅[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0482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98497" y="3294823"/>
                <a:ext cx="6385871" cy="2222409"/>
              </a:xfrm>
              <a:prstGeom prst="rect">
                <a:avLst/>
              </a:prstGeom>
              <a:blipFill rotWithShape="1">
                <a:blip r:embed="rId1"/>
                <a:stretch>
                  <a:fillRect l="-8" t="-20" r="3" b="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636530E-9E09-4533-A79A-4607944BD2A9}" type="datetime1">
              <a:rPr lang="zh-CN" altLang="en-US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D80E4D95-52BD-41DE-97FD-B7D840C2A34F}" type="slidenum">
              <a:rPr lang="en-US" altLang="zh-CN">
                <a:solidFill>
                  <a:srgbClr val="898989"/>
                </a:solidFill>
              </a:rPr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327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华文楷体" panose="02010600040101010101" pitchFamily="2" charset="-122"/>
              </a:rPr>
              <a:t>方法</a:t>
            </a:r>
            <a:r>
              <a:rPr lang="en-US" altLang="zh-CN">
                <a:ea typeface="华文楷体" panose="02010600040101010101" pitchFamily="2" charset="-122"/>
              </a:rPr>
              <a:t>6~7</a:t>
            </a:r>
            <a:endParaRPr lang="zh-CN" altLang="en-US">
              <a:ea typeface="华文楷体" panose="02010600040101010101" pitchFamily="2" charset="-122"/>
            </a:endParaRPr>
          </a:p>
        </p:txBody>
      </p:sp>
      <p:sp>
        <p:nvSpPr>
          <p:cNvPr id="208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>
                <a:latin typeface="+mj-lt"/>
                <a:ea typeface="华文楷体" panose="02010600040101010101" pitchFamily="2" charset="-122"/>
              </a:rPr>
              <a:t>方法</a:t>
            </a:r>
            <a:r>
              <a:rPr lang="en-US" altLang="zh-CN">
                <a:latin typeface="+mj-lt"/>
                <a:ea typeface="华文楷体" panose="02010600040101010101" pitchFamily="2" charset="-122"/>
              </a:rPr>
              <a:t>6</a:t>
            </a:r>
            <a:r>
              <a:rPr lang="zh-CN" altLang="en-US">
                <a:latin typeface="+mj-lt"/>
                <a:ea typeface="华文楷体" panose="02010600040101010101" pitchFamily="2" charset="-122"/>
              </a:rPr>
              <a:t>（</a:t>
            </a:r>
            <a:r>
              <a:rPr lang="zh-CN" altLang="en-US">
                <a:ea typeface="华文楷体" panose="02010600040101010101" pitchFamily="2" charset="-122"/>
              </a:rPr>
              <a:t>有限“积分”</a:t>
            </a:r>
            <a:r>
              <a:rPr lang="zh-CN" altLang="en-US">
                <a:latin typeface="+mj-lt"/>
                <a:ea typeface="华文楷体" panose="02010600040101010101" pitchFamily="2" charset="-122"/>
              </a:rPr>
              <a:t>）：</a:t>
            </a:r>
            <a:r>
              <a:rPr lang="en-US" altLang="zh-CN">
                <a:latin typeface="+mj-lt"/>
                <a:ea typeface="华文楷体" panose="02010600040101010101" pitchFamily="2" charset="-122"/>
              </a:rPr>
              <a:t>2.6</a:t>
            </a:r>
            <a:r>
              <a:rPr lang="zh-CN" altLang="en-US">
                <a:latin typeface="+mj-lt"/>
                <a:ea typeface="华文楷体" panose="02010600040101010101" pitchFamily="2" charset="-122"/>
              </a:rPr>
              <a:t>节讲解的主要内容。与前面的几种求和方法不同，方法</a:t>
            </a:r>
            <a:r>
              <a:rPr lang="en-US" altLang="zh-CN">
                <a:latin typeface="+mj-lt"/>
                <a:ea typeface="华文楷体" panose="02010600040101010101" pitchFamily="2" charset="-122"/>
              </a:rPr>
              <a:t>6</a:t>
            </a:r>
            <a:r>
              <a:rPr lang="zh-CN" altLang="en-US">
                <a:latin typeface="+mj-lt"/>
                <a:ea typeface="华文楷体" panose="02010600040101010101" pitchFamily="2" charset="-122"/>
              </a:rPr>
              <a:t>是以前很少接触到、比较陌生的一种方法，该方法具有较为系统的演算法则和规律，是解求和问题的新工具，值得掌握和熟悉。</a:t>
            </a:r>
            <a:endParaRPr lang="zh-CN" altLang="en-US">
              <a:latin typeface="+mj-lt"/>
              <a:ea typeface="华文楷体" panose="02010600040101010101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>
                <a:latin typeface="+mj-lt"/>
                <a:ea typeface="华文楷体" panose="02010600040101010101" pitchFamily="2" charset="-122"/>
              </a:rPr>
              <a:t>方法</a:t>
            </a:r>
            <a:r>
              <a:rPr lang="en-US" altLang="zh-CN">
                <a:latin typeface="+mj-lt"/>
                <a:ea typeface="华文楷体" panose="02010600040101010101" pitchFamily="2" charset="-122"/>
              </a:rPr>
              <a:t>7</a:t>
            </a:r>
            <a:r>
              <a:rPr lang="zh-CN" altLang="en-US">
                <a:latin typeface="+mj-lt"/>
                <a:ea typeface="华文楷体" panose="02010600040101010101" pitchFamily="2" charset="-122"/>
              </a:rPr>
              <a:t>（</a:t>
            </a:r>
            <a:r>
              <a:rPr lang="zh-CN" altLang="en-US">
                <a:ea typeface="华文楷体" panose="02010600040101010101" pitchFamily="2" charset="-122"/>
              </a:rPr>
              <a:t>母函数法</a:t>
            </a:r>
            <a:r>
              <a:rPr lang="zh-CN" altLang="en-US">
                <a:latin typeface="+mj-lt"/>
                <a:ea typeface="华文楷体" panose="02010600040101010101" pitchFamily="2" charset="-122"/>
              </a:rPr>
              <a:t>）：留作课外学习。</a:t>
            </a:r>
            <a:endParaRPr lang="zh-CN" altLang="en-US">
              <a:latin typeface="+mj-lt"/>
              <a:ea typeface="华文楷体" panose="02010600040101010101" pitchFamily="2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800">
                <a:ea typeface="华文楷体" panose="02010600040101010101" pitchFamily="2" charset="-122"/>
              </a:rPr>
              <a:t>作业</a:t>
            </a:r>
            <a:endParaRPr lang="zh-CN" altLang="en-US" dirty="0">
              <a:ea typeface="华文楷体" panose="02010600040101010101" pitchFamily="2" charset="-122"/>
            </a:endParaRP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56565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zh-CN" sz="2000" dirty="0"/>
              <a:t>P52</a:t>
            </a:r>
            <a:r>
              <a:rPr lang="zh-CN" altLang="en-US" sz="2000" dirty="0"/>
              <a:t>：</a:t>
            </a:r>
            <a:r>
              <a:rPr lang="en-US" altLang="zh-CN" sz="2000" dirty="0"/>
              <a:t>2, 11, 19, 20, 21, 22</a:t>
            </a:r>
            <a:endParaRPr lang="zh-CN" alt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sz="2400" dirty="0">
                <a:ea typeface="华文楷体" panose="02010600040101010101" pitchFamily="2" charset="-122"/>
              </a:rPr>
              <a:t>证明：</a:t>
            </a:r>
            <a:endParaRPr lang="en-US" altLang="zh-CN" sz="2400" dirty="0">
              <a:ea typeface="华文楷体" panose="02010600040101010101" pitchFamily="2" charset="-122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altLang="zh-CN" sz="2000">
                <a:solidFill>
                  <a:srgbClr val="FF0000"/>
                </a:solidFill>
                <a:ea typeface="华文楷体" panose="02010600040101010101" pitchFamily="2" charset="-122"/>
              </a:rPr>
              <a:t>Please </a:t>
            </a:r>
            <a:r>
              <a:rPr lang="en-US" altLang="zh-CN" sz="2000" dirty="0">
                <a:solidFill>
                  <a:srgbClr val="FF0000"/>
                </a:solidFill>
                <a:ea typeface="华文楷体" panose="02010600040101010101" pitchFamily="2" charset="-122"/>
              </a:rPr>
              <a:t>find the closed form for the sum of the first n positive integers to the power 5 in at least 3 different ways. You might refer to Chap. 2.5 of CM for its 8 methods for the sum of n squares, but method 0, 1 and 6 are not allowed and new methods not mentioned in CM are extremely encouraged. </a:t>
            </a:r>
            <a:endParaRPr lang="zh-CN" altLang="zh-CN" sz="2000" dirty="0">
              <a:solidFill>
                <a:srgbClr val="FF0000"/>
              </a:solidFill>
              <a:ea typeface="华文楷体" panose="02010600040101010101" pitchFamily="2" charset="-122"/>
            </a:endParaRPr>
          </a:p>
        </p:txBody>
      </p:sp>
      <p:sp>
        <p:nvSpPr>
          <p:cNvPr id="5427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29101B2-ABE0-4A6C-81B4-5C886C8F2636}" type="datetime1">
              <a:rPr lang="zh-CN" altLang="en-US"/>
            </a:fld>
            <a:endParaRPr lang="en-US" altLang="zh-CN"/>
          </a:p>
        </p:txBody>
      </p:sp>
      <p:sp>
        <p:nvSpPr>
          <p:cNvPr id="5427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097188E4-8484-4D2A-ADD3-98538AA21FC2}" type="slidenum">
              <a:rPr lang="en-US" altLang="zh-CN">
                <a:solidFill>
                  <a:srgbClr val="898989"/>
                </a:solidFill>
              </a:rPr>
            </a:fld>
            <a:endParaRPr lang="en-US" altLang="zh-CN">
              <a:solidFill>
                <a:srgbClr val="898989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Object 3"/>
              <p:cNvSpPr txBox="1"/>
              <p:nvPr/>
            </p:nvSpPr>
            <p:spPr bwMode="auto">
              <a:xfrm>
                <a:off x="1835696" y="1916832"/>
                <a:ext cx="2016224" cy="648072"/>
              </a:xfrm>
              <a:prstGeom prst="rect">
                <a:avLst/>
              </a:prstGeom>
              <a:noFill/>
            </p:spPr>
            <p:txBody>
              <a:bodyPr>
                <a:normAutofit fontScale="625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eqArr>
                        </m:sub>
                        <m:sup/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zh-CN" alt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eqArr>
                                <m:eqArrPr>
                                  <m:ctrlPr>
                                    <a:rPr lang="zh-CN" altLang="en-US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&amp;</m:t>
                                  </m:r>
                                </m:e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</m:eqAr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eqArr>
                                <m:eqArr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&amp;</m:t>
                                  </m:r>
                                </m:e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</m:eqAr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6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35696" y="1916832"/>
                <a:ext cx="2016224" cy="648072"/>
              </a:xfrm>
              <a:prstGeom prst="rect">
                <a:avLst/>
              </a:prstGeom>
              <a:blipFill rotWithShape="1">
                <a:blip r:embed="rId1"/>
                <a:stretch>
                  <a:fillRect l="-27" t="-5059" b="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8158</Words>
  <Application>WPS 演示</Application>
  <PresentationFormat>全屏显示(4:3)</PresentationFormat>
  <Paragraphs>536</Paragraphs>
  <Slides>34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6" baseType="lpstr">
      <vt:lpstr>Arial</vt:lpstr>
      <vt:lpstr>宋体</vt:lpstr>
      <vt:lpstr>Wingdings</vt:lpstr>
      <vt:lpstr>Calibri</vt:lpstr>
      <vt:lpstr>仿宋</vt:lpstr>
      <vt:lpstr>Verdana</vt:lpstr>
      <vt:lpstr>华文楷体</vt:lpstr>
      <vt:lpstr>微软雅黑</vt:lpstr>
      <vt:lpstr>Cambria Math</vt:lpstr>
      <vt:lpstr>Arial Unicode MS</vt:lpstr>
      <vt:lpstr>楷体</vt:lpstr>
      <vt:lpstr>Office 主题</vt:lpstr>
      <vt:lpstr>PowerPoint 演示文稿</vt:lpstr>
      <vt:lpstr>2.4 多重和 Multiple Sums</vt:lpstr>
      <vt:lpstr>多重和的表示方法</vt:lpstr>
      <vt:lpstr>求和次序的交换</vt:lpstr>
      <vt:lpstr>求和次序交换的例子</vt:lpstr>
      <vt:lpstr>两种特定p(j,k)下的求和次序及交换</vt:lpstr>
      <vt:lpstr>第一种形式的例子</vt:lpstr>
      <vt:lpstr>第二种形式的例子</vt:lpstr>
      <vt:lpstr>第二种形式的例子</vt:lpstr>
      <vt:lpstr>第二种形式的例子</vt:lpstr>
      <vt:lpstr>第二种形式的例子</vt:lpstr>
      <vt:lpstr>另外一个例子</vt:lpstr>
      <vt:lpstr>另外一个例子</vt:lpstr>
      <vt:lpstr>Chebyshev单调不等式</vt:lpstr>
      <vt:lpstr>多重和中的交换律</vt:lpstr>
      <vt:lpstr>一个多重和的concrete example</vt:lpstr>
      <vt:lpstr>一个多重和的concrete example</vt:lpstr>
      <vt:lpstr>一个多重和的concrete example</vt:lpstr>
      <vt:lpstr>一个多重和的concrete example</vt:lpstr>
      <vt:lpstr>2.5 General Methods 一般方法总结</vt:lpstr>
      <vt:lpstr>2.5 一般方法总结</vt:lpstr>
      <vt:lpstr>方法0~1</vt:lpstr>
      <vt:lpstr>PowerPoint 演示文稿</vt:lpstr>
      <vt:lpstr>方法0~1</vt:lpstr>
      <vt:lpstr>方法2（扰动求和）</vt:lpstr>
      <vt:lpstr>方法2 （扰动求和）</vt:lpstr>
      <vt:lpstr>方法2（扰动求和）</vt:lpstr>
      <vt:lpstr>方法3（成套法求和）</vt:lpstr>
      <vt:lpstr>方法4（积分替换）</vt:lpstr>
      <vt:lpstr>方法4（积分替换）</vt:lpstr>
      <vt:lpstr>方法4（积分替换）</vt:lpstr>
      <vt:lpstr>方法5（展开和收缩）</vt:lpstr>
      <vt:lpstr>方法6~7</vt:lpstr>
      <vt:lpstr>作业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zhaoqy</dc:creator>
  <cp:lastModifiedBy>梵谷的左耳</cp:lastModifiedBy>
  <cp:revision>197</cp:revision>
  <dcterms:created xsi:type="dcterms:W3CDTF">2011-08-23T12:15:00Z</dcterms:created>
  <dcterms:modified xsi:type="dcterms:W3CDTF">2025-11-10T14:17:52Z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687DCF37FAE94E238CC55F78334CDC0E_12</vt:lpwstr>
  </property>
  <property fmtid="{D5CDD505-2E9C-101B-9397-08002B2CF9AE}" pid="3" name="KSOProductBuildVer">
    <vt:lpwstr>2052-12.1.0.23542</vt:lpwstr>
  </property>
</Properties>
</file>